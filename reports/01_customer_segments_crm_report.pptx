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charts/chart6.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7.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8.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9.xml" ContentType="application/vnd.openxmlformats-officedocument.drawingml.chart+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8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42" y="7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customers</c:v>
                </c:pt>
              </c:strCache>
            </c:strRef>
          </c:tx>
          <c:spPr>
            <a:solidFill>
              <a:srgbClr val="B8C0CB"/>
            </a:solidFill>
            <a:effectLst/>
          </c:spPr>
          <c:invertIfNegative val="0"/>
          <c:dLbls>
            <c:numFmt formatCode="0&quot;%&quot;" sourceLinked="0"/>
            <c:spPr>
              <a:noFill/>
              <a:ln>
                <a:noFill/>
              </a:ln>
              <a:effectLst/>
            </c:spPr>
            <c:txPr>
              <a:bodyPr/>
              <a:lstStyle/>
              <a:p>
                <a:pPr>
                  <a:defRPr sz="12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Top Customers</c:v>
                </c:pt>
                <c:pt idx="1">
                  <c:v>Steady Regulars</c:v>
                </c:pt>
                <c:pt idx="2">
                  <c:v>New Starters</c:v>
                </c:pt>
                <c:pt idx="3">
                  <c:v>Fading Big Spenders</c:v>
                </c:pt>
                <c:pt idx="4">
                  <c:v>Gone Quiet</c:v>
                </c:pt>
              </c:strCache>
            </c:strRef>
          </c:cat>
          <c:val>
            <c:numRef>
              <c:f>Sheet1!$B$2:$B$6</c:f>
              <c:numCache>
                <c:formatCode>General</c:formatCode>
                <c:ptCount val="5"/>
                <c:pt idx="0">
                  <c:v>15</c:v>
                </c:pt>
                <c:pt idx="1">
                  <c:v>21.3</c:v>
                </c:pt>
                <c:pt idx="2">
                  <c:v>13.7</c:v>
                </c:pt>
                <c:pt idx="3">
                  <c:v>9.4</c:v>
                </c:pt>
                <c:pt idx="4">
                  <c:v>40.5</c:v>
                </c:pt>
              </c:numCache>
            </c:numRef>
          </c:val>
          <c:extLst>
            <c:ext xmlns:c16="http://schemas.microsoft.com/office/drawing/2014/chart" uri="{C3380CC4-5D6E-409C-BE32-E72D297353CC}">
              <c16:uniqueId val="{00000000-36BD-4D67-9A90-D50452832D2A}"/>
            </c:ext>
          </c:extLst>
        </c:ser>
        <c:ser>
          <c:idx val="1"/>
          <c:order val="1"/>
          <c:tx>
            <c:strRef>
              <c:f>Sheet1!$C$1</c:f>
              <c:strCache>
                <c:ptCount val="1"/>
                <c:pt idx="0">
                  <c:v>Share of all revenue</c:v>
                </c:pt>
              </c:strCache>
            </c:strRef>
          </c:tx>
          <c:spPr>
            <a:solidFill>
              <a:srgbClr val="1E2B3A"/>
            </a:solidFill>
            <a:effectLst/>
          </c:spPr>
          <c:invertIfNegative val="0"/>
          <c:dLbls>
            <c:numFmt formatCode="0&quot;%&quot;" sourceLinked="0"/>
            <c:spPr>
              <a:noFill/>
              <a:ln>
                <a:noFill/>
              </a:ln>
              <a:effectLst/>
            </c:spPr>
            <c:txPr>
              <a:bodyPr/>
              <a:lstStyle/>
              <a:p>
                <a:pPr>
                  <a:defRPr sz="12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Top Customers</c:v>
                </c:pt>
                <c:pt idx="1">
                  <c:v>Steady Regulars</c:v>
                </c:pt>
                <c:pt idx="2">
                  <c:v>New Starters</c:v>
                </c:pt>
                <c:pt idx="3">
                  <c:v>Fading Big Spenders</c:v>
                </c:pt>
                <c:pt idx="4">
                  <c:v>Gone Quiet</c:v>
                </c:pt>
              </c:strCache>
            </c:strRef>
          </c:cat>
          <c:val>
            <c:numRef>
              <c:f>Sheet1!$C$2:$C$6</c:f>
              <c:numCache>
                <c:formatCode>General</c:formatCode>
                <c:ptCount val="5"/>
                <c:pt idx="0">
                  <c:v>59.7</c:v>
                </c:pt>
                <c:pt idx="1">
                  <c:v>20.2</c:v>
                </c:pt>
                <c:pt idx="2">
                  <c:v>2.1</c:v>
                </c:pt>
                <c:pt idx="3">
                  <c:v>10.7</c:v>
                </c:pt>
                <c:pt idx="4">
                  <c:v>7.3</c:v>
                </c:pt>
              </c:numCache>
            </c:numRef>
          </c:val>
          <c:extLst>
            <c:ext xmlns:c16="http://schemas.microsoft.com/office/drawing/2014/chart" uri="{C3380CC4-5D6E-409C-BE32-E72D297353CC}">
              <c16:uniqueId val="{00000001-36BD-4D67-9A90-D50452832D2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DEE5"/>
            </a:solidFill>
            <a:prstDash val="solid"/>
            <a:round/>
          </a:ln>
        </c:spPr>
        <c:txPr>
          <a:bodyPr/>
          <a:lstStyle/>
          <a:p>
            <a:pPr>
              <a:defRPr sz="1200" b="0" i="0" u="none" strike="noStrike">
                <a:solidFill>
                  <a:srgbClr val="1E2B3A"/>
                </a:solidFill>
                <a:latin typeface="Calibri"/>
              </a:defRPr>
            </a:pPr>
            <a:endParaRPr lang="en-US"/>
          </a:p>
        </c:txPr>
        <c:crossAx val="2094734552"/>
        <c:crosses val="autoZero"/>
        <c:auto val="1"/>
        <c:lblAlgn val="ctr"/>
        <c:lblOffset val="100"/>
        <c:noMultiLvlLbl val="1"/>
      </c:catAx>
      <c:valAx>
        <c:axId val="2094734552"/>
        <c:scaling>
          <c:orientation val="minMax"/>
          <c:max val="7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spPr>
        <a:ln>
          <a:gradFill>
            <a:gsLst>
              <a:gs pos="0">
                <a:schemeClr val="accent1">
                  <a:lumMod val="0"/>
                  <a:lumOff val="10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c:sp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B6675"/>
                </a:solidFill>
                <a:latin typeface="Calibri"/>
              </a:defRPr>
            </a:pPr>
            <a:r>
              <a:rPr lang="en-US" sz="1300" b="0" i="0" u="none" strike="noStrike">
                <a:solidFill>
                  <a:srgbClr val="5B6675"/>
                </a:solidFill>
                <a:latin typeface="Calibri"/>
              </a:rPr>
              <a:t>% of each group who placed no order between 9 Sept and 7 Dec 2011</a:t>
            </a:r>
          </a:p>
        </c:rich>
      </c:tx>
      <c:overlay val="0"/>
    </c:title>
    <c:autoTitleDeleted val="0"/>
    <c:plotArea>
      <c:layout/>
      <c:barChart>
        <c:barDir val="col"/>
        <c:grouping val="clustered"/>
        <c:varyColors val="0"/>
        <c:ser>
          <c:idx val="0"/>
          <c:order val="0"/>
          <c:tx>
            <c:strRef>
              <c:f>Sheet1!$B$1</c:f>
              <c:strCache>
                <c:ptCount val="1"/>
                <c:pt idx="0">
                  <c:v>Placed no order in the next 3 months</c:v>
                </c:pt>
              </c:strCache>
            </c:strRef>
          </c:tx>
          <c:spPr>
            <a:solidFill>
              <a:srgbClr val="1F7A5C"/>
            </a:solidFill>
            <a:effectLst/>
          </c:spPr>
          <c:invertIfNegative val="0"/>
          <c:dPt>
            <c:idx val="0"/>
            <c:invertIfNegative val="0"/>
            <c:bubble3D val="0"/>
            <c:spPr>
              <a:solidFill>
                <a:srgbClr val="1F7A5C"/>
              </a:solidFill>
              <a:effectLst/>
            </c:spPr>
            <c:extLst>
              <c:ext xmlns:c16="http://schemas.microsoft.com/office/drawing/2014/chart" uri="{C3380CC4-5D6E-409C-BE32-E72D297353CC}">
                <c16:uniqueId val="{00000001-2753-467D-B86C-84A23CE83DEA}"/>
              </c:ext>
            </c:extLst>
          </c:dPt>
          <c:dPt>
            <c:idx val="1"/>
            <c:invertIfNegative val="0"/>
            <c:bubble3D val="0"/>
            <c:spPr>
              <a:solidFill>
                <a:srgbClr val="2E6FB0"/>
              </a:solidFill>
              <a:effectLst/>
            </c:spPr>
            <c:extLst>
              <c:ext xmlns:c16="http://schemas.microsoft.com/office/drawing/2014/chart" uri="{C3380CC4-5D6E-409C-BE32-E72D297353CC}">
                <c16:uniqueId val="{00000003-2753-467D-B86C-84A23CE83DEA}"/>
              </c:ext>
            </c:extLst>
          </c:dPt>
          <c:dPt>
            <c:idx val="2"/>
            <c:invertIfNegative val="0"/>
            <c:bubble3D val="0"/>
            <c:spPr>
              <a:solidFill>
                <a:srgbClr val="C9820E"/>
              </a:solidFill>
              <a:effectLst/>
            </c:spPr>
            <c:extLst>
              <c:ext xmlns:c16="http://schemas.microsoft.com/office/drawing/2014/chart" uri="{C3380CC4-5D6E-409C-BE32-E72D297353CC}">
                <c16:uniqueId val="{00000005-2753-467D-B86C-84A23CE83DEA}"/>
              </c:ext>
            </c:extLst>
          </c:dPt>
          <c:dPt>
            <c:idx val="3"/>
            <c:invertIfNegative val="0"/>
            <c:bubble3D val="0"/>
            <c:spPr>
              <a:solidFill>
                <a:srgbClr val="C0404A"/>
              </a:solidFill>
              <a:effectLst/>
            </c:spPr>
            <c:extLst>
              <c:ext xmlns:c16="http://schemas.microsoft.com/office/drawing/2014/chart" uri="{C3380CC4-5D6E-409C-BE32-E72D297353CC}">
                <c16:uniqueId val="{00000007-2753-467D-B86C-84A23CE83DEA}"/>
              </c:ext>
            </c:extLst>
          </c:dPt>
          <c:dPt>
            <c:idx val="4"/>
            <c:invertIfNegative val="0"/>
            <c:bubble3D val="0"/>
            <c:spPr>
              <a:solidFill>
                <a:srgbClr val="7F8691"/>
              </a:solidFill>
              <a:effectLst/>
            </c:spPr>
            <c:extLst>
              <c:ext xmlns:c16="http://schemas.microsoft.com/office/drawing/2014/chart" uri="{C3380CC4-5D6E-409C-BE32-E72D297353CC}">
                <c16:uniqueId val="{00000009-2753-467D-B86C-84A23CE83DEA}"/>
              </c:ext>
            </c:extLst>
          </c:dPt>
          <c:dLbls>
            <c:numFmt formatCode="0&quot;%&quot;" sourceLinked="0"/>
            <c:spPr>
              <a:noFill/>
              <a:ln>
                <a:noFill/>
              </a:ln>
              <a:effectLst/>
            </c:spPr>
            <c:txPr>
              <a:bodyPr/>
              <a:lstStyle/>
              <a:p>
                <a:pPr>
                  <a:defRPr sz="1600" b="1"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Top Customers</c:v>
                </c:pt>
                <c:pt idx="1">
                  <c:v>Steady Regulars</c:v>
                </c:pt>
                <c:pt idx="2">
                  <c:v>New Starters</c:v>
                </c:pt>
                <c:pt idx="3">
                  <c:v>Fading Big Spenders</c:v>
                </c:pt>
                <c:pt idx="4">
                  <c:v>Gone Quiet</c:v>
                </c:pt>
              </c:strCache>
            </c:strRef>
          </c:cat>
          <c:val>
            <c:numRef>
              <c:f>Sheet1!$B$2:$B$6</c:f>
              <c:numCache>
                <c:formatCode>General</c:formatCode>
                <c:ptCount val="5"/>
                <c:pt idx="0">
                  <c:v>16</c:v>
                </c:pt>
                <c:pt idx="1">
                  <c:v>39.6</c:v>
                </c:pt>
                <c:pt idx="2">
                  <c:v>56</c:v>
                </c:pt>
                <c:pt idx="3">
                  <c:v>60.4</c:v>
                </c:pt>
                <c:pt idx="4">
                  <c:v>79.900000000000006</c:v>
                </c:pt>
              </c:numCache>
            </c:numRef>
          </c:val>
          <c:extLst>
            <c:ext xmlns:c16="http://schemas.microsoft.com/office/drawing/2014/chart" uri="{C3380CC4-5D6E-409C-BE32-E72D297353CC}">
              <c16:uniqueId val="{0000000A-2753-467D-B86C-84A23CE83DEA}"/>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DEE5"/>
            </a:solidFill>
            <a:prstDash val="solid"/>
            <a:round/>
          </a:ln>
        </c:spPr>
        <c:txPr>
          <a:bodyPr/>
          <a:lstStyle/>
          <a:p>
            <a:pPr>
              <a:defRPr sz="1200" b="0" i="0" u="none" strike="noStrike">
                <a:solidFill>
                  <a:srgbClr val="1E2B3A"/>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Summer (Jun–Sep 2011)</c:v>
                </c:pt>
              </c:strCache>
            </c:strRef>
          </c:tx>
          <c:spPr>
            <a:ln w="38100" cap="flat">
              <a:solidFill>
                <a:srgbClr val="1E2B3A"/>
              </a:solidFill>
              <a:prstDash val="solid"/>
              <a:round/>
            </a:ln>
            <a:effectLst/>
          </c:spPr>
          <c:marker>
            <c:symbol val="circle"/>
            <c:size val="8"/>
            <c:spPr>
              <a:solidFill>
                <a:srgbClr val="1E2B3A"/>
              </a:solidFill>
              <a:ln w="9525" cap="flat">
                <a:solidFill>
                  <a:srgbClr val="1E2B3A"/>
                </a:solidFill>
                <a:prstDash val="solid"/>
                <a:round/>
              </a:ln>
              <a:effectLst/>
            </c:spPr>
          </c:marker>
          <c:cat>
            <c:strRef>
              <c:f>Sheet1!$A$2:$A$9</c:f>
              <c:strCache>
                <c:ptCount val="8"/>
                <c:pt idx="0">
                  <c:v>0–30</c:v>
                </c:pt>
                <c:pt idx="1">
                  <c:v>31–60</c:v>
                </c:pt>
                <c:pt idx="2">
                  <c:v>61–90</c:v>
                </c:pt>
                <c:pt idx="3">
                  <c:v>91–120</c:v>
                </c:pt>
                <c:pt idx="4">
                  <c:v>121–180</c:v>
                </c:pt>
                <c:pt idx="5">
                  <c:v>181–270</c:v>
                </c:pt>
                <c:pt idx="6">
                  <c:v>271–365</c:v>
                </c:pt>
                <c:pt idx="7">
                  <c:v>Over 365</c:v>
                </c:pt>
              </c:strCache>
            </c:strRef>
          </c:cat>
          <c:val>
            <c:numRef>
              <c:f>Sheet1!$B$2:$B$9</c:f>
              <c:numCache>
                <c:formatCode>General</c:formatCode>
                <c:ptCount val="8"/>
                <c:pt idx="0">
                  <c:v>37.4</c:v>
                </c:pt>
                <c:pt idx="1">
                  <c:v>46</c:v>
                </c:pt>
                <c:pt idx="2">
                  <c:v>62.2</c:v>
                </c:pt>
                <c:pt idx="3">
                  <c:v>67.400000000000006</c:v>
                </c:pt>
                <c:pt idx="4">
                  <c:v>69.900000000000006</c:v>
                </c:pt>
                <c:pt idx="5">
                  <c:v>84.7</c:v>
                </c:pt>
                <c:pt idx="6">
                  <c:v>88.1</c:v>
                </c:pt>
                <c:pt idx="7">
                  <c:v>94.3</c:v>
                </c:pt>
              </c:numCache>
            </c:numRef>
          </c:val>
          <c:smooth val="0"/>
          <c:extLst>
            <c:ext xmlns:c16="http://schemas.microsoft.com/office/drawing/2014/chart" uri="{C3380CC4-5D6E-409C-BE32-E72D297353CC}">
              <c16:uniqueId val="{00000000-E827-4D3B-952F-5BFB987C8D5B}"/>
            </c:ext>
          </c:extLst>
        </c:ser>
        <c:ser>
          <c:idx val="1"/>
          <c:order val="1"/>
          <c:tx>
            <c:strRef>
              <c:f>Sheet1!$C$1</c:f>
              <c:strCache>
                <c:ptCount val="1"/>
                <c:pt idx="0">
                  <c:v>Autumn (Sep–Dec 2011)</c:v>
                </c:pt>
              </c:strCache>
            </c:strRef>
          </c:tx>
          <c:spPr>
            <a:ln w="38100" cap="flat">
              <a:solidFill>
                <a:srgbClr val="9A7BB0"/>
              </a:solidFill>
              <a:prstDash val="solid"/>
              <a:round/>
            </a:ln>
            <a:effectLst/>
          </c:spPr>
          <c:marker>
            <c:symbol val="circle"/>
            <c:size val="8"/>
            <c:spPr>
              <a:solidFill>
                <a:srgbClr val="9A7BB0"/>
              </a:solidFill>
              <a:ln w="9525" cap="flat">
                <a:solidFill>
                  <a:srgbClr val="9A7BB0"/>
                </a:solidFill>
                <a:prstDash val="solid"/>
                <a:round/>
              </a:ln>
              <a:effectLst/>
            </c:spPr>
          </c:marker>
          <c:cat>
            <c:strRef>
              <c:f>Sheet1!$A$2:$A$9</c:f>
              <c:strCache>
                <c:ptCount val="8"/>
                <c:pt idx="0">
                  <c:v>0–30</c:v>
                </c:pt>
                <c:pt idx="1">
                  <c:v>31–60</c:v>
                </c:pt>
                <c:pt idx="2">
                  <c:v>61–90</c:v>
                </c:pt>
                <c:pt idx="3">
                  <c:v>91–120</c:v>
                </c:pt>
                <c:pt idx="4">
                  <c:v>121–180</c:v>
                </c:pt>
                <c:pt idx="5">
                  <c:v>181–270</c:v>
                </c:pt>
                <c:pt idx="6">
                  <c:v>271–365</c:v>
                </c:pt>
                <c:pt idx="7">
                  <c:v>Over 365</c:v>
                </c:pt>
              </c:strCache>
            </c:strRef>
          </c:cat>
          <c:val>
            <c:numRef>
              <c:f>Sheet1!$C$2:$C$9</c:f>
              <c:numCache>
                <c:formatCode>General</c:formatCode>
                <c:ptCount val="8"/>
                <c:pt idx="0">
                  <c:v>24.8</c:v>
                </c:pt>
                <c:pt idx="1">
                  <c:v>32.299999999999997</c:v>
                </c:pt>
                <c:pt idx="2">
                  <c:v>44.4</c:v>
                </c:pt>
                <c:pt idx="3">
                  <c:v>45</c:v>
                </c:pt>
                <c:pt idx="4">
                  <c:v>62.2</c:v>
                </c:pt>
                <c:pt idx="5">
                  <c:v>67.8</c:v>
                </c:pt>
                <c:pt idx="6">
                  <c:v>70.2</c:v>
                </c:pt>
                <c:pt idx="7">
                  <c:v>89.3</c:v>
                </c:pt>
              </c:numCache>
            </c:numRef>
          </c:val>
          <c:smooth val="0"/>
          <c:extLst>
            <c:ext xmlns:c16="http://schemas.microsoft.com/office/drawing/2014/chart" uri="{C3380CC4-5D6E-409C-BE32-E72D297353CC}">
              <c16:uniqueId val="{00000001-E827-4D3B-952F-5BFB987C8D5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B6675"/>
                    </a:solidFill>
                    <a:latin typeface="Arial"/>
                  </a:defRPr>
                </a:pPr>
                <a:r>
                  <a:rPr lang="en-CA" sz="1200" b="0" i="0" u="none" strike="noStrike">
                    <a:solidFill>
                      <a:srgbClr val="5B6675"/>
                    </a:solidFill>
                    <a:latin typeface="Arial"/>
                  </a:rPr>
                  <a:t>Days since last order</a:t>
                </a:r>
              </a:p>
            </c:rich>
          </c:tx>
          <c:overlay val="0"/>
        </c:title>
        <c:numFmt formatCode="General" sourceLinked="1"/>
        <c:majorTickMark val="out"/>
        <c:minorTickMark val="none"/>
        <c:tickLblPos val="low"/>
        <c:spPr>
          <a:ln w="12700" cap="flat">
            <a:solidFill>
              <a:srgbClr val="D9DEE5"/>
            </a:solidFill>
            <a:prstDash val="solid"/>
            <a:round/>
          </a:ln>
        </c:spPr>
        <c:txPr>
          <a:bodyPr/>
          <a:lstStyle/>
          <a:p>
            <a:pPr>
              <a:defRPr sz="1200" b="0" i="0" u="none" strike="noStrike">
                <a:solidFill>
                  <a:srgbClr val="1E2B3A"/>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3E7EC"/>
              </a:solidFill>
              <a:prstDash val="solid"/>
              <a:round/>
            </a:ln>
          </c:spPr>
        </c:majorGridlines>
        <c:title>
          <c:tx>
            <c:rich>
              <a:bodyPr/>
              <a:lstStyle/>
              <a:p>
                <a:pPr>
                  <a:defRPr sz="1200" b="0" i="0" u="none" strike="noStrike">
                    <a:solidFill>
                      <a:srgbClr val="5B6675"/>
                    </a:solidFill>
                    <a:latin typeface="Arial"/>
                  </a:defRPr>
                </a:pPr>
                <a:r>
                  <a:rPr lang="en-US" sz="1200" b="0" i="0" u="none" strike="noStrike">
                    <a:solidFill>
                      <a:srgbClr val="5B6675"/>
                    </a:solidFill>
                    <a:latin typeface="Arial"/>
                  </a:rPr>
                  <a:t>% placing no order in next 3 months</a:t>
                </a:r>
              </a:p>
            </c:rich>
          </c:tx>
          <c:overlay val="0"/>
        </c:title>
        <c:numFmt formatCode="0&quot;%&quot;" sourceLinked="0"/>
        <c:majorTickMark val="out"/>
        <c:minorTickMark val="none"/>
        <c:tickLblPos val="nextTo"/>
        <c:spPr>
          <a:ln w="12700" cap="flat">
            <a:noFill/>
            <a:prstDash val="solid"/>
            <a:round/>
          </a:ln>
        </c:spPr>
        <c:txPr>
          <a:bodyPr/>
          <a:lstStyle/>
          <a:p>
            <a:pPr>
              <a:defRPr sz="1100" b="0" i="0" u="none" strike="noStrike">
                <a:solidFill>
                  <a:srgbClr val="5B6675"/>
                </a:solidFill>
                <a:latin typeface="Calibri"/>
              </a:defRPr>
            </a:pPr>
            <a:endParaRPr lang="en-US"/>
          </a:p>
        </c:txPr>
        <c:crossAx val="2094734554"/>
        <c:crosses val="autoZero"/>
        <c:crossBetween val="between"/>
        <c:majorUnit val="25"/>
      </c:valAx>
      <c:spPr>
        <a:noFill/>
        <a:ln>
          <a:noFill/>
        </a:ln>
        <a:effectLst/>
      </c:spPr>
    </c:plotArea>
    <c:legend>
      <c:legendPos val="t"/>
      <c:overlay val="0"/>
      <c:txPr>
        <a:bodyPr/>
        <a:lstStyle/>
        <a:p>
          <a:pPr>
            <a:defRPr sz="1200">
              <a:solidFill>
                <a:srgbClr val="1E2B3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B6675"/>
                </a:solidFill>
                <a:latin typeface="Calibri"/>
              </a:defRPr>
            </a:pPr>
            <a:r>
              <a:rPr lang="en-US" sz="1300" b="0" i="0" u="none" strike="noStrike">
                <a:solidFill>
                  <a:srgbClr val="5B6675"/>
                </a:solidFill>
                <a:latin typeface="Calibri"/>
              </a:rPr>
              <a:t>% who placed no order between 9 Sept and 7 Dec 2011</a:t>
            </a:r>
          </a:p>
        </c:rich>
      </c:tx>
      <c:overlay val="0"/>
    </c:title>
    <c:autoTitleDeleted val="0"/>
    <c:plotArea>
      <c:layout/>
      <c:barChart>
        <c:barDir val="col"/>
        <c:grouping val="clustered"/>
        <c:varyColors val="0"/>
        <c:ser>
          <c:idx val="0"/>
          <c:order val="0"/>
          <c:tx>
            <c:strRef>
              <c:f>Sheet1!$B$1</c:f>
              <c:strCache>
                <c:ptCount val="1"/>
                <c:pt idx="0">
                  <c:v>Placed no order in next 3 months</c:v>
                </c:pt>
              </c:strCache>
            </c:strRef>
          </c:tx>
          <c:spPr>
            <a:solidFill>
              <a:srgbClr val="B8C0CB"/>
            </a:solidFill>
            <a:effectLst/>
          </c:spPr>
          <c:invertIfNegative val="0"/>
          <c:dPt>
            <c:idx val="0"/>
            <c:invertIfNegative val="0"/>
            <c:bubble3D val="0"/>
            <c:spPr>
              <a:solidFill>
                <a:srgbClr val="B8C0CB"/>
              </a:solidFill>
              <a:effectLst/>
            </c:spPr>
            <c:extLst>
              <c:ext xmlns:c16="http://schemas.microsoft.com/office/drawing/2014/chart" uri="{C3380CC4-5D6E-409C-BE32-E72D297353CC}">
                <c16:uniqueId val="{00000001-D582-4EDA-BB66-DE2AC1FC1899}"/>
              </c:ext>
            </c:extLst>
          </c:dPt>
          <c:dPt>
            <c:idx val="1"/>
            <c:invertIfNegative val="0"/>
            <c:bubble3D val="0"/>
            <c:spPr>
              <a:solidFill>
                <a:srgbClr val="8793A3"/>
              </a:solidFill>
              <a:effectLst/>
            </c:spPr>
            <c:extLst>
              <c:ext xmlns:c16="http://schemas.microsoft.com/office/drawing/2014/chart" uri="{C3380CC4-5D6E-409C-BE32-E72D297353CC}">
                <c16:uniqueId val="{00000003-D582-4EDA-BB66-DE2AC1FC1899}"/>
              </c:ext>
            </c:extLst>
          </c:dPt>
          <c:dPt>
            <c:idx val="2"/>
            <c:invertIfNegative val="0"/>
            <c:bubble3D val="0"/>
            <c:spPr>
              <a:solidFill>
                <a:srgbClr val="1E2B3A"/>
              </a:solidFill>
              <a:effectLst/>
            </c:spPr>
            <c:extLst>
              <c:ext xmlns:c16="http://schemas.microsoft.com/office/drawing/2014/chart" uri="{C3380CC4-5D6E-409C-BE32-E72D297353CC}">
                <c16:uniqueId val="{00000005-D582-4EDA-BB66-DE2AC1FC1899}"/>
              </c:ext>
            </c:extLst>
          </c:dPt>
          <c:dLbls>
            <c:numFmt formatCode="0&quot;%&quot;" sourceLinked="0"/>
            <c:spPr>
              <a:noFill/>
              <a:ln>
                <a:noFill/>
              </a:ln>
              <a:effectLst/>
            </c:spPr>
            <c:txPr>
              <a:bodyPr/>
              <a:lstStyle/>
              <a:p>
                <a:pPr>
                  <a:defRPr sz="1800" b="1"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Ordered once</c:v>
                </c:pt>
                <c:pt idx="1">
                  <c:v>Ordered twice</c:v>
                </c:pt>
                <c:pt idx="2">
                  <c:v>Ordered 3 times or more</c:v>
                </c:pt>
              </c:strCache>
            </c:strRef>
          </c:cat>
          <c:val>
            <c:numRef>
              <c:f>Sheet1!$B$2:$B$4</c:f>
              <c:numCache>
                <c:formatCode>General</c:formatCode>
                <c:ptCount val="3"/>
                <c:pt idx="0">
                  <c:v>79.599999999999994</c:v>
                </c:pt>
                <c:pt idx="1">
                  <c:v>67.400000000000006</c:v>
                </c:pt>
                <c:pt idx="2">
                  <c:v>40.200000000000003</c:v>
                </c:pt>
              </c:numCache>
            </c:numRef>
          </c:val>
          <c:extLst>
            <c:ext xmlns:c16="http://schemas.microsoft.com/office/drawing/2014/chart" uri="{C3380CC4-5D6E-409C-BE32-E72D297353CC}">
              <c16:uniqueId val="{00000006-D582-4EDA-BB66-DE2AC1FC189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DEE5"/>
            </a:solidFill>
            <a:prstDash val="solid"/>
            <a:round/>
          </a:ln>
        </c:spPr>
        <c:txPr>
          <a:bodyPr/>
          <a:lstStyle/>
          <a:p>
            <a:pPr>
              <a:defRPr sz="1400" b="0" i="0" u="none" strike="noStrike">
                <a:solidFill>
                  <a:srgbClr val="1E2B3A"/>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B6675"/>
                </a:solidFill>
                <a:latin typeface="Calibri"/>
              </a:defRPr>
            </a:pPr>
            <a:r>
              <a:rPr lang="en-US" sz="1300" b="0" i="0" u="none" strike="noStrike">
                <a:solidFill>
                  <a:srgbClr val="5B6675"/>
                </a:solidFill>
                <a:latin typeface="Calibri"/>
              </a:rPr>
              <a:t>% of each group who placed no order in the following 3 months</a:t>
            </a:r>
          </a:p>
        </c:rich>
      </c:tx>
      <c:overlay val="0"/>
    </c:title>
    <c:autoTitleDeleted val="0"/>
    <c:plotArea>
      <c:layout/>
      <c:barChart>
        <c:barDir val="col"/>
        <c:grouping val="clustered"/>
        <c:varyColors val="0"/>
        <c:ser>
          <c:idx val="0"/>
          <c:order val="0"/>
          <c:tx>
            <c:strRef>
              <c:f>Sheet1!$B$1</c:f>
              <c:strCache>
                <c:ptCount val="1"/>
                <c:pt idx="0">
                  <c:v>Summer (Jun–Sep 2011)</c:v>
                </c:pt>
              </c:strCache>
            </c:strRef>
          </c:tx>
          <c:spPr>
            <a:solidFill>
              <a:srgbClr val="1E2B3A"/>
            </a:solidFill>
            <a:effectLst/>
          </c:spPr>
          <c:invertIfNegative val="0"/>
          <c:dLbls>
            <c:numFmt formatCode="0&quot;%&quot;" sourceLinked="0"/>
            <c:spPr>
              <a:noFill/>
              <a:ln>
                <a:noFill/>
              </a:ln>
              <a:effectLst/>
            </c:spPr>
            <c:txPr>
              <a:bodyPr/>
              <a:lstStyle/>
              <a:p>
                <a:pPr>
                  <a:defRPr sz="11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Top Customers</c:v>
                </c:pt>
                <c:pt idx="1">
                  <c:v>Steady Regulars</c:v>
                </c:pt>
                <c:pt idx="2">
                  <c:v>New Starters</c:v>
                </c:pt>
                <c:pt idx="3">
                  <c:v>Fading Big Spenders</c:v>
                </c:pt>
                <c:pt idx="4">
                  <c:v>Gone Quiet</c:v>
                </c:pt>
              </c:strCache>
            </c:strRef>
          </c:cat>
          <c:val>
            <c:numRef>
              <c:f>Sheet1!$B$2:$B$6</c:f>
              <c:numCache>
                <c:formatCode>General</c:formatCode>
                <c:ptCount val="5"/>
                <c:pt idx="0">
                  <c:v>22.8</c:v>
                </c:pt>
                <c:pt idx="1">
                  <c:v>51.4</c:v>
                </c:pt>
                <c:pt idx="2">
                  <c:v>72.099999999999994</c:v>
                </c:pt>
                <c:pt idx="3">
                  <c:v>75.5</c:v>
                </c:pt>
                <c:pt idx="4">
                  <c:v>89.2</c:v>
                </c:pt>
              </c:numCache>
            </c:numRef>
          </c:val>
          <c:extLst>
            <c:ext xmlns:c16="http://schemas.microsoft.com/office/drawing/2014/chart" uri="{C3380CC4-5D6E-409C-BE32-E72D297353CC}">
              <c16:uniqueId val="{00000000-126E-40A6-8D28-A34572B76169}"/>
            </c:ext>
          </c:extLst>
        </c:ser>
        <c:ser>
          <c:idx val="1"/>
          <c:order val="1"/>
          <c:tx>
            <c:strRef>
              <c:f>Sheet1!$C$1</c:f>
              <c:strCache>
                <c:ptCount val="1"/>
                <c:pt idx="0">
                  <c:v>Autumn (Sep–Dec 2011)</c:v>
                </c:pt>
              </c:strCache>
            </c:strRef>
          </c:tx>
          <c:spPr>
            <a:solidFill>
              <a:srgbClr val="9A7BB0"/>
            </a:solidFill>
            <a:effectLst/>
          </c:spPr>
          <c:invertIfNegative val="0"/>
          <c:dLbls>
            <c:numFmt formatCode="0&quot;%&quot;" sourceLinked="0"/>
            <c:spPr>
              <a:noFill/>
              <a:ln>
                <a:noFill/>
              </a:ln>
              <a:effectLst/>
            </c:spPr>
            <c:txPr>
              <a:bodyPr/>
              <a:lstStyle/>
              <a:p>
                <a:pPr>
                  <a:defRPr sz="11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Top Customers</c:v>
                </c:pt>
                <c:pt idx="1">
                  <c:v>Steady Regulars</c:v>
                </c:pt>
                <c:pt idx="2">
                  <c:v>New Starters</c:v>
                </c:pt>
                <c:pt idx="3">
                  <c:v>Fading Big Spenders</c:v>
                </c:pt>
                <c:pt idx="4">
                  <c:v>Gone Quiet</c:v>
                </c:pt>
              </c:strCache>
            </c:strRef>
          </c:cat>
          <c:val>
            <c:numRef>
              <c:f>Sheet1!$C$2:$C$6</c:f>
              <c:numCache>
                <c:formatCode>General</c:formatCode>
                <c:ptCount val="5"/>
                <c:pt idx="0">
                  <c:v>16</c:v>
                </c:pt>
                <c:pt idx="1">
                  <c:v>39.6</c:v>
                </c:pt>
                <c:pt idx="2">
                  <c:v>56</c:v>
                </c:pt>
                <c:pt idx="3">
                  <c:v>60.4</c:v>
                </c:pt>
                <c:pt idx="4">
                  <c:v>79.900000000000006</c:v>
                </c:pt>
              </c:numCache>
            </c:numRef>
          </c:val>
          <c:extLst>
            <c:ext xmlns:c16="http://schemas.microsoft.com/office/drawing/2014/chart" uri="{C3380CC4-5D6E-409C-BE32-E72D297353CC}">
              <c16:uniqueId val="{00000001-126E-40A6-8D28-A34572B7616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DEE5"/>
            </a:solidFill>
            <a:prstDash val="solid"/>
            <a:round/>
          </a:ln>
        </c:spPr>
        <c:txPr>
          <a:bodyPr/>
          <a:lstStyle/>
          <a:p>
            <a:pPr>
              <a:defRPr sz="1200" b="0" i="0" u="none" strike="noStrike">
                <a:solidFill>
                  <a:srgbClr val="1E2B3A"/>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200">
              <a:solidFill>
                <a:srgbClr val="1E2B3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B6675"/>
                </a:solidFill>
                <a:latin typeface="Calibri"/>
              </a:defRPr>
            </a:pPr>
            <a:r>
              <a:rPr lang="en-US" sz="1300" b="0" i="0" u="none" strike="noStrike">
                <a:solidFill>
                  <a:srgbClr val="5B6675"/>
                </a:solidFill>
                <a:latin typeface="Calibri"/>
              </a:rPr>
              <a:t>Where each June group was in September 2011</a:t>
            </a:r>
          </a:p>
        </c:rich>
      </c:tx>
      <c:overlay val="0"/>
    </c:title>
    <c:autoTitleDeleted val="0"/>
    <c:plotArea>
      <c:layout/>
      <c:barChart>
        <c:barDir val="bar"/>
        <c:grouping val="percentStacked"/>
        <c:varyColors val="0"/>
        <c:ser>
          <c:idx val="0"/>
          <c:order val="0"/>
          <c:tx>
            <c:strRef>
              <c:f>Sheet1!$B$1</c:f>
              <c:strCache>
                <c:ptCount val="1"/>
                <c:pt idx="0">
                  <c:v>Sept: Top Customers</c:v>
                </c:pt>
              </c:strCache>
            </c:strRef>
          </c:tx>
          <c:spPr>
            <a:solidFill>
              <a:srgbClr val="1F7A5C"/>
            </a:solidFill>
            <a:effectLst/>
          </c:spPr>
          <c:invertIfNegative val="0"/>
          <c:dLbls>
            <c:numFmt formatCode="[&gt;=6]0&quot;%&quot;;;;" sourceLinked="0"/>
            <c:spPr>
              <a:noFill/>
              <a:ln>
                <a:noFill/>
              </a:ln>
              <a:effectLst/>
            </c:spPr>
            <c:txPr>
              <a:bodyPr/>
              <a:lstStyle/>
              <a:p>
                <a:pPr>
                  <a:defRPr sz="11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June: Top Customers</c:v>
                </c:pt>
                <c:pt idx="1">
                  <c:v>June: Steady Regulars</c:v>
                </c:pt>
                <c:pt idx="2">
                  <c:v>June: New Starters</c:v>
                </c:pt>
                <c:pt idx="3">
                  <c:v>June: Fading Big Spenders</c:v>
                </c:pt>
                <c:pt idx="4">
                  <c:v>June: Gone Quiet</c:v>
                </c:pt>
              </c:strCache>
            </c:strRef>
          </c:cat>
          <c:val>
            <c:numRef>
              <c:f>Sheet1!$B$2:$B$6</c:f>
              <c:numCache>
                <c:formatCode>General</c:formatCode>
                <c:ptCount val="5"/>
                <c:pt idx="0">
                  <c:v>65.5</c:v>
                </c:pt>
                <c:pt idx="1">
                  <c:v>24.9</c:v>
                </c:pt>
                <c:pt idx="2">
                  <c:v>0.9</c:v>
                </c:pt>
                <c:pt idx="3">
                  <c:v>10.5</c:v>
                </c:pt>
                <c:pt idx="4">
                  <c:v>0.4</c:v>
                </c:pt>
              </c:numCache>
            </c:numRef>
          </c:val>
          <c:extLst>
            <c:ext xmlns:c16="http://schemas.microsoft.com/office/drawing/2014/chart" uri="{C3380CC4-5D6E-409C-BE32-E72D297353CC}">
              <c16:uniqueId val="{00000000-2E68-4BE1-8212-F01D5B31030B}"/>
            </c:ext>
          </c:extLst>
        </c:ser>
        <c:ser>
          <c:idx val="1"/>
          <c:order val="1"/>
          <c:tx>
            <c:strRef>
              <c:f>Sheet1!$C$1</c:f>
              <c:strCache>
                <c:ptCount val="1"/>
                <c:pt idx="0">
                  <c:v>Sept: Steady Regulars</c:v>
                </c:pt>
              </c:strCache>
            </c:strRef>
          </c:tx>
          <c:spPr>
            <a:solidFill>
              <a:srgbClr val="2E6FB0"/>
            </a:solidFill>
            <a:effectLst/>
          </c:spPr>
          <c:invertIfNegative val="0"/>
          <c:dLbls>
            <c:numFmt formatCode="[&gt;=6]0&quot;%&quot;;;;" sourceLinked="0"/>
            <c:spPr>
              <a:noFill/>
              <a:ln>
                <a:noFill/>
              </a:ln>
              <a:effectLst/>
            </c:spPr>
            <c:txPr>
              <a:bodyPr/>
              <a:lstStyle/>
              <a:p>
                <a:pPr>
                  <a:defRPr sz="11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June: Top Customers</c:v>
                </c:pt>
                <c:pt idx="1">
                  <c:v>June: Steady Regulars</c:v>
                </c:pt>
                <c:pt idx="2">
                  <c:v>June: New Starters</c:v>
                </c:pt>
                <c:pt idx="3">
                  <c:v>June: Fading Big Spenders</c:v>
                </c:pt>
                <c:pt idx="4">
                  <c:v>June: Gone Quiet</c:v>
                </c:pt>
              </c:strCache>
            </c:strRef>
          </c:cat>
          <c:val>
            <c:numRef>
              <c:f>Sheet1!$C$2:$C$6</c:f>
              <c:numCache>
                <c:formatCode>General</c:formatCode>
                <c:ptCount val="5"/>
                <c:pt idx="0">
                  <c:v>34.5</c:v>
                </c:pt>
                <c:pt idx="1">
                  <c:v>52.6</c:v>
                </c:pt>
                <c:pt idx="2">
                  <c:v>15.2</c:v>
                </c:pt>
                <c:pt idx="3">
                  <c:v>14.2</c:v>
                </c:pt>
                <c:pt idx="4">
                  <c:v>6.4</c:v>
                </c:pt>
              </c:numCache>
            </c:numRef>
          </c:val>
          <c:extLst>
            <c:ext xmlns:c16="http://schemas.microsoft.com/office/drawing/2014/chart" uri="{C3380CC4-5D6E-409C-BE32-E72D297353CC}">
              <c16:uniqueId val="{00000001-2E68-4BE1-8212-F01D5B31030B}"/>
            </c:ext>
          </c:extLst>
        </c:ser>
        <c:ser>
          <c:idx val="2"/>
          <c:order val="2"/>
          <c:tx>
            <c:strRef>
              <c:f>Sheet1!$D$1</c:f>
              <c:strCache>
                <c:ptCount val="1"/>
                <c:pt idx="0">
                  <c:v>Sept: New Starters</c:v>
                </c:pt>
              </c:strCache>
            </c:strRef>
          </c:tx>
          <c:spPr>
            <a:solidFill>
              <a:srgbClr val="C9820E"/>
            </a:solidFill>
            <a:effectLst/>
          </c:spPr>
          <c:invertIfNegative val="0"/>
          <c:dLbls>
            <c:numFmt formatCode="[&gt;=6]0&quot;%&quot;;;;" sourceLinked="0"/>
            <c:spPr>
              <a:noFill/>
              <a:ln>
                <a:noFill/>
              </a:ln>
              <a:effectLst/>
            </c:spPr>
            <c:txPr>
              <a:bodyPr/>
              <a:lstStyle/>
              <a:p>
                <a:pPr>
                  <a:defRPr sz="11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June: Top Customers</c:v>
                </c:pt>
                <c:pt idx="1">
                  <c:v>June: Steady Regulars</c:v>
                </c:pt>
                <c:pt idx="2">
                  <c:v>June: New Starters</c:v>
                </c:pt>
                <c:pt idx="3">
                  <c:v>June: Fading Big Spenders</c:v>
                </c:pt>
                <c:pt idx="4">
                  <c:v>June: Gone Quiet</c:v>
                </c:pt>
              </c:strCache>
            </c:strRef>
          </c:cat>
          <c:val>
            <c:numRef>
              <c:f>Sheet1!$D$2:$D$6</c:f>
              <c:numCache>
                <c:formatCode>General</c:formatCode>
                <c:ptCount val="5"/>
                <c:pt idx="0">
                  <c:v>0</c:v>
                </c:pt>
                <c:pt idx="1">
                  <c:v>0.2</c:v>
                </c:pt>
                <c:pt idx="2">
                  <c:v>49</c:v>
                </c:pt>
                <c:pt idx="3">
                  <c:v>0</c:v>
                </c:pt>
                <c:pt idx="4">
                  <c:v>4.0999999999999996</c:v>
                </c:pt>
              </c:numCache>
            </c:numRef>
          </c:val>
          <c:extLst>
            <c:ext xmlns:c16="http://schemas.microsoft.com/office/drawing/2014/chart" uri="{C3380CC4-5D6E-409C-BE32-E72D297353CC}">
              <c16:uniqueId val="{00000002-2E68-4BE1-8212-F01D5B31030B}"/>
            </c:ext>
          </c:extLst>
        </c:ser>
        <c:ser>
          <c:idx val="3"/>
          <c:order val="3"/>
          <c:tx>
            <c:strRef>
              <c:f>Sheet1!$E$1</c:f>
              <c:strCache>
                <c:ptCount val="1"/>
                <c:pt idx="0">
                  <c:v>Sept: Fading Big Spenders</c:v>
                </c:pt>
              </c:strCache>
            </c:strRef>
          </c:tx>
          <c:spPr>
            <a:solidFill>
              <a:srgbClr val="C0404A"/>
            </a:solidFill>
            <a:effectLst/>
          </c:spPr>
          <c:invertIfNegative val="0"/>
          <c:dLbls>
            <c:numFmt formatCode="[&gt;=6]0&quot;%&quot;;;;" sourceLinked="0"/>
            <c:spPr>
              <a:noFill/>
              <a:ln>
                <a:noFill/>
              </a:ln>
              <a:effectLst/>
            </c:spPr>
            <c:txPr>
              <a:bodyPr/>
              <a:lstStyle/>
              <a:p>
                <a:pPr>
                  <a:defRPr sz="11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June: Top Customers</c:v>
                </c:pt>
                <c:pt idx="1">
                  <c:v>June: Steady Regulars</c:v>
                </c:pt>
                <c:pt idx="2">
                  <c:v>June: New Starters</c:v>
                </c:pt>
                <c:pt idx="3">
                  <c:v>June: Fading Big Spenders</c:v>
                </c:pt>
                <c:pt idx="4">
                  <c:v>June: Gone Quiet</c:v>
                </c:pt>
              </c:strCache>
            </c:strRef>
          </c:cat>
          <c:val>
            <c:numRef>
              <c:f>Sheet1!$E$2:$E$6</c:f>
              <c:numCache>
                <c:formatCode>General</c:formatCode>
                <c:ptCount val="5"/>
                <c:pt idx="0">
                  <c:v>0</c:v>
                </c:pt>
                <c:pt idx="1">
                  <c:v>15.3</c:v>
                </c:pt>
                <c:pt idx="2">
                  <c:v>0</c:v>
                </c:pt>
                <c:pt idx="3">
                  <c:v>74.2</c:v>
                </c:pt>
                <c:pt idx="4">
                  <c:v>0</c:v>
                </c:pt>
              </c:numCache>
            </c:numRef>
          </c:val>
          <c:extLst>
            <c:ext xmlns:c16="http://schemas.microsoft.com/office/drawing/2014/chart" uri="{C3380CC4-5D6E-409C-BE32-E72D297353CC}">
              <c16:uniqueId val="{00000003-2E68-4BE1-8212-F01D5B31030B}"/>
            </c:ext>
          </c:extLst>
        </c:ser>
        <c:ser>
          <c:idx val="4"/>
          <c:order val="4"/>
          <c:tx>
            <c:strRef>
              <c:f>Sheet1!$F$1</c:f>
              <c:strCache>
                <c:ptCount val="1"/>
                <c:pt idx="0">
                  <c:v>Sept: Gone Quiet</c:v>
                </c:pt>
              </c:strCache>
            </c:strRef>
          </c:tx>
          <c:spPr>
            <a:solidFill>
              <a:srgbClr val="7F8691"/>
            </a:solidFill>
            <a:effectLst/>
          </c:spPr>
          <c:invertIfNegative val="0"/>
          <c:dLbls>
            <c:numFmt formatCode="[&gt;=6]0&quot;%&quot;;;;" sourceLinked="0"/>
            <c:spPr>
              <a:noFill/>
              <a:ln>
                <a:noFill/>
              </a:ln>
              <a:effectLst/>
            </c:spPr>
            <c:txPr>
              <a:bodyPr/>
              <a:lstStyle/>
              <a:p>
                <a:pPr>
                  <a:defRPr sz="11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June: Top Customers</c:v>
                </c:pt>
                <c:pt idx="1">
                  <c:v>June: Steady Regulars</c:v>
                </c:pt>
                <c:pt idx="2">
                  <c:v>June: New Starters</c:v>
                </c:pt>
                <c:pt idx="3">
                  <c:v>June: Fading Big Spenders</c:v>
                </c:pt>
                <c:pt idx="4">
                  <c:v>June: Gone Quiet</c:v>
                </c:pt>
              </c:strCache>
            </c:strRef>
          </c:cat>
          <c:val>
            <c:numRef>
              <c:f>Sheet1!$F$2:$F$6</c:f>
              <c:numCache>
                <c:formatCode>General</c:formatCode>
                <c:ptCount val="5"/>
                <c:pt idx="0">
                  <c:v>0</c:v>
                </c:pt>
                <c:pt idx="1">
                  <c:v>7.1</c:v>
                </c:pt>
                <c:pt idx="2">
                  <c:v>34.9</c:v>
                </c:pt>
                <c:pt idx="3">
                  <c:v>1.1000000000000001</c:v>
                </c:pt>
                <c:pt idx="4">
                  <c:v>89.1</c:v>
                </c:pt>
              </c:numCache>
            </c:numRef>
          </c:val>
          <c:extLst>
            <c:ext xmlns:c16="http://schemas.microsoft.com/office/drawing/2014/chart" uri="{C3380CC4-5D6E-409C-BE32-E72D297353CC}">
              <c16:uniqueId val="{00000004-2E68-4BE1-8212-F01D5B31030B}"/>
            </c:ext>
          </c:extLst>
        </c:ser>
        <c:dLbls>
          <c:dLblPos val="ctr"/>
          <c:showLegendKey val="0"/>
          <c:showVal val="1"/>
          <c:showCatName val="0"/>
          <c:showSerName val="0"/>
          <c:showPercent val="0"/>
          <c:showBubbleSize val="0"/>
        </c:dLbls>
        <c:gapWidth val="4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D9DEE5"/>
            </a:solidFill>
            <a:prstDash val="solid"/>
            <a:round/>
          </a:ln>
        </c:spPr>
        <c:txPr>
          <a:bodyPr/>
          <a:lstStyle/>
          <a:p>
            <a:pPr>
              <a:defRPr sz="1200" b="0" i="0" u="none" strike="noStrike">
                <a:solidFill>
                  <a:srgbClr val="1E2B3A"/>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solidFill>
                <a:srgbClr val="1E2B3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B6675"/>
                </a:solidFill>
                <a:latin typeface="Calibri"/>
              </a:defRPr>
            </a:pPr>
            <a:r>
              <a:rPr lang="en-US" sz="1300" b="0" i="0" u="none" strike="noStrike">
                <a:solidFill>
                  <a:srgbClr val="5B6675"/>
                </a:solidFill>
                <a:latin typeface="Calibri"/>
              </a:rPr>
              <a:t>Estimated value if the action works, at customers' typical past spend</a:t>
            </a:r>
          </a:p>
        </c:rich>
      </c:tx>
      <c:overlay val="0"/>
    </c:title>
    <c:autoTitleDeleted val="0"/>
    <c:plotArea>
      <c:layout/>
      <c:barChart>
        <c:barDir val="bar"/>
        <c:grouping val="clustered"/>
        <c:varyColors val="0"/>
        <c:ser>
          <c:idx val="0"/>
          <c:order val="0"/>
          <c:tx>
            <c:strRef>
              <c:f>Sheet1!$B$1</c:f>
              <c:strCache>
                <c:ptCount val="1"/>
                <c:pt idx="0">
                  <c:v>Estimated value (£ thousands)</c:v>
                </c:pt>
              </c:strCache>
            </c:strRef>
          </c:tx>
          <c:spPr>
            <a:solidFill>
              <a:srgbClr val="1F7A5C"/>
            </a:solidFill>
            <a:effectLst/>
          </c:spPr>
          <c:invertIfNegative val="0"/>
          <c:dPt>
            <c:idx val="0"/>
            <c:invertIfNegative val="0"/>
            <c:bubble3D val="0"/>
            <c:spPr>
              <a:solidFill>
                <a:srgbClr val="1F7A5C"/>
              </a:solidFill>
              <a:effectLst/>
            </c:spPr>
            <c:extLst>
              <c:ext xmlns:c16="http://schemas.microsoft.com/office/drawing/2014/chart" uri="{C3380CC4-5D6E-409C-BE32-E72D297353CC}">
                <c16:uniqueId val="{00000001-F0F7-4E94-A7A0-A5D7CBDB4156}"/>
              </c:ext>
            </c:extLst>
          </c:dPt>
          <c:dPt>
            <c:idx val="1"/>
            <c:invertIfNegative val="0"/>
            <c:bubble3D val="0"/>
            <c:spPr>
              <a:solidFill>
                <a:srgbClr val="2E6FB0"/>
              </a:solidFill>
              <a:effectLst/>
            </c:spPr>
            <c:extLst>
              <c:ext xmlns:c16="http://schemas.microsoft.com/office/drawing/2014/chart" uri="{C3380CC4-5D6E-409C-BE32-E72D297353CC}">
                <c16:uniqueId val="{00000003-F0F7-4E94-A7A0-A5D7CBDB4156}"/>
              </c:ext>
            </c:extLst>
          </c:dPt>
          <c:dPt>
            <c:idx val="2"/>
            <c:invertIfNegative val="0"/>
            <c:bubble3D val="0"/>
            <c:spPr>
              <a:solidFill>
                <a:srgbClr val="C9820E"/>
              </a:solidFill>
              <a:effectLst/>
            </c:spPr>
            <c:extLst>
              <c:ext xmlns:c16="http://schemas.microsoft.com/office/drawing/2014/chart" uri="{C3380CC4-5D6E-409C-BE32-E72D297353CC}">
                <c16:uniqueId val="{00000005-F0F7-4E94-A7A0-A5D7CBDB4156}"/>
              </c:ext>
            </c:extLst>
          </c:dPt>
          <c:dPt>
            <c:idx val="3"/>
            <c:invertIfNegative val="0"/>
            <c:bubble3D val="0"/>
            <c:spPr>
              <a:solidFill>
                <a:srgbClr val="C0404A"/>
              </a:solidFill>
              <a:effectLst/>
            </c:spPr>
            <c:extLst>
              <c:ext xmlns:c16="http://schemas.microsoft.com/office/drawing/2014/chart" uri="{C3380CC4-5D6E-409C-BE32-E72D297353CC}">
                <c16:uniqueId val="{00000007-F0F7-4E94-A7A0-A5D7CBDB4156}"/>
              </c:ext>
            </c:extLst>
          </c:dPt>
          <c:dPt>
            <c:idx val="4"/>
            <c:invertIfNegative val="0"/>
            <c:bubble3D val="0"/>
            <c:spPr>
              <a:solidFill>
                <a:srgbClr val="7F8691"/>
              </a:solidFill>
              <a:effectLst/>
            </c:spPr>
            <c:extLst>
              <c:ext xmlns:c16="http://schemas.microsoft.com/office/drawing/2014/chart" uri="{C3380CC4-5D6E-409C-BE32-E72D297353CC}">
                <c16:uniqueId val="{00000009-F0F7-4E94-A7A0-A5D7CBDB4156}"/>
              </c:ext>
            </c:extLst>
          </c:dPt>
          <c:dLbls>
            <c:numFmt formatCode="&quot;£&quot;0&quot;k&quot;" sourceLinked="0"/>
            <c:spPr>
              <a:noFill/>
              <a:ln>
                <a:noFill/>
              </a:ln>
              <a:effectLst/>
            </c:spPr>
            <c:txPr>
              <a:bodyPr/>
              <a:lstStyle/>
              <a:p>
                <a:pPr>
                  <a:defRPr sz="1500" b="1"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Protect Top Customers</c:v>
                </c:pt>
                <c:pt idx="1">
                  <c:v>2. Keep Steady Regulars ordering</c:v>
                </c:pt>
                <c:pt idx="2">
                  <c:v>3. Get New Starters to order 3</c:v>
                </c:pt>
                <c:pt idx="3">
                  <c:v>4. Win back Fading Big Spenders</c:v>
                </c:pt>
                <c:pt idx="4">
                  <c:v>5. Remind Gone Quiet</c:v>
                </c:pt>
              </c:strCache>
            </c:strRef>
          </c:cat>
          <c:val>
            <c:numRef>
              <c:f>Sheet1!$B$2:$B$6</c:f>
              <c:numCache>
                <c:formatCode>General</c:formatCode>
                <c:ptCount val="5"/>
                <c:pt idx="0">
                  <c:v>142</c:v>
                </c:pt>
                <c:pt idx="1">
                  <c:v>133</c:v>
                </c:pt>
                <c:pt idx="2">
                  <c:v>103</c:v>
                </c:pt>
                <c:pt idx="3">
                  <c:v>53</c:v>
                </c:pt>
                <c:pt idx="4">
                  <c:v>28</c:v>
                </c:pt>
              </c:numCache>
            </c:numRef>
          </c:val>
          <c:extLst>
            <c:ext xmlns:c16="http://schemas.microsoft.com/office/drawing/2014/chart" uri="{C3380CC4-5D6E-409C-BE32-E72D297353CC}">
              <c16:uniqueId val="{0000000A-F0F7-4E94-A7A0-A5D7CBDB4156}"/>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D9DEE5"/>
            </a:solidFill>
            <a:prstDash val="solid"/>
            <a:round/>
          </a:ln>
        </c:spPr>
        <c:txPr>
          <a:bodyPr/>
          <a:lstStyle/>
          <a:p>
            <a:pPr>
              <a:defRPr sz="1300" b="0" i="0" u="none" strike="noStrike">
                <a:solidFill>
                  <a:srgbClr val="1E2B3A"/>
                </a:solidFill>
                <a:latin typeface="Calibri"/>
              </a:defRPr>
            </a:pPr>
            <a:endParaRPr lang="en-US"/>
          </a:p>
        </c:txPr>
        <c:crossAx val="2094734552"/>
        <c:crosses val="autoZero"/>
        <c:auto val="1"/>
        <c:lblAlgn val="ctr"/>
        <c:lblOffset val="100"/>
        <c:noMultiLvlLbl val="1"/>
      </c:catAx>
      <c:valAx>
        <c:axId val="2094734552"/>
        <c:scaling>
          <c:orientation val="minMax"/>
          <c:max val="17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B6675"/>
                </a:solidFill>
                <a:latin typeface="Calibri"/>
              </a:defRPr>
            </a:pPr>
            <a:r>
              <a:rPr lang="en-US" sz="1300" b="0" i="0" u="none" strike="noStrike">
                <a:solidFill>
                  <a:srgbClr val="5B6675"/>
                </a:solidFill>
                <a:latin typeface="Calibri"/>
              </a:rPr>
              <a:t>Sales lines remaining after each cleaning step (thousands)</a:t>
            </a:r>
          </a:p>
        </c:rich>
      </c:tx>
      <c:overlay val="0"/>
    </c:title>
    <c:autoTitleDeleted val="0"/>
    <c:plotArea>
      <c:layout/>
      <c:barChart>
        <c:barDir val="bar"/>
        <c:grouping val="clustered"/>
        <c:varyColors val="0"/>
        <c:ser>
          <c:idx val="0"/>
          <c:order val="0"/>
          <c:tx>
            <c:strRef>
              <c:f>Sheet1!$B$1</c:f>
              <c:strCache>
                <c:ptCount val="1"/>
                <c:pt idx="0">
                  <c:v>Lines remaining (thousands)</c:v>
                </c:pt>
              </c:strCache>
            </c:strRef>
          </c:tx>
          <c:spPr>
            <a:solidFill>
              <a:srgbClr val="8793A3"/>
            </a:solidFill>
            <a:effectLst/>
          </c:spPr>
          <c:invertIfNegative val="0"/>
          <c:dLbls>
            <c:numFmt formatCode="#,##0.0&quot;k&quot;" sourceLinked="0"/>
            <c:spPr>
              <a:noFill/>
              <a:ln>
                <a:noFill/>
              </a:ln>
              <a:effectLst/>
            </c:spPr>
            <c:txPr>
              <a:bodyPr/>
              <a:lstStyle/>
              <a:p>
                <a:pPr>
                  <a:defRPr sz="1200" b="0" i="0" u="none" strike="noStrike">
                    <a:solidFill>
                      <a:srgbClr val="1E2B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Raw sales lines</c:v>
                </c:pt>
                <c:pt idx="1">
                  <c:v>Exact duplicate lines removed</c:v>
                </c:pt>
                <c:pt idx="2">
                  <c:v>Lines with no customer number removed</c:v>
                </c:pt>
                <c:pt idx="3">
                  <c:v>Non-product lines removed (postage, fees, tests)</c:v>
                </c:pt>
                <c:pt idx="4">
                  <c:v>Two mistaken giant orders and reversals removed</c:v>
                </c:pt>
                <c:pt idx="5">
                  <c:v>Free (£0) items removed</c:v>
                </c:pt>
              </c:strCache>
            </c:strRef>
          </c:cat>
          <c:val>
            <c:numRef>
              <c:f>Sheet1!$B$2:$B$7</c:f>
              <c:numCache>
                <c:formatCode>General</c:formatCode>
                <c:ptCount val="6"/>
                <c:pt idx="0">
                  <c:v>1067.3710000000001</c:v>
                </c:pt>
                <c:pt idx="1">
                  <c:v>1033.0360000000001</c:v>
                </c:pt>
                <c:pt idx="2">
                  <c:v>797.88499999999999</c:v>
                </c:pt>
                <c:pt idx="3">
                  <c:v>794.22299999999996</c:v>
                </c:pt>
                <c:pt idx="4">
                  <c:v>794.21900000000005</c:v>
                </c:pt>
                <c:pt idx="5">
                  <c:v>794.15899999999999</c:v>
                </c:pt>
              </c:numCache>
            </c:numRef>
          </c:val>
          <c:extLst>
            <c:ext xmlns:c16="http://schemas.microsoft.com/office/drawing/2014/chart" uri="{C3380CC4-5D6E-409C-BE32-E72D297353CC}">
              <c16:uniqueId val="{00000000-26F9-4421-AAC0-B9773D9F211A}"/>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D9DEE5"/>
            </a:solidFill>
            <a:prstDash val="solid"/>
            <a:round/>
          </a:ln>
        </c:spPr>
        <c:txPr>
          <a:bodyPr/>
          <a:lstStyle/>
          <a:p>
            <a:pPr>
              <a:defRPr sz="1150" b="0" i="0" u="none" strike="noStrike">
                <a:solidFill>
                  <a:srgbClr val="1E2B3A"/>
                </a:solidFill>
                <a:latin typeface="Calibri"/>
              </a:defRPr>
            </a:pPr>
            <a:endParaRPr lang="en-US"/>
          </a:p>
        </c:txPr>
        <c:crossAx val="2094734552"/>
        <c:crosses val="autoZero"/>
        <c:auto val="1"/>
        <c:lblAlgn val="ctr"/>
        <c:lblOffset val="100"/>
        <c:noMultiLvlLbl val="1"/>
      </c:catAx>
      <c:valAx>
        <c:axId val="2094734552"/>
        <c:scaling>
          <c:orientation val="minMax"/>
          <c:max val="13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Summer (Jun–Sep 2011)</c:v>
                </c:pt>
              </c:strCache>
            </c:strRef>
          </c:tx>
          <c:spPr>
            <a:ln w="31750" cap="flat">
              <a:solidFill>
                <a:srgbClr val="1E2B3A"/>
              </a:solidFill>
              <a:prstDash val="solid"/>
              <a:round/>
            </a:ln>
            <a:effectLst/>
          </c:spPr>
          <c:marker>
            <c:symbol val="circle"/>
            <c:size val="6"/>
            <c:spPr>
              <a:solidFill>
                <a:srgbClr val="1E2B3A"/>
              </a:solidFill>
              <a:ln w="9525" cap="flat">
                <a:solidFill>
                  <a:srgbClr val="1E2B3A"/>
                </a:solidFill>
                <a:prstDash val="solid"/>
                <a:round/>
              </a:ln>
              <a:effectLst/>
            </c:spPr>
          </c:marker>
          <c:cat>
            <c:strRef>
              <c:f>Sheet1!$A$2:$A$17</c:f>
              <c:strCache>
                <c:ptCount val="1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strCache>
            </c:strRef>
          </c:cat>
          <c:val>
            <c:numRef>
              <c:f>Sheet1!$B$2:$B$17</c:f>
              <c:numCache>
                <c:formatCode>General</c:formatCode>
                <c:ptCount val="16"/>
                <c:pt idx="0">
                  <c:v>95.6</c:v>
                </c:pt>
                <c:pt idx="1">
                  <c:v>95.2</c:v>
                </c:pt>
                <c:pt idx="2">
                  <c:v>91.8</c:v>
                </c:pt>
                <c:pt idx="3">
                  <c:v>90.9</c:v>
                </c:pt>
                <c:pt idx="4">
                  <c:v>81.900000000000006</c:v>
                </c:pt>
                <c:pt idx="5">
                  <c:v>81</c:v>
                </c:pt>
                <c:pt idx="6">
                  <c:v>76.400000000000006</c:v>
                </c:pt>
                <c:pt idx="7">
                  <c:v>73.400000000000006</c:v>
                </c:pt>
                <c:pt idx="8">
                  <c:v>74.900000000000006</c:v>
                </c:pt>
                <c:pt idx="9">
                  <c:v>68.900000000000006</c:v>
                </c:pt>
                <c:pt idx="10">
                  <c:v>63.6</c:v>
                </c:pt>
                <c:pt idx="11">
                  <c:v>55.7</c:v>
                </c:pt>
                <c:pt idx="12">
                  <c:v>42.4</c:v>
                </c:pt>
                <c:pt idx="13">
                  <c:v>29</c:v>
                </c:pt>
                <c:pt idx="14">
                  <c:v>24.4</c:v>
                </c:pt>
                <c:pt idx="15">
                  <c:v>15.3</c:v>
                </c:pt>
              </c:numCache>
            </c:numRef>
          </c:val>
          <c:smooth val="0"/>
          <c:extLst>
            <c:ext xmlns:c16="http://schemas.microsoft.com/office/drawing/2014/chart" uri="{C3380CC4-5D6E-409C-BE32-E72D297353CC}">
              <c16:uniqueId val="{00000000-2687-4502-8D5A-2E8076DE0A35}"/>
            </c:ext>
          </c:extLst>
        </c:ser>
        <c:ser>
          <c:idx val="1"/>
          <c:order val="1"/>
          <c:tx>
            <c:strRef>
              <c:f>Sheet1!$C$1</c:f>
              <c:strCache>
                <c:ptCount val="1"/>
                <c:pt idx="0">
                  <c:v>Autumn (Sep–Dec 2011)</c:v>
                </c:pt>
              </c:strCache>
            </c:strRef>
          </c:tx>
          <c:spPr>
            <a:ln w="31750" cap="flat">
              <a:solidFill>
                <a:srgbClr val="9A7BB0"/>
              </a:solidFill>
              <a:prstDash val="solid"/>
              <a:round/>
            </a:ln>
            <a:effectLst/>
          </c:spPr>
          <c:marker>
            <c:symbol val="circle"/>
            <c:size val="6"/>
            <c:spPr>
              <a:solidFill>
                <a:srgbClr val="9A7BB0"/>
              </a:solidFill>
              <a:ln w="9525" cap="flat">
                <a:solidFill>
                  <a:srgbClr val="9A7BB0"/>
                </a:solidFill>
                <a:prstDash val="solid"/>
                <a:round/>
              </a:ln>
              <a:effectLst/>
            </c:spPr>
          </c:marker>
          <c:cat>
            <c:strRef>
              <c:f>Sheet1!$A$2:$A$17</c:f>
              <c:strCache>
                <c:ptCount val="1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strCache>
            </c:strRef>
          </c:cat>
          <c:val>
            <c:numRef>
              <c:f>Sheet1!$C$2:$C$17</c:f>
              <c:numCache>
                <c:formatCode>General</c:formatCode>
                <c:ptCount val="16"/>
                <c:pt idx="0">
                  <c:v>92.8</c:v>
                </c:pt>
                <c:pt idx="1">
                  <c:v>87.6</c:v>
                </c:pt>
                <c:pt idx="2">
                  <c:v>81.099999999999994</c:v>
                </c:pt>
                <c:pt idx="3">
                  <c:v>71.2</c:v>
                </c:pt>
                <c:pt idx="4">
                  <c:v>77.2</c:v>
                </c:pt>
                <c:pt idx="5">
                  <c:v>70.7</c:v>
                </c:pt>
                <c:pt idx="6">
                  <c:v>65.7</c:v>
                </c:pt>
                <c:pt idx="7">
                  <c:v>57.8</c:v>
                </c:pt>
                <c:pt idx="8">
                  <c:v>59.8</c:v>
                </c:pt>
                <c:pt idx="9">
                  <c:v>59.8</c:v>
                </c:pt>
                <c:pt idx="10">
                  <c:v>45.6</c:v>
                </c:pt>
                <c:pt idx="11">
                  <c:v>35.5</c:v>
                </c:pt>
                <c:pt idx="12">
                  <c:v>32.200000000000003</c:v>
                </c:pt>
                <c:pt idx="13">
                  <c:v>23.1</c:v>
                </c:pt>
                <c:pt idx="14">
                  <c:v>15.3</c:v>
                </c:pt>
                <c:pt idx="15">
                  <c:v>9.6999999999999993</c:v>
                </c:pt>
              </c:numCache>
            </c:numRef>
          </c:val>
          <c:smooth val="0"/>
          <c:extLst>
            <c:ext xmlns:c16="http://schemas.microsoft.com/office/drawing/2014/chart" uri="{C3380CC4-5D6E-409C-BE32-E72D297353CC}">
              <c16:uniqueId val="{00000001-2687-4502-8D5A-2E8076DE0A3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B6675"/>
                    </a:solidFill>
                    <a:latin typeface="Arial"/>
                  </a:defRPr>
                </a:pPr>
                <a:r>
                  <a:rPr lang="en-US" sz="1200" b="0" i="0" u="none" strike="noStrike">
                    <a:solidFill>
                      <a:srgbClr val="5B6675"/>
                    </a:solidFill>
                    <a:latin typeface="Arial"/>
                  </a:rPr>
                  <a:t>Customer score (5 = lowest, 20 = highest)</a:t>
                </a:r>
              </a:p>
            </c:rich>
          </c:tx>
          <c:overlay val="0"/>
        </c:title>
        <c:numFmt formatCode="General" sourceLinked="1"/>
        <c:majorTickMark val="out"/>
        <c:minorTickMark val="none"/>
        <c:tickLblPos val="low"/>
        <c:spPr>
          <a:ln w="12700" cap="flat">
            <a:solidFill>
              <a:srgbClr val="D9DEE5"/>
            </a:solidFill>
            <a:prstDash val="solid"/>
            <a:round/>
          </a:ln>
        </c:spPr>
        <c:txPr>
          <a:bodyPr/>
          <a:lstStyle/>
          <a:p>
            <a:pPr>
              <a:defRPr sz="1200" b="0" i="0" u="none" strike="noStrike">
                <a:solidFill>
                  <a:srgbClr val="1E2B3A"/>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3E7EC"/>
              </a:solidFill>
              <a:prstDash val="solid"/>
              <a:round/>
            </a:ln>
          </c:spPr>
        </c:majorGridlines>
        <c:title>
          <c:tx>
            <c:rich>
              <a:bodyPr/>
              <a:lstStyle/>
              <a:p>
                <a:pPr>
                  <a:defRPr sz="1200" b="0" i="0" u="none" strike="noStrike">
                    <a:solidFill>
                      <a:srgbClr val="5B6675"/>
                    </a:solidFill>
                    <a:latin typeface="Arial"/>
                  </a:defRPr>
                </a:pPr>
                <a:r>
                  <a:rPr lang="en-US" sz="1200" b="0" i="0" u="none" strike="noStrike">
                    <a:solidFill>
                      <a:srgbClr val="5B6675"/>
                    </a:solidFill>
                    <a:latin typeface="Arial"/>
                  </a:rPr>
                  <a:t>% placing no order in next 3 months</a:t>
                </a:r>
              </a:p>
            </c:rich>
          </c:tx>
          <c:overlay val="0"/>
        </c:title>
        <c:numFmt formatCode="0&quot;%&quot;" sourceLinked="0"/>
        <c:majorTickMark val="out"/>
        <c:minorTickMark val="none"/>
        <c:tickLblPos val="nextTo"/>
        <c:spPr>
          <a:ln w="12700" cap="flat">
            <a:noFill/>
            <a:prstDash val="solid"/>
            <a:round/>
          </a:ln>
        </c:spPr>
        <c:txPr>
          <a:bodyPr/>
          <a:lstStyle/>
          <a:p>
            <a:pPr>
              <a:defRPr sz="1100" b="0" i="0" u="none" strike="noStrike">
                <a:solidFill>
                  <a:srgbClr val="5B6675"/>
                </a:solidFill>
                <a:latin typeface="Calibri"/>
              </a:defRPr>
            </a:pPr>
            <a:endParaRPr lang="en-US"/>
          </a:p>
        </c:txPr>
        <c:crossAx val="2094734554"/>
        <c:crosses val="autoZero"/>
        <c:crossBetween val="between"/>
        <c:majorUnit val="25"/>
      </c:valAx>
      <c:spPr>
        <a:noFill/>
        <a:ln>
          <a:noFill/>
        </a:ln>
        <a:effectLst/>
      </c:spPr>
    </c:plotArea>
    <c:legend>
      <c:legendPos val="t"/>
      <c:overlay val="0"/>
      <c:txPr>
        <a:bodyPr/>
        <a:lstStyle/>
        <a:p>
          <a:pPr>
            <a:defRPr sz="1200">
              <a:solidFill>
                <a:srgbClr val="1E2B3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8569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session: to answer one business question. Which customer groups need a different CRM approach?
We are not here to talk about code or statistics. We are here to agree on who our customers are, which of them matter most, and what the CRM team should do differently for each group from next month.
The five coloured icons at the bottom are the five customer groups. You will see these same colours and names on every slide, so you can follow one group all the way through.
The data covers every recorded sale from December 2009 to December 2011 for a UK gift retailer where many buyers are shops and wholesalers. We took a snapshot of every customer on 9 September 2011 and then checked what they actually did in the three months after.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A1023-1EF8-2142-53AB-90944032D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02E0B-F25C-7223-0344-11D0A9B17A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E02DE-8B57-7BCE-290E-740A31FE22AD}"/>
              </a:ext>
            </a:extLst>
          </p:cNvPr>
          <p:cNvSpPr>
            <a:spLocks noGrp="1"/>
          </p:cNvSpPr>
          <p:nvPr>
            <p:ph type="body" idx="1"/>
          </p:nvPr>
        </p:nvSpPr>
        <p:spPr/>
        <p:txBody>
          <a:bodyPr/>
          <a:lstStyle/>
          <a:p>
            <a:r>
              <a:rPr lang="en-US" dirty="0"/>
              <a:t>Purpose of this session: to answer one business question. Which customer groups need a different CRM approach?
We are not here to talk about code or statistics. We are here to agree on who our customers are, which of them matter most, and what the CRM team should do differently for each group from next month.
The five coloured icons at the bottom are the five customer groups. You will see these same colours and names on every slide, so you can follow one group all the way through.
The data covers every recorded sale from December 2009 to December 2011 for a UK gift retailer where many buyers are shops and wholesalers. We took a snapshot of every customer on 9 September 2011 and then checked what they actually did in the three months after.</a:t>
            </a:r>
          </a:p>
        </p:txBody>
      </p:sp>
      <p:sp>
        <p:nvSpPr>
          <p:cNvPr id="4" name="Slide Number Placeholder 3">
            <a:extLst>
              <a:ext uri="{FF2B5EF4-FFF2-40B4-BE49-F238E27FC236}">
                <a16:creationId xmlns:a16="http://schemas.microsoft.com/office/drawing/2014/main" id="{4E47D41C-C5A5-5035-ACA2-FFF9538B69D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19234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question on the title slide, before we get into any detail.
First number: 36 percent of customers, the Top Customers and Steady Regulars together, bring in about 80 percent of all spend recorded up to September 2011. Top Customers alone are 15 percent of customers and about 60 percent of spend.
Second number: about half of our customers, 2,625 of 5,253, had not placed an order for more than 5 months at the snapshot date. These are the Fading Big Spenders and the Gone Quiet group.
Third number: time since last order is the clearest warning sign we found. In the September to December period, once a customer passes about 120 days without an order, they are more likely to stay away than to come back. In the summer period that point arrives much earlier, at about 60 days.
So what for the CRM team: today many customers get the same emails and offers. The data says that approach spends money in the wrong places. The rest of this deck shows who to focus on and what to send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you can trust these findings.
The analysis uses every recorded sale between 1 December 2009 and 9 December 2011, a little over one million line items before cleaning. We focused on the 5,253 customers who had bought at least once before 9 September 2011, and they had spent about 13.2 million pounds in total, after cancelled orders were taken off.
We then did something important: we built the groups first without looking at the future, and only afterwards checked what each customer did over the next three months (9 September to 7 December 2011). The groups lined up with what really happened. The group we expected to stay mostly stayed, and the group we expected to leave mostly left. We repeated the whole exercise for a summer snapshot (10 June 2011) and got the same order.
Data cleaning in plain words: about 34,000 rows were exact copies of other rows and were removed. Rows with no customer number, most likely guest checkouts, could not be linked to a person, so they were left out. Lines that were not products, such as postage, bank charges and test entries, were removed. Two very large orders of 80,995 and 74,215 units were entered and then cancelled within minutes, so both the order and the cancellation were removed. 60 free items were removed.
Full details are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method slide in the main deck. The full rules are in the appendix.
For every customer we answered three questions using their order history up to the snapshot date.
One: how recently did they order? This is the number of days since their last order.
Two: how often do they order? This is the number of separate orders they placed, not counting cancelled ones.
Three: how much have they spent? This is their total spend after we take off anything they cancelled.
For each question, customers get a score from 1 to 4 depending on where they sit compared with everyone else. For example, the quarter of customers who ordered most recently get a 4 on the first question, and the quarter who have been away longest get a 1.
A short set of rules then turns those three scores into one of five groups. For example, a Top Customer is someone who ordered very recently and scores near the top on how often they order and how much they spend. A Fading Big Spender scores well on orders and spend, but has not ordered for a long time.
The point for the CRM team: this is not a black box. You can look at any customer record and see why they are in their group.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five groups with their names. We gave them plain names instead of numbers so they are easy to use in daily work and in the CRM system.
Top Customers: 786 customers, 15 percent. They order often, spend the most and have ordered in the last few weeks. They bring in about 60 percent of spend.
Steady Regulars: 1,120 customers, 21 percent. They order regularly and spend a solid amount. About 20 percent of spend.
New Starters: 722 customers, 14 percent. They ordered recently but only once or twice so far, and most have been customers for around four months. Only about 2 percent of spend so far.
Fading Big Spenders: 495 customers, 9 percent. On their history they look like good customers, but they have not ordered for about 9 months. About 11 percent of spend.
Gone Quiet: 2,130 customers, 41 percent, the largest group. Most bought once, spent little and have been away for almost a year. About 7 percent of spend.
Spend here means everything each group had spent from December 2009 up to the 9 September 2011 snapshot.
A short way to remember the five jobs: thank the Top Customers, grow the Steady Regulars, welcome the New Starters, win back the Fading Big Spenders, and keep costs low for Gone Quiet.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compares the size of each group (grey bars) with how much of the total spend it brought in (dark bars). Spend covers December 2009 to the 9 September 2011 snapshot.
Top Customers are 15 percent of customers but 60 percent of spend, about 7.9 million pounds. The typical Top Customer has spent about 4,400 pounds. A few very large wholesale accounts sit in this group too; the largest has spent over 450,000 pounds.
Steady Regulars are 21 percent of customers and 20 percent of spend. Their share of spend matches their size.
Fading Big Spenders are 9 percent of customers but 11 percent of spend. The typical Fading Big Spender has spent more than the typical Steady Regular.
New Starters and Gone Quiet together are over half of all customers but under 10 percent of spend.
Why "one Top Customer is worth more than ten Gone Quiet customers": the typical Top Customer has spent about 4,429 pounds and the typical Gone Quiet customer about 328 pounds. That is more than 13 times as much.
So what: if the team spends the same effort on every customer, most of that effort goes to people who bring in very little. The effort should follow value.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for each group, the share of customers who placed no order at all in the three months after the snapshot, from 9 September to 7 December 2011.
Top Customers: 16 percent did not order again, so more than 8 in 10 came back.
Steady Regulars: 40 percent did not order again.
New Starters: 56 percent, about the same as the average.
Fading Big Spenders: 60 percent.
Gone Quiet: 80 percent, so only about 1 in 5 came back.
Across all customers, 57 percent placed no order in those three months.
The important point: the groups were built only from what customers had done before 9 September. We did not use what happened afterwards. Even so, the groups line up in a clean staircase from most likely to stay to most likely to leave. That tells us the groups reflect real differences in behaviour.
Note that this period is the run-up to Christmas, when many customers come back anyway. In the summer period every group had a higher rate; we cover that on a later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Customers, 786 customers, 15 percent of all customers, about 60 percent of spend.
What makes them different, using the typical (middle) customer in the group: their last order was 16 days before the snapshot, against 162 days for a typical customer overall. They have placed 12 orders, against 3. They have spent about 4,429 pounds, against 759. They have bought 140 different products, against 41, so they buy across the range. They also have the largest orders, about 353 pounds per order. Almost all of them have been with us since the data starts.
A real example: customer 13078 has placed 46 orders and spent 22,710 pounds, last ordered 14 days before the snapshot, and ordered again in the following three months. Our largest customer, 18102, has placed 112 orders worth over 454,000 pounds.
Only 16 percent of this group placed no order in the next three months (23 percent in the summer period). Over the summer, about a third of them slipped down to Steady Regulars, although none fell further.
What the CRM team should do: keep them close. Early access to new ranges and the Christmas collection, a named contact for the largest accounts, and simple thank-you messages. Discounts are not needed here, because most of them come back anyway; a discount would mostly give away margin.
Daily work: a short monthly check of any Top Customer who has gone more than 30 days without an order.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Steady Regulars, 1,120 customers, 21 percent of customers, about 20 percent of spend.
The typical Steady Regular last ordered 78 days before the snapshot, has placed 5 orders, spent about 1,496 pounds and bought 72 different products. They look like a smaller version of Top Customers.
A real example: customer 13085 first ordered on 1 December 2009. That first order included Christmas glass ball lights, pink cherry lights, a record frame and a strawberry ceramic trinket box. By September 2011 they had placed 8 orders worth 2,290 pounds. Then they placed no order in the following three months. This is exactly the kind of customer a reminder could have reached in time.
Why this group matters: 40 percent of them placed no order in the next three months (51 percent in the summer). Because the group is large and each customer is worth about 1,500 pounds, this is where we lose the most value in total. 444 of them did not order in the autumn period.
The good news: over the summer, about 1 in 4 Steady Regulars moved up to Top Customers. But about 1 in 5 slipped down to Fading Big Spenders or Gone Quiet. So this group can go either way.
What the CRM team should do: product suggestions based on what they already buy, a reminder once they pass about 60 days without an order, and a small reward for ordering more often, for example free delivery on their next order if placed within a set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Starters, 722 customers, 14 percent of customers, only about 2 percent of spend so far.
The typical New Starter last ordered 70 days before the snapshot, so they are recent. But they have only 2 orders, about 342 pounds of spend and 22 different products. The clearest difference is how new they are: about 125 days as a customer, roughly 4 months, compared with about 16 months for a typical customer.
In the data, 344 of the 722 have ordered only once, and another 251 have ordered twice.
Why they matter: they are recent, so they still remember us, and a later slide shows that the third order is the point where customers are much more likely to stay. Over the summer, about half of New Starters stayed in the group, about 15 percent moved up to Steady Regulars, and about a third dropped to Gone Quiet.
56 percent placed no order in the autumn period, and 72 percent in the summer period.
What the CRM team should do: a short welcome series that aims for the second and then the third order. For example emails at about 7, 30 and 60 days after the first order, with bestseller suggestions that suit their type of shop, and an offer that is only unlocked on the third order.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Fading Big Spenders, 495 customers, 9 percent of customers, about 11 percent of spend.
On their history they look like good customers. The typical one has placed 5 orders and spent about 1,765 pounds, which is more than the typical Steady Regular. When they ordered, they spent about 311 pounds per order, the same as Steady Regulars. The problem is time: their last order was about 284 days before the snapshot, more than 9 months.
A real example: customer 18087 had placed 16 orders worth about 13,564 pounds. In the June snapshot they were a Steady Regular. By September they had gone 198 days without an order and had moved into this group. Nothing in our data tells us why.
60 percent of this group placed no order in the autumn period, and 76 percent in the summer. But 1 in 4 of them moved back up to Steady Regulars or Top Customers over the summer, so they are not lost.
What the CRM team should do: this is the best place for personal win-back effort. The group is small enough for a phone call or a personal email from the account team, with an offer based on the products they used to buy. Because many come back before Christmas anyway, the main push works best in September and October.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Gone Quiet, 2,130 customers, 41 percent of customers, the largest group, but only about 7 percent of spend.
The typical Gone Quiet customer placed 1 order, spent about 328 pounds and last ordered about 336 days before the snapshot, so almost a year. 58 percent of them bought only once, compared with 30 percent across all customers.
A real example: customer 15362 placed 2 orders worth 613 pounds in total. Their last order was 356 days before the snapshot, and they did not order in the following three months either.
80 percent of this group placed no order in the autumn period, and 89 percent in the summer. Over the summer, 89 percent of them were still in this group three months later.
What the CRM team should do: keep contact cheap. A general email and one seasonal message before Christmas is enough. If there is no response, remove them from any paid campaign such as printed catalogues or paid ads. The budget saved should go to Steady Regulars and Fading Big Spenders.
This does not mean these customers are worthless. A small number will come back, and some may be worth a second look if they respond. It means we should not spend much to find out.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how the chance of losing a customer grows the longer they go without ordering. Each point is a group of customers by days since their last order. The height shows the share who then placed no order in the next three months.
The dark line is the summer period (snapshot 10 June, checked until 7 September 2011). The purple line is the autumn period (snapshot 9 September, checked until 7 December 2011).
Both lines climb in the same way. In the autumn, customers who had ordered in the last 30 days had a 25 percent chance of not ordering again; after a year away it was 89 percent. The biggest jump is after about 120 days, where the rate goes from 45 to 62 percent.
In the summer everything is higher and the jump comes earlier. Between 61 and 90 days since their last order, 62 percent did not order again.
What this means in daily work: time since last order is the simplest early warning we have, and the CRM system already knows it. The team does not need a model to use it. Set a reminder when a valuable customer passes about 60 days without an order in ordinary months, and about 120 days in the run-up to Christmas. Waiting until customers have been gone for most of a year is too late: by then 9 in 10 do not come back.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splits customers by how many orders they had placed before the snapshot, and shows how many then placed no order in the following three months.
Customers who had ordered once: 80 percent did not order again.
Customers who had ordered twice: 67 percent did not order again.
Customers with three or more orders: 40 percent did not order again.
So the second order helps a little, by about 12 percentage points. The third order helps much more, by another 27 points. The summer period shows the same pattern: 88, 80 and 52 percent.
Value follows the same pattern. A typical customer with three or more orders has spent about 1,778 pounds, compared with about 491 pounds for two orders and 228 pounds for one.
We also see this in the monthly customer tables: for most months, only about 15 to 25 percent of new customers bought again in the month after their first order. The biggest drop happens straight after the first purchase.
What this means in daily work: the New Starter journey should not stop at "thank you for your first order". It should keep going until the customer has placed a third order. Measure it that way too: the share of New Starters who reach order three within, say, 120 days.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same grouping twice: once on 10 June 2011 (summer) and once on 9 September 2011 (autumn). This chart compares how many in each group placed no order in the three months after each date.
Every group has a higher rate in summer. Top Customers 23 versus 16 percent. Steady Regulars 51 versus 40. New Starters 72 versus 56. Fading Big Spenders 76 versus 60. Gone Quiet 89 versus 80.
The order of the groups is the same in both seasons, which tells us the grouping holds up across the year. Only the level changes.
Looking at customers who were in both snapshots: 972 customers did not order in the summer window but did order in the autumn window. Only 444 went the other way. We checked this with a standard statistical test and the difference is far too large to be chance.
What this means for planning: the summer is when customers drift, so that is the time for light-touch retention, such as reminders and product suggestions for Steady Regulars and the New Starter journey. The run-up to Christmas is when customers are already in a buying mood, so it is the best time for the main win-back offer to Fading Big Spenders. Also, results measured in autumn will always look better than results measured in summer, so compare like with like.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4,944 customers in the June snapshot were also in the September snapshot, so we can follow each one. Each bar is one June group. The coloured parts show which group those same customers were in three months later. Labels under 6 percent are hidden to keep the chart readable.
Top Customers: two thirds stayed Top Customers and a third moved to Steady Regulars. None dropped further.
Steady Regulars: about half stayed. About 1 in 4 moved up to Top Customers. But about 1 in 5 slipped down: 15 percent to Fading Big Spenders and 7 percent to Gone Quiet.
New Starters: about half stayed, 15 percent moved up to Steady Regulars, and about a third became Gone Quiet because they did not order again over the summer.
Fading Big Spenders: three quarters stayed, but 1 in 4 came back up to Top Customers or Steady Regulars.
Gone Quiet: nearly 9 in 10 stayed.
Why this matters: a customer can be a Steady Regular in June and a Fading Big Spender in September. If the CRM team works from an old list, a customer who has just gone quiet will still get a "regular customer" message, and a customer who has just come back may get a win-back offer they do not need. This is why we recommend a monthly refresh.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action plan on one page. Each column is one group, with a goal, an offer, a channel and the timing.
Top Customers: the goal is to keep them. Early access to new ranges, thank-you notes, and a named account contact for the largest buyers. No discounts needed. Check in on anyone who goes past 30 days without an order.
Steady Regulars: the goal is to move them up to Top Customers. Product suggestions based on what they already buy and a small reward for ordering more often. Set a reminder when they reach 60 days without an order.
New Starters: the goal is the second and third order. An automated welcome series at about 7, 30 and 60 days after the first order, with bestseller picks and an offer tied to the third order.
Fading Big Spenders: the goal is to win them back. A personal call or email from the account team with an offer based on their past favourite products. Start now, with the main push in September and October.
Gone Quiet: the goal is a low-cost reminder. Bulk email only, for example one seasonal message before Christmas.
Important: these offers are starting points. For each one, hold back a small random set of customers who get nothing, so we can see whether the action really changes behaviour, rather than counting customers who would have ordered anyway.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ranks the five actions by the value we could expect if each one works at a modest level. These are scenarios, not forecasts, and the response rates are assumptions for the team to test.
How each figure is worked out, using the autumn period:
Protect Top Customers, about 142 thousand pounds. 126 Top Customers placed no order in the next three months. If better service keeps 1 in 4 of them, that is 32 customers, times their typical past spend of about 4,429 pounds.
Keep Steady Regulars ordering, about 133 thousand pounds. 444 Steady Regulars placed no order. Keeping 1 in 5 of them is 89 customers, times about 1,496 pounds.
Get New Starters to order three, about 103 thousand pounds. If 1 in 10 of the 722 New Starters become repeat buyers, that is 72 customers. A typical repeat buyer has spent about 1,778 pounds against 342 for a typical New Starter, a gap of about 1,436 pounds each. This value builds up over a longer time than the others.
Win back Fading Big Spenders, about 53 thousand pounds. 299 did not order. Winning back 1 in 10 is 30 customers times about 1,765 pounds.
Remind Gone Quiet, about 28 thousand pounds. 1,702 did not order. Winning back 1 in 20 is 85 customers times about 328 pounds.
Total: about 460 thousand pounds. Note that "typical past spend" is what these customers spent over roughly 18 months of history, so the value would build up over a similar period, not in one quarter.
The ranking also reflects effort. Top Customers and Steady Regulars are customers we already know, with order histories we can use to make offers relevant. The Gone Quiet group is large and cheap to email, but few respond, so it comes last.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make this part of normal CRM work, not a one-off project.
Step one: add four fields to each customer record. The customer group name, the customer score from 5 to 20 (this adds up five simple scores and is useful for ranking customers within a group), the number of days since their last order, and their number of orders so far. These are updated by the monthly refresh.
Step two: build five saved lists or segments in the CRM, one per group. Every campaign then starts by choosing the right list, instead of emailing everyone.
Step three: set a small number of automatic triggers. A reminder when a Steady Regular or Top Customer passes 60 days without an order (120 days from September to December). A welcome email 7 days after a first order. An alert when a customer moves down a group, for example from Steady Regular to Fading Big Spender.
Step four: report results by group every month. How many orders and how much spend each group produced, and how many customers moved up or down.
On the right is what this could look like in a normal week. Monday, work through Steady Regulars who have just passed 60 days. Tuesday, hand the account team a call list of Fading Big Spenders. The New Starter emails run on their own. Friday, a quick check of any Top Customer who has gone quiet for more than 30 days. At the start of each month, refresh the groups and share the report.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process on one page, in four steps.
One, sales data. Every order and every cancellation, linked to a customer number. This already exists in the order system.
Two, grouping. Once a month, each customer is scored on how recently they ordered, how often and how much they spent, and placed in one of the five groups. This can be a scheduled job run by the data team; the CRM team does not need to do it by hand.
Three, CRM action. The group and the related fields are loaded into the CRM. Campaigns, triggers and call lists then use them, as set out in the action plan.
Four, business outcome. We track repeat orders, customers lost and spend for each group.
Then the cycle repeats. The results feed back into which offers we keep, and the groups are refreshed at the start of every month so the lists stay current.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be open about what this analysis can and cannot tell us.
Guest buyers: about 23 percent of sales lines had no customer number, most likely guest checkouts. They make up about 14 percent of spend. We checked whether any of them could be matched to a known customer and none could, so they are left out. The CRM team cannot target them anyway until they register.
Old data: the data runs from December 2009 to December 2011. Customer behaviour, product ranges and channels may have changed since. Before any large spend, we should rerun the same steps on current data.
Season: most figures in this deck come from the September to December period, when more customers return. The summer period is harder for every group, so results measured in summer will look worse.
Groups describe the past: the groups tell us who is more or less likely to stay as a group. They do not guarantee what any single customer will do. Also, a brand-new customer cannot be placed in a group until they have placed an order; in the autumn window, 595 customers bought for the first time and could not be scored in advance.
Value figures: the pound values on the priorities slide use typical past spend and assumed response rates. They are for ranking, not budgeting. Every action should be tested against a hold-back group that gets nothing.
Narrow view: we only have orders. We have no data on email opens, website visits, complaints, returns reasons or why customers left. Large wholesale buyers and small shops sit in the same groups, which is why we use the typical (middle) customer rather than averages in most figures.
Other checks we made: we removed exact duplicate rows, two very large mistaken orders that were reversed within minutes, postage and fee lines, test entries, and 60 free items. A small number of customers, 10, had cancelled more than they bought within the data period; they were kept and fall into the low-value groups.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What we learned:
One. Top Customers and Steady Regulars are about a third of customers but bring in about 80 percent of spend. They come first.
Two. About half of customers had not ordered for more than five months. Most of these are Gone Quiet and are best handled cheaply, but the Fading Big Spenders are a small, valuable group that is still worth a personal approach.
Three. The third order is the point where new customers start to stay, so the New Starter journey should aim for it.
Four. Days since last order is the clearest warning sign. Act at about 60 days in ordinary months and about 120 days before Christmas.
Five. Customers move between groups quickly, so the lists must be refreshed every month.
Next steps we are asking the CRM team to agree today:
In the first two weeks, load the group fields into the CRM and build the five saved lists.
In month one, start the Top Customer care actions and the 60-day reminder for Steady Regulars.
In months one to two, launch the New Starter welcome series aimed at the third order.
From August to October, run the personal win-back for Fading Big Spenders.
Every month, refresh the groups, compare each action against a hold-back group, and report results by group.
The appendix that follows is for anyone who wants the technical details.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slides are for stakeholders who want to see how the analysis was done. They are not needed to act on the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source: the Online Retail II dataset from the UCI repository, published on Kaggle. It contains 1,067,371 sales lines from a UK online gift retailer between 1 December 2009 and 9 December 2011. Each line is one product on one invoice.
Cleaning steps:
1. 34,335 exact duplicate lines (3.2 percent) were removed. Same invoice, product, quantity, time and customer cannot be two real purchases.
2. 235,151 lines with no customer number were removed. We checked that no invoice mixed lines with and without a customer number, so the missing numbers could not be filled in. These lines are about 14 percent of revenue.
3. 13 non-product stock codes were removed: postage, bank charges, manual adjustments, test codes and similar.
4. Two very large orders, 80,995 and 74,215 units, were each cancelled by the same customer within about 15 minutes. Both the orders and their cancellations were removed so they would not count as an order.
5. 60 lines with a price of zero were removed.
Product descriptions were also standardised so each stock code has one name.
Cancellations: every invoice starting with C has a negative quantity and every negative quantity has a C invoice. We kept these lines and netted them against purchases, so a customer who bought and then cancelled is not credited with that spend.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RFM scoring. R stands for recency (days since last order before the snapshot), F for frequency (number of separate purchase invoices) and M for monetary value (total spend after cancellations are netted off).
Each customer gets a score from 1 to 4 on each measure, based on the 25th, 50th and 75th percentiles of all customers at the snapshot date. For recency, a lower number of days is better, so the most recent quarter gets a 4. Frequency has many ties at one order, so about 30 percent of customers get F = 1.
F and M are added into a value score from 2 to 8. The rules in the table are checked from top to bottom and each customer goes into the first group whose rule they meet.
Two more scores, product breadth (number of different products) and average order value, are added with R, F and M into a customer score from 5 to 20. This single number is useful for ranking customers within a group.
Features considered but not used for grouping: customer tenure, average basket size, cancellation rate and country. Cancellation rate would mostly split customers into those who cancel and those who don't, and customers with more orders simply have more chances to cancel. Country is a yes/no flag. These are used to describe the groups instead.
We looked at the data before choosing this approach. Most spend-related measures are very skewed: the median customer spent 759 pounds but the average is 2,515 because of a few very large wholesale buyers. Quartile scoring is not affected by this, which is another reason it suits this data. We use medians to describe the groups for the same reason.
The same cut-off approach was applied separately to the June 2011 snapshot, with its own cut-offs.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checked that the groups mean something.
First, no information from the future was used to build the groups. For the autumn snapshot, every measure was calculated only from orders before 9 September 2011. We then looked at whether each customer placed any order between 9 September and 7 December 2011, and called them lost if they did not. The same was done for the June snapshot with the window 10 June to 7 September 2011.
Second, the customer score lines up with what happened next. The chart shows that as the score goes from 5 to 20, the share of customers lost falls from about 93 to 10 percent in autumn, and from about 96 to 15 percent in summer. The line is not perfectly smooth, but the direction is clear in both seasons.
Third, the groups sort customers in the same order in both seasons, from Top Customers (fewest lost) to Gone Quiet (most lost).
Fourth, we tested whether the season really makes a difference. Most customers appear in both snapshots, so we used McNemar's test, which compares the customers whose outcome changed between the two windows. 972 customers were lost in summer but came back in autumn, and 444 did the opposite. The test statistic was 196 with a p-value below 0.0001, and the gap in loss rates was about 11 percentage points (68.0 versus 57.3 percent for these customers). This supports using different timing for the two seasons.
Next step in the wider project: a churn prediction model for each season, trained on the same features, which can later add a per-customer probability to the CRM record. That is outside the scope of this deck.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exactly how each value on the priorities slide was calculated, so anyone can check or change the assumptions.
The starting point is the number of customers in each group who placed no order in the autumn window (9 September to 7 December 2011). For New Starters we use the whole group, because the action is about moving them to repeat buying rather than winning them back.
The assumed response is a simple, modest scenario for each action. They are not measured results. Personal contact for Top Customers is assumed to keep more people than a bulk email to Gone Quiet customers.
Value each is the median total spend of the group up to the snapshot date. The median is used because a few very large wholesale accounts would push the average up a lot. For New Starters we use the difference between a typical repeat buyer (3 or more orders, median 1,778 pounds) and a typical New Starter (median 342 pounds).
These values are what the customers spent over roughly 18 months of history, so the uplift would build up over a similar period. They are gross values, before the cost of offers, discounts and staff time.
Once the first campaigns have run with hold-back groups, replace the assumed rates with measured ones.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1.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10" Type="http://schemas.openxmlformats.org/officeDocument/2006/relationships/image" Target="../media/image5.png"/><Relationship Id="rId4" Type="http://schemas.openxmlformats.org/officeDocument/2006/relationships/image" Target="../media/image12.png"/><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6.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B3A"/>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7315200" cy="320040"/>
          </a:xfrm>
          <a:prstGeom prst="rect">
            <a:avLst/>
          </a:prstGeom>
          <a:noFill/>
          <a:ln/>
        </p:spPr>
        <p:txBody>
          <a:bodyPr wrap="square" lIns="0" tIns="0" rIns="0" bIns="0" rtlCol="0" anchor="t"/>
          <a:lstStyle/>
          <a:p>
            <a:pPr marL="0" indent="0">
              <a:buNone/>
            </a:pPr>
            <a:r>
              <a:rPr lang="en-US" sz="1300" b="1" kern="0" spc="300" dirty="0">
                <a:solidFill>
                  <a:srgbClr val="8FA0B3"/>
                </a:solidFill>
                <a:latin typeface="Calibri" pitchFamily="34" charset="0"/>
                <a:ea typeface="Calibri" pitchFamily="34" charset="-122"/>
                <a:cs typeface="Calibri" pitchFamily="34" charset="-120"/>
              </a:rPr>
              <a:t>CRM TEAM REPORTING</a:t>
            </a:r>
          </a:p>
          <a:p>
            <a:pPr marL="0" indent="0">
              <a:buNone/>
            </a:pPr>
            <a:endParaRPr lang="en-US" sz="1300" dirty="0"/>
          </a:p>
        </p:txBody>
      </p:sp>
      <p:sp>
        <p:nvSpPr>
          <p:cNvPr id="3" name="Text 1"/>
          <p:cNvSpPr txBox="1"/>
          <p:nvPr/>
        </p:nvSpPr>
        <p:spPr>
          <a:xfrm>
            <a:off x="548640" y="1234440"/>
            <a:ext cx="9601200" cy="173736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Which customers need a different CRM approach?</a:t>
            </a:r>
            <a:endParaRPr lang="en-US" sz="4200" dirty="0"/>
          </a:p>
        </p:txBody>
      </p:sp>
      <p:sp>
        <p:nvSpPr>
          <p:cNvPr id="4" name="Text 2"/>
          <p:cNvSpPr txBox="1"/>
          <p:nvPr/>
        </p:nvSpPr>
        <p:spPr>
          <a:xfrm>
            <a:off x="548640" y="3017520"/>
            <a:ext cx="8686800" cy="731520"/>
          </a:xfrm>
          <a:prstGeom prst="rect">
            <a:avLst/>
          </a:prstGeom>
          <a:noFill/>
          <a:ln/>
        </p:spPr>
        <p:txBody>
          <a:bodyPr wrap="square" lIns="0" tIns="0" rIns="0" bIns="0" rtlCol="0" anchor="t"/>
          <a:lstStyle/>
          <a:p>
            <a:pPr marL="0" indent="0">
              <a:buNone/>
            </a:pPr>
            <a:r>
              <a:rPr lang="en-US" sz="1900" dirty="0">
                <a:solidFill>
                  <a:srgbClr val="C9D3DE"/>
                </a:solidFill>
                <a:latin typeface="Calibri" pitchFamily="34" charset="0"/>
                <a:ea typeface="Calibri" pitchFamily="34" charset="-122"/>
                <a:cs typeface="Calibri" pitchFamily="34" charset="-120"/>
              </a:rPr>
              <a:t>What two years of sales tell us about our customers, and what to do about each group</a:t>
            </a:r>
            <a:endParaRPr lang="en-US" sz="1900" dirty="0"/>
          </a:p>
        </p:txBody>
      </p:sp>
      <p:sp>
        <p:nvSpPr>
          <p:cNvPr id="5" name="Shape 3"/>
          <p:cNvSpPr/>
          <p:nvPr/>
        </p:nvSpPr>
        <p:spPr>
          <a:xfrm>
            <a:off x="548640" y="4343400"/>
            <a:ext cx="685800" cy="685800"/>
          </a:xfrm>
          <a:prstGeom prst="ellipse">
            <a:avLst/>
          </a:prstGeom>
          <a:solidFill>
            <a:srgbClr val="1F7A5C"/>
          </a:solidFill>
          <a:ln w="12700">
            <a:solidFill>
              <a:srgbClr val="1F7A5C"/>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720090" y="4514850"/>
            <a:ext cx="342900" cy="342900"/>
          </a:xfrm>
          <a:prstGeom prst="rect">
            <a:avLst/>
          </a:prstGeom>
        </p:spPr>
      </p:pic>
      <p:sp>
        <p:nvSpPr>
          <p:cNvPr id="7" name="Text 4"/>
          <p:cNvSpPr txBox="1"/>
          <p:nvPr/>
        </p:nvSpPr>
        <p:spPr>
          <a:xfrm>
            <a:off x="502920" y="5120640"/>
            <a:ext cx="201168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Top Customers</a:t>
            </a:r>
            <a:endParaRPr lang="en-US" sz="1300" dirty="0"/>
          </a:p>
        </p:txBody>
      </p:sp>
      <p:sp>
        <p:nvSpPr>
          <p:cNvPr id="8" name="Shape 5"/>
          <p:cNvSpPr/>
          <p:nvPr/>
        </p:nvSpPr>
        <p:spPr>
          <a:xfrm>
            <a:off x="2697480" y="4343400"/>
            <a:ext cx="685800" cy="685800"/>
          </a:xfrm>
          <a:prstGeom prst="ellipse">
            <a:avLst/>
          </a:prstGeom>
          <a:solidFill>
            <a:srgbClr val="2E6FB0"/>
          </a:solidFill>
          <a:ln w="12700">
            <a:solidFill>
              <a:srgbClr val="2E6FB0"/>
            </a:solidFill>
            <a:prstDash val="solid"/>
          </a:ln>
        </p:spPr>
        <p:txBody>
          <a:bodyPr/>
          <a:lstStyle/>
          <a:p>
            <a:endParaRPr lang="en-CA"/>
          </a:p>
        </p:txBody>
      </p:sp>
      <p:pic>
        <p:nvPicPr>
          <p:cNvPr id="9" name="Image 1" descr="preencoded.png"/>
          <p:cNvPicPr>
            <a:picLocks noChangeAspect="1"/>
          </p:cNvPicPr>
          <p:nvPr/>
        </p:nvPicPr>
        <p:blipFill>
          <a:blip r:embed="rId4"/>
          <a:stretch>
            <a:fillRect/>
          </a:stretch>
        </p:blipFill>
        <p:spPr>
          <a:xfrm>
            <a:off x="2868930" y="4514850"/>
            <a:ext cx="342900" cy="342900"/>
          </a:xfrm>
          <a:prstGeom prst="rect">
            <a:avLst/>
          </a:prstGeom>
        </p:spPr>
      </p:pic>
      <p:sp>
        <p:nvSpPr>
          <p:cNvPr id="10" name="Text 6"/>
          <p:cNvSpPr txBox="1"/>
          <p:nvPr/>
        </p:nvSpPr>
        <p:spPr>
          <a:xfrm>
            <a:off x="2651760" y="5120640"/>
            <a:ext cx="201168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Steady Regulars</a:t>
            </a:r>
            <a:endParaRPr lang="en-US" sz="1300" dirty="0"/>
          </a:p>
        </p:txBody>
      </p:sp>
      <p:sp>
        <p:nvSpPr>
          <p:cNvPr id="11" name="Shape 7"/>
          <p:cNvSpPr/>
          <p:nvPr/>
        </p:nvSpPr>
        <p:spPr>
          <a:xfrm>
            <a:off x="4846320" y="4343400"/>
            <a:ext cx="685800" cy="685800"/>
          </a:xfrm>
          <a:prstGeom prst="ellipse">
            <a:avLst/>
          </a:prstGeom>
          <a:solidFill>
            <a:srgbClr val="C9820E"/>
          </a:solidFill>
          <a:ln w="12700">
            <a:solidFill>
              <a:srgbClr val="C9820E"/>
            </a:solidFill>
            <a:prstDash val="solid"/>
          </a:ln>
        </p:spPr>
        <p:txBody>
          <a:bodyPr/>
          <a:lstStyle/>
          <a:p>
            <a:endParaRPr lang="en-CA"/>
          </a:p>
        </p:txBody>
      </p:sp>
      <p:pic>
        <p:nvPicPr>
          <p:cNvPr id="12" name="Image 2" descr="preencoded.png"/>
          <p:cNvPicPr>
            <a:picLocks noChangeAspect="1"/>
          </p:cNvPicPr>
          <p:nvPr/>
        </p:nvPicPr>
        <p:blipFill>
          <a:blip r:embed="rId5"/>
          <a:stretch>
            <a:fillRect/>
          </a:stretch>
        </p:blipFill>
        <p:spPr>
          <a:xfrm>
            <a:off x="5017770" y="4514850"/>
            <a:ext cx="342900" cy="342900"/>
          </a:xfrm>
          <a:prstGeom prst="rect">
            <a:avLst/>
          </a:prstGeom>
        </p:spPr>
      </p:pic>
      <p:sp>
        <p:nvSpPr>
          <p:cNvPr id="13" name="Text 8"/>
          <p:cNvSpPr txBox="1"/>
          <p:nvPr/>
        </p:nvSpPr>
        <p:spPr>
          <a:xfrm>
            <a:off x="4800600" y="5120640"/>
            <a:ext cx="201168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New Starters</a:t>
            </a:r>
            <a:endParaRPr lang="en-US" sz="1300" dirty="0"/>
          </a:p>
        </p:txBody>
      </p:sp>
      <p:sp>
        <p:nvSpPr>
          <p:cNvPr id="14" name="Shape 9"/>
          <p:cNvSpPr/>
          <p:nvPr/>
        </p:nvSpPr>
        <p:spPr>
          <a:xfrm>
            <a:off x="6995160" y="4343400"/>
            <a:ext cx="685800" cy="685800"/>
          </a:xfrm>
          <a:prstGeom prst="ellipse">
            <a:avLst/>
          </a:prstGeom>
          <a:solidFill>
            <a:srgbClr val="C0404A"/>
          </a:solidFill>
          <a:ln w="12700">
            <a:solidFill>
              <a:srgbClr val="C0404A"/>
            </a:solidFill>
            <a:prstDash val="solid"/>
          </a:ln>
        </p:spPr>
        <p:txBody>
          <a:bodyPr/>
          <a:lstStyle/>
          <a:p>
            <a:endParaRPr lang="en-CA"/>
          </a:p>
        </p:txBody>
      </p:sp>
      <p:pic>
        <p:nvPicPr>
          <p:cNvPr id="15" name="Image 3" descr="preencoded.png"/>
          <p:cNvPicPr>
            <a:picLocks noChangeAspect="1"/>
          </p:cNvPicPr>
          <p:nvPr/>
        </p:nvPicPr>
        <p:blipFill>
          <a:blip r:embed="rId6"/>
          <a:stretch>
            <a:fillRect/>
          </a:stretch>
        </p:blipFill>
        <p:spPr>
          <a:xfrm>
            <a:off x="7166610" y="4514850"/>
            <a:ext cx="342900" cy="342900"/>
          </a:xfrm>
          <a:prstGeom prst="rect">
            <a:avLst/>
          </a:prstGeom>
        </p:spPr>
      </p:pic>
      <p:sp>
        <p:nvSpPr>
          <p:cNvPr id="16" name="Text 10"/>
          <p:cNvSpPr txBox="1"/>
          <p:nvPr/>
        </p:nvSpPr>
        <p:spPr>
          <a:xfrm>
            <a:off x="6949440" y="5120640"/>
            <a:ext cx="201168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Fading Big Spenders</a:t>
            </a:r>
            <a:endParaRPr lang="en-US" sz="1300" dirty="0"/>
          </a:p>
        </p:txBody>
      </p:sp>
      <p:sp>
        <p:nvSpPr>
          <p:cNvPr id="17" name="Shape 11"/>
          <p:cNvSpPr/>
          <p:nvPr/>
        </p:nvSpPr>
        <p:spPr>
          <a:xfrm>
            <a:off x="9144000" y="4343400"/>
            <a:ext cx="685800" cy="685800"/>
          </a:xfrm>
          <a:prstGeom prst="ellipse">
            <a:avLst/>
          </a:prstGeom>
          <a:solidFill>
            <a:srgbClr val="7F8691"/>
          </a:solidFill>
          <a:ln w="12700">
            <a:solidFill>
              <a:srgbClr val="7F8691"/>
            </a:solidFill>
            <a:prstDash val="solid"/>
          </a:ln>
        </p:spPr>
        <p:txBody>
          <a:bodyPr/>
          <a:lstStyle/>
          <a:p>
            <a:endParaRPr lang="en-CA"/>
          </a:p>
        </p:txBody>
      </p:sp>
      <p:pic>
        <p:nvPicPr>
          <p:cNvPr id="18" name="Image 4" descr="preencoded.png"/>
          <p:cNvPicPr>
            <a:picLocks noChangeAspect="1"/>
          </p:cNvPicPr>
          <p:nvPr/>
        </p:nvPicPr>
        <p:blipFill>
          <a:blip r:embed="rId7"/>
          <a:stretch>
            <a:fillRect/>
          </a:stretch>
        </p:blipFill>
        <p:spPr>
          <a:xfrm>
            <a:off x="9315450" y="4514850"/>
            <a:ext cx="342900" cy="342900"/>
          </a:xfrm>
          <a:prstGeom prst="rect">
            <a:avLst/>
          </a:prstGeom>
        </p:spPr>
      </p:pic>
      <p:sp>
        <p:nvSpPr>
          <p:cNvPr id="19" name="Text 12"/>
          <p:cNvSpPr txBox="1"/>
          <p:nvPr/>
        </p:nvSpPr>
        <p:spPr>
          <a:xfrm>
            <a:off x="9098280" y="5120640"/>
            <a:ext cx="201168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Gone Quiet</a:t>
            </a:r>
            <a:endParaRPr lang="en-US" sz="1300" dirty="0"/>
          </a:p>
        </p:txBody>
      </p:sp>
      <p:sp>
        <p:nvSpPr>
          <p:cNvPr id="20" name="Text 13"/>
          <p:cNvSpPr txBox="1"/>
          <p:nvPr/>
        </p:nvSpPr>
        <p:spPr>
          <a:xfrm>
            <a:off x="548640" y="6035040"/>
            <a:ext cx="9144000" cy="274320"/>
          </a:xfrm>
          <a:prstGeom prst="rect">
            <a:avLst/>
          </a:prstGeom>
          <a:noFill/>
          <a:ln/>
        </p:spPr>
        <p:txBody>
          <a:bodyPr wrap="square" lIns="0" tIns="0" rIns="0" bIns="0" rtlCol="0" anchor="t"/>
          <a:lstStyle/>
          <a:p>
            <a:pPr marL="0" indent="0">
              <a:buNone/>
            </a:pPr>
            <a:r>
              <a:rPr lang="en-US" sz="1100" dirty="0">
                <a:solidFill>
                  <a:srgbClr val="8FA0B3"/>
                </a:solidFill>
                <a:latin typeface="Calibri" pitchFamily="34" charset="0"/>
                <a:ea typeface="Calibri" pitchFamily="34" charset="-122"/>
                <a:cs typeface="Calibri" pitchFamily="34" charset="-120"/>
              </a:rPr>
              <a:t>Based on sales data from Dec 2009 to Dec 2011</a:t>
            </a:r>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B3"/>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B3A"/>
        </a:solidFill>
        <a:effectLst/>
      </p:bgPr>
    </p:bg>
    <p:spTree>
      <p:nvGrpSpPr>
        <p:cNvPr id="1" name="">
          <a:extLst>
            <a:ext uri="{FF2B5EF4-FFF2-40B4-BE49-F238E27FC236}">
              <a16:creationId xmlns:a16="http://schemas.microsoft.com/office/drawing/2014/main" id="{9BB706B4-9457-ED70-3EC5-8D5F96E6B6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38425FF-D2FE-AEC5-5FA7-DBFC4F54AB7A}"/>
              </a:ext>
            </a:extLst>
          </p:cNvPr>
          <p:cNvSpPr txBox="1"/>
          <p:nvPr/>
        </p:nvSpPr>
        <p:spPr>
          <a:xfrm>
            <a:off x="548640" y="822960"/>
            <a:ext cx="7315200" cy="320040"/>
          </a:xfrm>
          <a:prstGeom prst="rect">
            <a:avLst/>
          </a:prstGeom>
          <a:noFill/>
          <a:ln/>
        </p:spPr>
        <p:txBody>
          <a:bodyPr wrap="square" lIns="0" tIns="0" rIns="0" bIns="0" rtlCol="0" anchor="t"/>
          <a:lstStyle/>
          <a:p>
            <a:pPr marL="0" indent="0">
              <a:buNone/>
            </a:pPr>
            <a:endParaRPr lang="en-US" sz="1300" b="1" kern="0" spc="300" dirty="0">
              <a:solidFill>
                <a:srgbClr val="8FA0B3"/>
              </a:solidFill>
              <a:latin typeface="Calibri" pitchFamily="34" charset="0"/>
              <a:ea typeface="Calibri" pitchFamily="34" charset="-122"/>
              <a:cs typeface="Calibri" pitchFamily="34" charset="-120"/>
            </a:endParaRPr>
          </a:p>
          <a:p>
            <a:pPr marL="0" indent="0">
              <a:buNone/>
            </a:pPr>
            <a:endParaRPr lang="en-US" sz="1300" dirty="0"/>
          </a:p>
        </p:txBody>
      </p:sp>
      <p:sp>
        <p:nvSpPr>
          <p:cNvPr id="3" name="Text 1">
            <a:extLst>
              <a:ext uri="{FF2B5EF4-FFF2-40B4-BE49-F238E27FC236}">
                <a16:creationId xmlns:a16="http://schemas.microsoft.com/office/drawing/2014/main" id="{338FD999-2744-1044-2834-9F1B027AC818}"/>
              </a:ext>
            </a:extLst>
          </p:cNvPr>
          <p:cNvSpPr txBox="1"/>
          <p:nvPr/>
        </p:nvSpPr>
        <p:spPr>
          <a:xfrm>
            <a:off x="548640" y="1234440"/>
            <a:ext cx="9601200" cy="173736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CRM Customer Segmentation</a:t>
            </a:r>
          </a:p>
          <a:p>
            <a:r>
              <a:rPr lang="en-US" sz="2400" b="1" dirty="0">
                <a:solidFill>
                  <a:srgbClr val="FFFFFF"/>
                </a:solidFill>
                <a:latin typeface="Cambria" pitchFamily="34" charset="0"/>
                <a:ea typeface="Cambria" pitchFamily="34" charset="-122"/>
                <a:cs typeface="Cambria" pitchFamily="34" charset="-120"/>
              </a:rPr>
              <a:t>approach based on customer data with holiday and non-holiday </a:t>
            </a:r>
            <a:r>
              <a:rPr lang="en-US" sz="2400" b="1" dirty="0" err="1">
                <a:solidFill>
                  <a:srgbClr val="FFFFFF"/>
                </a:solidFill>
                <a:latin typeface="Cambria" pitchFamily="34" charset="0"/>
                <a:ea typeface="Cambria" pitchFamily="34" charset="-122"/>
                <a:cs typeface="Cambria" pitchFamily="34" charset="-120"/>
              </a:rPr>
              <a:t>seasonalities</a:t>
            </a:r>
            <a:endParaRPr lang="en-US" sz="2400" b="1" dirty="0">
              <a:solidFill>
                <a:srgbClr val="FFFFFF"/>
              </a:solidFill>
              <a:latin typeface="Cambria" pitchFamily="34" charset="0"/>
              <a:ea typeface="Cambria" pitchFamily="34" charset="-122"/>
              <a:cs typeface="Cambria" pitchFamily="34" charset="-120"/>
            </a:endParaRPr>
          </a:p>
          <a:p>
            <a:pPr marL="0" indent="0">
              <a:buNone/>
            </a:pPr>
            <a:endParaRPr lang="en-US" sz="4000" dirty="0"/>
          </a:p>
        </p:txBody>
      </p:sp>
      <p:sp>
        <p:nvSpPr>
          <p:cNvPr id="4" name="Text 2">
            <a:extLst>
              <a:ext uri="{FF2B5EF4-FFF2-40B4-BE49-F238E27FC236}">
                <a16:creationId xmlns:a16="http://schemas.microsoft.com/office/drawing/2014/main" id="{A38C203E-CB6C-8BF6-8FD0-DA64F608F94C}"/>
              </a:ext>
            </a:extLst>
          </p:cNvPr>
          <p:cNvSpPr txBox="1"/>
          <p:nvPr/>
        </p:nvSpPr>
        <p:spPr>
          <a:xfrm>
            <a:off x="548640" y="3017520"/>
            <a:ext cx="8686800" cy="731520"/>
          </a:xfrm>
          <a:prstGeom prst="rect">
            <a:avLst/>
          </a:prstGeom>
          <a:noFill/>
          <a:ln/>
        </p:spPr>
        <p:txBody>
          <a:bodyPr wrap="square" lIns="0" tIns="0" rIns="0" bIns="0" rtlCol="0" anchor="t"/>
          <a:lstStyle/>
          <a:p>
            <a:pPr marL="0" indent="0">
              <a:buNone/>
            </a:pPr>
            <a:r>
              <a:rPr lang="en-US" sz="1900" dirty="0">
                <a:solidFill>
                  <a:srgbClr val="C9D3DE"/>
                </a:solidFill>
                <a:latin typeface="Calibri" pitchFamily="34" charset="0"/>
                <a:ea typeface="Calibri" pitchFamily="34" charset="-122"/>
                <a:cs typeface="Calibri" pitchFamily="34" charset="-120"/>
              </a:rPr>
              <a:t>What two years of sales tell us about our 5,253 customers, and what to do about each group</a:t>
            </a:r>
            <a:endParaRPr lang="en-US" sz="1900" dirty="0"/>
          </a:p>
        </p:txBody>
      </p:sp>
      <p:sp>
        <p:nvSpPr>
          <p:cNvPr id="5" name="Shape 3">
            <a:extLst>
              <a:ext uri="{FF2B5EF4-FFF2-40B4-BE49-F238E27FC236}">
                <a16:creationId xmlns:a16="http://schemas.microsoft.com/office/drawing/2014/main" id="{4AE0AC31-3E7D-1BA6-09CE-09F25A653A8B}"/>
              </a:ext>
            </a:extLst>
          </p:cNvPr>
          <p:cNvSpPr/>
          <p:nvPr/>
        </p:nvSpPr>
        <p:spPr>
          <a:xfrm>
            <a:off x="548640" y="4343400"/>
            <a:ext cx="685800" cy="685800"/>
          </a:xfrm>
          <a:prstGeom prst="ellipse">
            <a:avLst/>
          </a:prstGeom>
          <a:solidFill>
            <a:srgbClr val="1F7A5C"/>
          </a:solidFill>
          <a:ln w="12700">
            <a:solidFill>
              <a:srgbClr val="1F7A5C"/>
            </a:solidFill>
            <a:prstDash val="solid"/>
          </a:ln>
        </p:spPr>
        <p:txBody>
          <a:bodyPr/>
          <a:lstStyle/>
          <a:p>
            <a:endParaRPr lang="en-CA"/>
          </a:p>
        </p:txBody>
      </p:sp>
      <p:pic>
        <p:nvPicPr>
          <p:cNvPr id="6" name="Image 0" descr="preencoded.png">
            <a:extLst>
              <a:ext uri="{FF2B5EF4-FFF2-40B4-BE49-F238E27FC236}">
                <a16:creationId xmlns:a16="http://schemas.microsoft.com/office/drawing/2014/main" id="{A9F0999D-8D16-384B-F7CE-F4FB7387C5C6}"/>
              </a:ext>
            </a:extLst>
          </p:cNvPr>
          <p:cNvPicPr>
            <a:picLocks noChangeAspect="1"/>
          </p:cNvPicPr>
          <p:nvPr/>
        </p:nvPicPr>
        <p:blipFill>
          <a:blip r:embed="rId3"/>
          <a:stretch>
            <a:fillRect/>
          </a:stretch>
        </p:blipFill>
        <p:spPr>
          <a:xfrm>
            <a:off x="720090" y="4514850"/>
            <a:ext cx="342900" cy="342900"/>
          </a:xfrm>
          <a:prstGeom prst="rect">
            <a:avLst/>
          </a:prstGeom>
        </p:spPr>
      </p:pic>
      <p:sp>
        <p:nvSpPr>
          <p:cNvPr id="7" name="Text 4">
            <a:extLst>
              <a:ext uri="{FF2B5EF4-FFF2-40B4-BE49-F238E27FC236}">
                <a16:creationId xmlns:a16="http://schemas.microsoft.com/office/drawing/2014/main" id="{705067C9-B566-4168-D10D-1B1FE01A26C8}"/>
              </a:ext>
            </a:extLst>
          </p:cNvPr>
          <p:cNvSpPr txBox="1"/>
          <p:nvPr/>
        </p:nvSpPr>
        <p:spPr>
          <a:xfrm>
            <a:off x="502920" y="5120640"/>
            <a:ext cx="201168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Top Customers</a:t>
            </a:r>
            <a:endParaRPr lang="en-US" sz="1300" dirty="0"/>
          </a:p>
        </p:txBody>
      </p:sp>
      <p:sp>
        <p:nvSpPr>
          <p:cNvPr id="8" name="Shape 5">
            <a:extLst>
              <a:ext uri="{FF2B5EF4-FFF2-40B4-BE49-F238E27FC236}">
                <a16:creationId xmlns:a16="http://schemas.microsoft.com/office/drawing/2014/main" id="{0436CC62-1CCA-68A5-CD62-AC8EF8024A5C}"/>
              </a:ext>
            </a:extLst>
          </p:cNvPr>
          <p:cNvSpPr/>
          <p:nvPr/>
        </p:nvSpPr>
        <p:spPr>
          <a:xfrm>
            <a:off x="2697480" y="4343400"/>
            <a:ext cx="685800" cy="685800"/>
          </a:xfrm>
          <a:prstGeom prst="ellipse">
            <a:avLst/>
          </a:prstGeom>
          <a:solidFill>
            <a:srgbClr val="2E6FB0"/>
          </a:solidFill>
          <a:ln w="12700">
            <a:solidFill>
              <a:srgbClr val="2E6FB0"/>
            </a:solidFill>
            <a:prstDash val="solid"/>
          </a:ln>
        </p:spPr>
        <p:txBody>
          <a:bodyPr/>
          <a:lstStyle/>
          <a:p>
            <a:endParaRPr lang="en-CA"/>
          </a:p>
        </p:txBody>
      </p:sp>
      <p:pic>
        <p:nvPicPr>
          <p:cNvPr id="9" name="Image 1" descr="preencoded.png">
            <a:extLst>
              <a:ext uri="{FF2B5EF4-FFF2-40B4-BE49-F238E27FC236}">
                <a16:creationId xmlns:a16="http://schemas.microsoft.com/office/drawing/2014/main" id="{26852FFA-848B-A90A-1643-03143CBB6F88}"/>
              </a:ext>
            </a:extLst>
          </p:cNvPr>
          <p:cNvPicPr>
            <a:picLocks noChangeAspect="1"/>
          </p:cNvPicPr>
          <p:nvPr/>
        </p:nvPicPr>
        <p:blipFill>
          <a:blip r:embed="rId4"/>
          <a:stretch>
            <a:fillRect/>
          </a:stretch>
        </p:blipFill>
        <p:spPr>
          <a:xfrm>
            <a:off x="2868930" y="4514850"/>
            <a:ext cx="342900" cy="342900"/>
          </a:xfrm>
          <a:prstGeom prst="rect">
            <a:avLst/>
          </a:prstGeom>
        </p:spPr>
      </p:pic>
      <p:sp>
        <p:nvSpPr>
          <p:cNvPr id="10" name="Text 6">
            <a:extLst>
              <a:ext uri="{FF2B5EF4-FFF2-40B4-BE49-F238E27FC236}">
                <a16:creationId xmlns:a16="http://schemas.microsoft.com/office/drawing/2014/main" id="{0C3EC4B2-5BB8-4DF6-AE1B-AFFBE7D370FA}"/>
              </a:ext>
            </a:extLst>
          </p:cNvPr>
          <p:cNvSpPr txBox="1"/>
          <p:nvPr/>
        </p:nvSpPr>
        <p:spPr>
          <a:xfrm>
            <a:off x="2651760" y="5120640"/>
            <a:ext cx="201168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Steady Regulars</a:t>
            </a:r>
            <a:endParaRPr lang="en-US" sz="1300" dirty="0"/>
          </a:p>
        </p:txBody>
      </p:sp>
      <p:sp>
        <p:nvSpPr>
          <p:cNvPr id="11" name="Shape 7">
            <a:extLst>
              <a:ext uri="{FF2B5EF4-FFF2-40B4-BE49-F238E27FC236}">
                <a16:creationId xmlns:a16="http://schemas.microsoft.com/office/drawing/2014/main" id="{20104F54-3122-FFCE-1C24-8D1512476197}"/>
              </a:ext>
            </a:extLst>
          </p:cNvPr>
          <p:cNvSpPr/>
          <p:nvPr/>
        </p:nvSpPr>
        <p:spPr>
          <a:xfrm>
            <a:off x="4846320" y="4343400"/>
            <a:ext cx="685800" cy="685800"/>
          </a:xfrm>
          <a:prstGeom prst="ellipse">
            <a:avLst/>
          </a:prstGeom>
          <a:solidFill>
            <a:srgbClr val="C9820E"/>
          </a:solidFill>
          <a:ln w="12700">
            <a:solidFill>
              <a:srgbClr val="C9820E"/>
            </a:solidFill>
            <a:prstDash val="solid"/>
          </a:ln>
        </p:spPr>
        <p:txBody>
          <a:bodyPr/>
          <a:lstStyle/>
          <a:p>
            <a:endParaRPr lang="en-CA"/>
          </a:p>
        </p:txBody>
      </p:sp>
      <p:pic>
        <p:nvPicPr>
          <p:cNvPr id="12" name="Image 2" descr="preencoded.png">
            <a:extLst>
              <a:ext uri="{FF2B5EF4-FFF2-40B4-BE49-F238E27FC236}">
                <a16:creationId xmlns:a16="http://schemas.microsoft.com/office/drawing/2014/main" id="{1259DC84-5BC6-8CCB-F267-34977D6EE793}"/>
              </a:ext>
            </a:extLst>
          </p:cNvPr>
          <p:cNvPicPr>
            <a:picLocks noChangeAspect="1"/>
          </p:cNvPicPr>
          <p:nvPr/>
        </p:nvPicPr>
        <p:blipFill>
          <a:blip r:embed="rId5"/>
          <a:stretch>
            <a:fillRect/>
          </a:stretch>
        </p:blipFill>
        <p:spPr>
          <a:xfrm>
            <a:off x="5017770" y="4514850"/>
            <a:ext cx="342900" cy="342900"/>
          </a:xfrm>
          <a:prstGeom prst="rect">
            <a:avLst/>
          </a:prstGeom>
        </p:spPr>
      </p:pic>
      <p:sp>
        <p:nvSpPr>
          <p:cNvPr id="13" name="Text 8">
            <a:extLst>
              <a:ext uri="{FF2B5EF4-FFF2-40B4-BE49-F238E27FC236}">
                <a16:creationId xmlns:a16="http://schemas.microsoft.com/office/drawing/2014/main" id="{795790C3-E781-3A95-AB22-BE7EB2E49803}"/>
              </a:ext>
            </a:extLst>
          </p:cNvPr>
          <p:cNvSpPr txBox="1"/>
          <p:nvPr/>
        </p:nvSpPr>
        <p:spPr>
          <a:xfrm>
            <a:off x="4800600" y="5120640"/>
            <a:ext cx="201168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New Starters</a:t>
            </a:r>
            <a:endParaRPr lang="en-US" sz="1300" dirty="0"/>
          </a:p>
        </p:txBody>
      </p:sp>
      <p:sp>
        <p:nvSpPr>
          <p:cNvPr id="14" name="Shape 9">
            <a:extLst>
              <a:ext uri="{FF2B5EF4-FFF2-40B4-BE49-F238E27FC236}">
                <a16:creationId xmlns:a16="http://schemas.microsoft.com/office/drawing/2014/main" id="{88D47D8D-6C36-0376-DB4B-5389E135B8DE}"/>
              </a:ext>
            </a:extLst>
          </p:cNvPr>
          <p:cNvSpPr/>
          <p:nvPr/>
        </p:nvSpPr>
        <p:spPr>
          <a:xfrm>
            <a:off x="6995160" y="4343400"/>
            <a:ext cx="685800" cy="685800"/>
          </a:xfrm>
          <a:prstGeom prst="ellipse">
            <a:avLst/>
          </a:prstGeom>
          <a:solidFill>
            <a:srgbClr val="C0404A"/>
          </a:solidFill>
          <a:ln w="12700">
            <a:solidFill>
              <a:srgbClr val="C0404A"/>
            </a:solidFill>
            <a:prstDash val="solid"/>
          </a:ln>
        </p:spPr>
        <p:txBody>
          <a:bodyPr/>
          <a:lstStyle/>
          <a:p>
            <a:endParaRPr lang="en-CA"/>
          </a:p>
        </p:txBody>
      </p:sp>
      <p:pic>
        <p:nvPicPr>
          <p:cNvPr id="15" name="Image 3" descr="preencoded.png">
            <a:extLst>
              <a:ext uri="{FF2B5EF4-FFF2-40B4-BE49-F238E27FC236}">
                <a16:creationId xmlns:a16="http://schemas.microsoft.com/office/drawing/2014/main" id="{FFC1CD04-F09A-E8D5-A35C-A57C7A5E6BE1}"/>
              </a:ext>
            </a:extLst>
          </p:cNvPr>
          <p:cNvPicPr>
            <a:picLocks noChangeAspect="1"/>
          </p:cNvPicPr>
          <p:nvPr/>
        </p:nvPicPr>
        <p:blipFill>
          <a:blip r:embed="rId6"/>
          <a:stretch>
            <a:fillRect/>
          </a:stretch>
        </p:blipFill>
        <p:spPr>
          <a:xfrm>
            <a:off x="7166610" y="4514850"/>
            <a:ext cx="342900" cy="342900"/>
          </a:xfrm>
          <a:prstGeom prst="rect">
            <a:avLst/>
          </a:prstGeom>
        </p:spPr>
      </p:pic>
      <p:sp>
        <p:nvSpPr>
          <p:cNvPr id="16" name="Text 10">
            <a:extLst>
              <a:ext uri="{FF2B5EF4-FFF2-40B4-BE49-F238E27FC236}">
                <a16:creationId xmlns:a16="http://schemas.microsoft.com/office/drawing/2014/main" id="{97A87E04-F6BC-3736-7564-1EDA6DF2B3A3}"/>
              </a:ext>
            </a:extLst>
          </p:cNvPr>
          <p:cNvSpPr txBox="1"/>
          <p:nvPr/>
        </p:nvSpPr>
        <p:spPr>
          <a:xfrm>
            <a:off x="6949440" y="5120640"/>
            <a:ext cx="201168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Fading Big Spenders</a:t>
            </a:r>
            <a:endParaRPr lang="en-US" sz="1300" dirty="0"/>
          </a:p>
        </p:txBody>
      </p:sp>
      <p:sp>
        <p:nvSpPr>
          <p:cNvPr id="17" name="Shape 11">
            <a:extLst>
              <a:ext uri="{FF2B5EF4-FFF2-40B4-BE49-F238E27FC236}">
                <a16:creationId xmlns:a16="http://schemas.microsoft.com/office/drawing/2014/main" id="{58DE601F-30E1-4E39-1468-9C4FC029C637}"/>
              </a:ext>
            </a:extLst>
          </p:cNvPr>
          <p:cNvSpPr/>
          <p:nvPr/>
        </p:nvSpPr>
        <p:spPr>
          <a:xfrm>
            <a:off x="9144000" y="4343400"/>
            <a:ext cx="685800" cy="685800"/>
          </a:xfrm>
          <a:prstGeom prst="ellipse">
            <a:avLst/>
          </a:prstGeom>
          <a:solidFill>
            <a:srgbClr val="7F8691"/>
          </a:solidFill>
          <a:ln w="12700">
            <a:solidFill>
              <a:srgbClr val="7F8691"/>
            </a:solidFill>
            <a:prstDash val="solid"/>
          </a:ln>
        </p:spPr>
        <p:txBody>
          <a:bodyPr/>
          <a:lstStyle/>
          <a:p>
            <a:endParaRPr lang="en-CA"/>
          </a:p>
        </p:txBody>
      </p:sp>
      <p:pic>
        <p:nvPicPr>
          <p:cNvPr id="18" name="Image 4" descr="preencoded.png">
            <a:extLst>
              <a:ext uri="{FF2B5EF4-FFF2-40B4-BE49-F238E27FC236}">
                <a16:creationId xmlns:a16="http://schemas.microsoft.com/office/drawing/2014/main" id="{C054C376-23EB-1619-48B3-7559CC304954}"/>
              </a:ext>
            </a:extLst>
          </p:cNvPr>
          <p:cNvPicPr>
            <a:picLocks noChangeAspect="1"/>
          </p:cNvPicPr>
          <p:nvPr/>
        </p:nvPicPr>
        <p:blipFill>
          <a:blip r:embed="rId7"/>
          <a:stretch>
            <a:fillRect/>
          </a:stretch>
        </p:blipFill>
        <p:spPr>
          <a:xfrm>
            <a:off x="9315450" y="4514850"/>
            <a:ext cx="342900" cy="342900"/>
          </a:xfrm>
          <a:prstGeom prst="rect">
            <a:avLst/>
          </a:prstGeom>
        </p:spPr>
      </p:pic>
      <p:sp>
        <p:nvSpPr>
          <p:cNvPr id="19" name="Text 12">
            <a:extLst>
              <a:ext uri="{FF2B5EF4-FFF2-40B4-BE49-F238E27FC236}">
                <a16:creationId xmlns:a16="http://schemas.microsoft.com/office/drawing/2014/main" id="{67DAB6B1-58B5-9BB2-2227-EE0956C8362A}"/>
              </a:ext>
            </a:extLst>
          </p:cNvPr>
          <p:cNvSpPr txBox="1"/>
          <p:nvPr/>
        </p:nvSpPr>
        <p:spPr>
          <a:xfrm>
            <a:off x="9098280" y="5120640"/>
            <a:ext cx="201168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Gone Quiet</a:t>
            </a:r>
            <a:endParaRPr lang="en-US" sz="1300" dirty="0"/>
          </a:p>
        </p:txBody>
      </p:sp>
      <p:sp>
        <p:nvSpPr>
          <p:cNvPr id="20" name="Text 13">
            <a:extLst>
              <a:ext uri="{FF2B5EF4-FFF2-40B4-BE49-F238E27FC236}">
                <a16:creationId xmlns:a16="http://schemas.microsoft.com/office/drawing/2014/main" id="{667CF274-1166-7492-95BE-80E300064CC9}"/>
              </a:ext>
            </a:extLst>
          </p:cNvPr>
          <p:cNvSpPr txBox="1"/>
          <p:nvPr/>
        </p:nvSpPr>
        <p:spPr>
          <a:xfrm>
            <a:off x="548640" y="6035040"/>
            <a:ext cx="9144000" cy="274320"/>
          </a:xfrm>
          <a:prstGeom prst="rect">
            <a:avLst/>
          </a:prstGeom>
          <a:noFill/>
          <a:ln/>
        </p:spPr>
        <p:txBody>
          <a:bodyPr wrap="square" lIns="0" tIns="0" rIns="0" bIns="0" rtlCol="0" anchor="t"/>
          <a:lstStyle/>
          <a:p>
            <a:pPr marL="0" indent="0">
              <a:buNone/>
            </a:pPr>
            <a:r>
              <a:rPr lang="en-US" sz="1100" dirty="0">
                <a:solidFill>
                  <a:srgbClr val="8FA0B3"/>
                </a:solidFill>
                <a:latin typeface="Calibri" pitchFamily="34" charset="0"/>
                <a:ea typeface="Calibri" pitchFamily="34" charset="-122"/>
                <a:cs typeface="Calibri" pitchFamily="34" charset="-120"/>
              </a:rPr>
              <a:t>Based on sales data from Dec 2009 to Dec 2011</a:t>
            </a:r>
          </a:p>
        </p:txBody>
      </p:sp>
      <p:sp>
        <p:nvSpPr>
          <p:cNvPr id="25" name="Slide Number Placeholder 0">
            <a:extLst>
              <a:ext uri="{FF2B5EF4-FFF2-40B4-BE49-F238E27FC236}">
                <a16:creationId xmlns:a16="http://schemas.microsoft.com/office/drawing/2014/main" id="{7B371767-BEDE-2A5F-97D8-FC70FA36CF2E}"/>
              </a:ext>
            </a:extLst>
          </p:cNvPr>
          <p:cNvSpPr>
            <a:spLocks noGrp="1"/>
          </p:cNvSpPr>
          <p:nvPr>
            <p:ph type="sldNum" sz="quarter" idx="4294967295"/>
          </p:nvPr>
        </p:nvSpPr>
        <p:spPr>
          <a:xfrm>
            <a:off x="11368735" y="6473952"/>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8FA0B3"/>
                </a:solidFill>
                <a:latin typeface="Calibri"/>
                <a:ea typeface="Calibri"/>
                <a:cs typeface="Calibri"/>
              </a:defRPr>
            </a:lvl1pPr>
          </a:lstStyle>
          <a:p>
            <a:pPr algn="r"/>
            <a:fld id="{F7021451-1387-4CA6-816F-3879F97B5CBC}" type="slidenum">
              <a:rPr lang="en-US" b="0"/>
              <a:t>2</a:t>
            </a:fld>
            <a:endParaRPr lang="en-US"/>
          </a:p>
        </p:txBody>
      </p:sp>
    </p:spTree>
    <p:extLst>
      <p:ext uri="{BB962C8B-B14F-4D97-AF65-F5344CB8AC3E}">
        <p14:creationId xmlns:p14="http://schemas.microsoft.com/office/powerpoint/2010/main" val="2538426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THE SHORT ANSWER</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r>
              <a:rPr lang="en-US" sz="2600" b="1" dirty="0">
                <a:solidFill>
                  <a:srgbClr val="1E2B3A"/>
                </a:solidFill>
                <a:latin typeface="Cambria" pitchFamily="34" charset="0"/>
                <a:ea typeface="Cambria" pitchFamily="34" charset="-122"/>
                <a:cs typeface="Cambria" pitchFamily="34" charset="-120"/>
              </a:rPr>
              <a:t>Our customers from holiday customer data fall into five groups, and each group needs different treatment</a:t>
            </a:r>
            <a:endParaRPr lang="en-US" sz="2600" dirty="0"/>
          </a:p>
        </p:txBody>
      </p:sp>
      <p:sp>
        <p:nvSpPr>
          <p:cNvPr id="4" name="Shape 2"/>
          <p:cNvSpPr/>
          <p:nvPr/>
        </p:nvSpPr>
        <p:spPr>
          <a:xfrm>
            <a:off x="548640" y="1737360"/>
            <a:ext cx="3484778" cy="3566160"/>
          </a:xfrm>
          <a:prstGeom prst="roundRect">
            <a:avLst>
              <a:gd name="adj" fmla="val 2624"/>
            </a:avLst>
          </a:prstGeom>
          <a:solidFill>
            <a:srgbClr val="F3F5F8"/>
          </a:solidFill>
          <a:ln w="12700">
            <a:solidFill>
              <a:srgbClr val="F3F5F8"/>
            </a:solidFill>
            <a:prstDash val="solid"/>
          </a:ln>
        </p:spPr>
        <p:txBody>
          <a:bodyPr/>
          <a:lstStyle/>
          <a:p>
            <a:endParaRPr lang="en-CA"/>
          </a:p>
        </p:txBody>
      </p:sp>
      <p:sp>
        <p:nvSpPr>
          <p:cNvPr id="5" name="Text 3"/>
          <p:cNvSpPr txBox="1"/>
          <p:nvPr/>
        </p:nvSpPr>
        <p:spPr>
          <a:xfrm>
            <a:off x="868680" y="2011680"/>
            <a:ext cx="2844698" cy="1005840"/>
          </a:xfrm>
          <a:prstGeom prst="rect">
            <a:avLst/>
          </a:prstGeom>
          <a:noFill/>
          <a:ln/>
        </p:spPr>
        <p:txBody>
          <a:bodyPr wrap="square" lIns="0" tIns="0" rIns="0" bIns="0" rtlCol="0" anchor="ctr"/>
          <a:lstStyle/>
          <a:p>
            <a:pPr marL="0" indent="0">
              <a:buNone/>
            </a:pPr>
            <a:r>
              <a:rPr lang="en-US" sz="5400" b="1" dirty="0">
                <a:solidFill>
                  <a:srgbClr val="1F7A5C"/>
                </a:solidFill>
                <a:latin typeface="Cambria" pitchFamily="34" charset="0"/>
                <a:ea typeface="Cambria" pitchFamily="34" charset="-122"/>
                <a:cs typeface="Cambria" pitchFamily="34" charset="-120"/>
              </a:rPr>
              <a:t>36%</a:t>
            </a:r>
            <a:endParaRPr lang="en-US" sz="5400" dirty="0"/>
          </a:p>
        </p:txBody>
      </p:sp>
      <p:sp>
        <p:nvSpPr>
          <p:cNvPr id="6" name="Text 4"/>
          <p:cNvSpPr txBox="1"/>
          <p:nvPr/>
        </p:nvSpPr>
        <p:spPr>
          <a:xfrm>
            <a:off x="868680" y="3154680"/>
            <a:ext cx="2844698" cy="1097280"/>
          </a:xfrm>
          <a:prstGeom prst="rect">
            <a:avLst/>
          </a:prstGeom>
          <a:noFill/>
          <a:ln/>
        </p:spPr>
        <p:txBody>
          <a:bodyPr wrap="square" lIns="0" tIns="0" rIns="0" bIns="0" rtlCol="0" anchor="t"/>
          <a:lstStyle/>
          <a:p>
            <a:pPr marL="0" indent="0">
              <a:buNone/>
            </a:pPr>
            <a:r>
              <a:rPr lang="en-US" sz="1800" b="1" dirty="0">
                <a:solidFill>
                  <a:srgbClr val="1E2B3A"/>
                </a:solidFill>
                <a:latin typeface="Calibri" pitchFamily="34" charset="0"/>
                <a:ea typeface="Calibri" pitchFamily="34" charset="-122"/>
                <a:cs typeface="Calibri" pitchFamily="34" charset="-120"/>
              </a:rPr>
              <a:t>of customers bring in 80% of all </a:t>
            </a:r>
            <a:r>
              <a:rPr lang="en-US" b="1" dirty="0">
                <a:solidFill>
                  <a:srgbClr val="1E2B3A"/>
                </a:solidFill>
                <a:latin typeface="Calibri" pitchFamily="34" charset="0"/>
                <a:ea typeface="Calibri" pitchFamily="34" charset="-122"/>
                <a:cs typeface="Calibri" pitchFamily="34" charset="-120"/>
              </a:rPr>
              <a:t>revenue</a:t>
            </a:r>
            <a:endParaRPr lang="en-US" sz="1800" dirty="0"/>
          </a:p>
        </p:txBody>
      </p:sp>
      <p:sp>
        <p:nvSpPr>
          <p:cNvPr id="7" name="Text 5"/>
          <p:cNvSpPr txBox="1"/>
          <p:nvPr/>
        </p:nvSpPr>
        <p:spPr>
          <a:xfrm>
            <a:off x="868680" y="4389120"/>
            <a:ext cx="2844698" cy="7315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Top Customers and Steady Regulars</a:t>
            </a:r>
            <a:endParaRPr lang="en-US" sz="1300" dirty="0"/>
          </a:p>
        </p:txBody>
      </p:sp>
      <p:sp>
        <p:nvSpPr>
          <p:cNvPr id="8" name="Shape 6"/>
          <p:cNvSpPr/>
          <p:nvPr/>
        </p:nvSpPr>
        <p:spPr>
          <a:xfrm>
            <a:off x="4353458" y="1737360"/>
            <a:ext cx="3484778" cy="3566160"/>
          </a:xfrm>
          <a:prstGeom prst="roundRect">
            <a:avLst>
              <a:gd name="adj" fmla="val 2624"/>
            </a:avLst>
          </a:prstGeom>
          <a:solidFill>
            <a:srgbClr val="F3F5F8"/>
          </a:solidFill>
          <a:ln w="12700">
            <a:solidFill>
              <a:srgbClr val="F3F5F8"/>
            </a:solidFill>
            <a:prstDash val="solid"/>
          </a:ln>
        </p:spPr>
        <p:txBody>
          <a:bodyPr/>
          <a:lstStyle/>
          <a:p>
            <a:endParaRPr lang="en-CA"/>
          </a:p>
        </p:txBody>
      </p:sp>
      <p:sp>
        <p:nvSpPr>
          <p:cNvPr id="9" name="Text 7"/>
          <p:cNvSpPr txBox="1"/>
          <p:nvPr/>
        </p:nvSpPr>
        <p:spPr>
          <a:xfrm>
            <a:off x="4673498" y="2011680"/>
            <a:ext cx="2844698" cy="1005840"/>
          </a:xfrm>
          <a:prstGeom prst="rect">
            <a:avLst/>
          </a:prstGeom>
          <a:noFill/>
          <a:ln/>
        </p:spPr>
        <p:txBody>
          <a:bodyPr wrap="square" lIns="0" tIns="0" rIns="0" bIns="0" rtlCol="0" anchor="ctr"/>
          <a:lstStyle/>
          <a:p>
            <a:pPr marL="0" indent="0">
              <a:buNone/>
            </a:pPr>
            <a:r>
              <a:rPr lang="en-US" sz="5400" b="1" dirty="0">
                <a:solidFill>
                  <a:srgbClr val="C0404A"/>
                </a:solidFill>
                <a:latin typeface="Cambria" pitchFamily="34" charset="0"/>
                <a:ea typeface="Cambria" pitchFamily="34" charset="-122"/>
                <a:cs typeface="Cambria" pitchFamily="34" charset="-120"/>
              </a:rPr>
              <a:t>1 in 2</a:t>
            </a:r>
            <a:endParaRPr lang="en-US" sz="5400" dirty="0"/>
          </a:p>
        </p:txBody>
      </p:sp>
      <p:sp>
        <p:nvSpPr>
          <p:cNvPr id="10" name="Text 8"/>
          <p:cNvSpPr txBox="1"/>
          <p:nvPr/>
        </p:nvSpPr>
        <p:spPr>
          <a:xfrm>
            <a:off x="4673498" y="3154680"/>
            <a:ext cx="2844698" cy="1097280"/>
          </a:xfrm>
          <a:prstGeom prst="rect">
            <a:avLst/>
          </a:prstGeom>
          <a:noFill/>
          <a:ln/>
        </p:spPr>
        <p:txBody>
          <a:bodyPr wrap="square" lIns="0" tIns="0" rIns="0" bIns="0" rtlCol="0" anchor="t"/>
          <a:lstStyle/>
          <a:p>
            <a:pPr marL="0" indent="0">
              <a:buNone/>
            </a:pPr>
            <a:r>
              <a:rPr lang="en-US" sz="1800" b="1" dirty="0">
                <a:solidFill>
                  <a:srgbClr val="1E2B3A"/>
                </a:solidFill>
                <a:latin typeface="Calibri" pitchFamily="34" charset="0"/>
                <a:ea typeface="Calibri" pitchFamily="34" charset="-122"/>
                <a:cs typeface="Calibri" pitchFamily="34" charset="-120"/>
              </a:rPr>
              <a:t>customers had not ordered for over 5 months</a:t>
            </a:r>
            <a:endParaRPr lang="en-US" sz="1800" dirty="0"/>
          </a:p>
        </p:txBody>
      </p:sp>
      <p:sp>
        <p:nvSpPr>
          <p:cNvPr id="11" name="Text 9"/>
          <p:cNvSpPr txBox="1"/>
          <p:nvPr/>
        </p:nvSpPr>
        <p:spPr>
          <a:xfrm>
            <a:off x="4673498" y="4389120"/>
            <a:ext cx="2844698" cy="7315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Fading Big Spenders and Gone Quiet</a:t>
            </a:r>
            <a:endParaRPr lang="en-US" sz="1300" dirty="0"/>
          </a:p>
        </p:txBody>
      </p:sp>
      <p:sp>
        <p:nvSpPr>
          <p:cNvPr id="12" name="Shape 10"/>
          <p:cNvSpPr/>
          <p:nvPr/>
        </p:nvSpPr>
        <p:spPr>
          <a:xfrm>
            <a:off x="8158277" y="1737360"/>
            <a:ext cx="3484778" cy="3566160"/>
          </a:xfrm>
          <a:prstGeom prst="roundRect">
            <a:avLst>
              <a:gd name="adj" fmla="val 2624"/>
            </a:avLst>
          </a:prstGeom>
          <a:solidFill>
            <a:srgbClr val="F3F5F8"/>
          </a:solidFill>
          <a:ln w="12700">
            <a:solidFill>
              <a:srgbClr val="F3F5F8"/>
            </a:solidFill>
            <a:prstDash val="solid"/>
          </a:ln>
        </p:spPr>
        <p:txBody>
          <a:bodyPr/>
          <a:lstStyle/>
          <a:p>
            <a:endParaRPr lang="en-CA"/>
          </a:p>
        </p:txBody>
      </p:sp>
      <p:sp>
        <p:nvSpPr>
          <p:cNvPr id="13" name="Text 11"/>
          <p:cNvSpPr txBox="1"/>
          <p:nvPr/>
        </p:nvSpPr>
        <p:spPr>
          <a:xfrm>
            <a:off x="8478317" y="2011680"/>
            <a:ext cx="2844698" cy="1005840"/>
          </a:xfrm>
          <a:prstGeom prst="rect">
            <a:avLst/>
          </a:prstGeom>
          <a:noFill/>
          <a:ln/>
        </p:spPr>
        <p:txBody>
          <a:bodyPr wrap="square" lIns="0" tIns="0" rIns="0" bIns="0" rtlCol="0" anchor="ctr"/>
          <a:lstStyle/>
          <a:p>
            <a:pPr marL="0" indent="0">
              <a:buNone/>
            </a:pPr>
            <a:r>
              <a:rPr lang="en-US" sz="5400" b="1" dirty="0">
                <a:solidFill>
                  <a:srgbClr val="1E2B3A"/>
                </a:solidFill>
                <a:latin typeface="Cambria" pitchFamily="34" charset="0"/>
                <a:ea typeface="Cambria" pitchFamily="34" charset="-122"/>
                <a:cs typeface="Cambria" pitchFamily="34" charset="-120"/>
              </a:rPr>
              <a:t>120 days</a:t>
            </a:r>
            <a:endParaRPr lang="en-US" sz="5400" dirty="0"/>
          </a:p>
        </p:txBody>
      </p:sp>
      <p:sp>
        <p:nvSpPr>
          <p:cNvPr id="14" name="Text 12"/>
          <p:cNvSpPr txBox="1"/>
          <p:nvPr/>
        </p:nvSpPr>
        <p:spPr>
          <a:xfrm>
            <a:off x="8478317" y="3154680"/>
            <a:ext cx="2844698" cy="1097280"/>
          </a:xfrm>
          <a:prstGeom prst="rect">
            <a:avLst/>
          </a:prstGeom>
          <a:noFill/>
          <a:ln/>
        </p:spPr>
        <p:txBody>
          <a:bodyPr wrap="square" lIns="0" tIns="0" rIns="0" bIns="0" rtlCol="0" anchor="t"/>
          <a:lstStyle/>
          <a:p>
            <a:pPr marL="0" indent="0">
              <a:buNone/>
            </a:pPr>
            <a:r>
              <a:rPr lang="en-US" sz="1800" b="1" dirty="0">
                <a:solidFill>
                  <a:srgbClr val="1E2B3A"/>
                </a:solidFill>
                <a:latin typeface="Calibri" pitchFamily="34" charset="0"/>
                <a:ea typeface="Calibri" pitchFamily="34" charset="-122"/>
                <a:cs typeface="Calibri" pitchFamily="34" charset="-120"/>
              </a:rPr>
              <a:t>without an order; after this point, most customers do not come back</a:t>
            </a:r>
            <a:endParaRPr lang="en-US" sz="1800" dirty="0"/>
          </a:p>
        </p:txBody>
      </p:sp>
      <p:sp>
        <p:nvSpPr>
          <p:cNvPr id="15" name="Text 13"/>
          <p:cNvSpPr txBox="1"/>
          <p:nvPr/>
        </p:nvSpPr>
        <p:spPr>
          <a:xfrm>
            <a:off x="8478317" y="4389120"/>
            <a:ext cx="2844698" cy="73152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In summer this point comes sooner, at about 60 days</a:t>
            </a:r>
            <a:endParaRPr lang="en-US" sz="1300" dirty="0"/>
          </a:p>
        </p:txBody>
      </p:sp>
      <p:sp>
        <p:nvSpPr>
          <p:cNvPr id="16" name="Shape 14"/>
          <p:cNvSpPr/>
          <p:nvPr/>
        </p:nvSpPr>
        <p:spPr>
          <a:xfrm>
            <a:off x="548640" y="5669280"/>
            <a:ext cx="11094415"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8" name="Text 15"/>
          <p:cNvSpPr txBox="1"/>
          <p:nvPr/>
        </p:nvSpPr>
        <p:spPr>
          <a:xfrm>
            <a:off x="742950" y="5669280"/>
            <a:ext cx="10717225"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Sending the same message to everyone wastes budget. Put time into the customers who bring in the most, and into the ones we can still win back.</a:t>
            </a:r>
            <a:endParaRPr lang="en-US" sz="15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WHAT THIS IS BASED ON</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Built on two years of orders, and checked against what customers did next</a:t>
            </a:r>
            <a:endParaRPr lang="en-US" sz="2600" dirty="0"/>
          </a:p>
        </p:txBody>
      </p:sp>
      <p:sp>
        <p:nvSpPr>
          <p:cNvPr id="4" name="Shape 2"/>
          <p:cNvSpPr/>
          <p:nvPr/>
        </p:nvSpPr>
        <p:spPr>
          <a:xfrm>
            <a:off x="548640" y="1737360"/>
            <a:ext cx="2567864" cy="2651760"/>
          </a:xfrm>
          <a:prstGeom prst="roundRect">
            <a:avLst>
              <a:gd name="adj" fmla="val 3561"/>
            </a:avLst>
          </a:prstGeom>
          <a:solidFill>
            <a:srgbClr val="F3F5F8"/>
          </a:solidFill>
          <a:ln w="12700">
            <a:solidFill>
              <a:srgbClr val="F3F5F8"/>
            </a:solidFill>
            <a:prstDash val="solid"/>
          </a:ln>
        </p:spPr>
        <p:txBody>
          <a:bodyPr/>
          <a:lstStyle/>
          <a:p>
            <a:endParaRPr lang="en-CA"/>
          </a:p>
        </p:txBody>
      </p:sp>
      <p:sp>
        <p:nvSpPr>
          <p:cNvPr id="5" name="Shape 3"/>
          <p:cNvSpPr/>
          <p:nvPr/>
        </p:nvSpPr>
        <p:spPr>
          <a:xfrm>
            <a:off x="822960" y="1965960"/>
            <a:ext cx="640080" cy="640080"/>
          </a:xfrm>
          <a:prstGeom prst="ellipse">
            <a:avLst/>
          </a:prstGeom>
          <a:solidFill>
            <a:srgbClr val="1E2B3A"/>
          </a:solidFill>
          <a:ln w="12700">
            <a:solidFill>
              <a:srgbClr val="1E2B3A"/>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82980" y="2125980"/>
            <a:ext cx="320040" cy="320040"/>
          </a:xfrm>
          <a:prstGeom prst="rect">
            <a:avLst/>
          </a:prstGeom>
        </p:spPr>
      </p:pic>
      <p:sp>
        <p:nvSpPr>
          <p:cNvPr id="7" name="Text 4"/>
          <p:cNvSpPr txBox="1"/>
          <p:nvPr/>
        </p:nvSpPr>
        <p:spPr>
          <a:xfrm>
            <a:off x="822960" y="2743200"/>
            <a:ext cx="2019224" cy="640080"/>
          </a:xfrm>
          <a:prstGeom prst="rect">
            <a:avLst/>
          </a:prstGeom>
          <a:noFill/>
          <a:ln/>
        </p:spPr>
        <p:txBody>
          <a:bodyPr wrap="square" lIns="0" tIns="0" rIns="0" bIns="0" rtlCol="0" anchor="ctr"/>
          <a:lstStyle/>
          <a:p>
            <a:pPr marL="0" indent="0">
              <a:buNone/>
            </a:pPr>
            <a:r>
              <a:rPr lang="en-US" sz="3200" b="1" dirty="0">
                <a:solidFill>
                  <a:srgbClr val="1E2B3A"/>
                </a:solidFill>
                <a:latin typeface="Cambria" pitchFamily="34" charset="0"/>
                <a:ea typeface="Cambria" pitchFamily="34" charset="-122"/>
                <a:cs typeface="Cambria" pitchFamily="34" charset="-120"/>
              </a:rPr>
              <a:t>2 years</a:t>
            </a:r>
            <a:endParaRPr lang="en-US" sz="3200" dirty="0"/>
          </a:p>
        </p:txBody>
      </p:sp>
      <p:sp>
        <p:nvSpPr>
          <p:cNvPr id="8" name="Text 5"/>
          <p:cNvSpPr txBox="1"/>
          <p:nvPr/>
        </p:nvSpPr>
        <p:spPr>
          <a:xfrm>
            <a:off x="822960" y="3429000"/>
            <a:ext cx="2019224" cy="82296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of sales records, Dec 2009 to Dec 2011</a:t>
            </a:r>
            <a:endParaRPr lang="en-US" sz="1400" dirty="0"/>
          </a:p>
        </p:txBody>
      </p:sp>
      <p:sp>
        <p:nvSpPr>
          <p:cNvPr id="9" name="Shape 6"/>
          <p:cNvSpPr/>
          <p:nvPr/>
        </p:nvSpPr>
        <p:spPr>
          <a:xfrm>
            <a:off x="3390824" y="1737360"/>
            <a:ext cx="2567864" cy="2651760"/>
          </a:xfrm>
          <a:prstGeom prst="roundRect">
            <a:avLst>
              <a:gd name="adj" fmla="val 3561"/>
            </a:avLst>
          </a:prstGeom>
          <a:solidFill>
            <a:srgbClr val="F3F5F8"/>
          </a:solidFill>
          <a:ln w="12700">
            <a:solidFill>
              <a:srgbClr val="F3F5F8"/>
            </a:solidFill>
            <a:prstDash val="solid"/>
          </a:ln>
        </p:spPr>
        <p:txBody>
          <a:bodyPr/>
          <a:lstStyle/>
          <a:p>
            <a:endParaRPr lang="en-CA"/>
          </a:p>
        </p:txBody>
      </p:sp>
      <p:sp>
        <p:nvSpPr>
          <p:cNvPr id="10" name="Shape 7"/>
          <p:cNvSpPr/>
          <p:nvPr/>
        </p:nvSpPr>
        <p:spPr>
          <a:xfrm>
            <a:off x="3665144" y="1965960"/>
            <a:ext cx="640080" cy="640080"/>
          </a:xfrm>
          <a:prstGeom prst="ellipse">
            <a:avLst/>
          </a:prstGeom>
          <a:solidFill>
            <a:srgbClr val="1E2B3A"/>
          </a:solidFill>
          <a:ln w="12700">
            <a:solidFill>
              <a:srgbClr val="1E2B3A"/>
            </a:solidFill>
            <a:prstDash val="solid"/>
          </a:ln>
        </p:spPr>
        <p:txBody>
          <a:bodyPr/>
          <a:lstStyle/>
          <a:p>
            <a:endParaRPr lang="en-CA"/>
          </a:p>
        </p:txBody>
      </p:sp>
      <p:pic>
        <p:nvPicPr>
          <p:cNvPr id="11" name="Image 1" descr="preencoded.png"/>
          <p:cNvPicPr>
            <a:picLocks noChangeAspect="1"/>
          </p:cNvPicPr>
          <p:nvPr/>
        </p:nvPicPr>
        <p:blipFill>
          <a:blip r:embed="rId4"/>
          <a:stretch>
            <a:fillRect/>
          </a:stretch>
        </p:blipFill>
        <p:spPr>
          <a:xfrm>
            <a:off x="3825164" y="2125980"/>
            <a:ext cx="320040" cy="320040"/>
          </a:xfrm>
          <a:prstGeom prst="rect">
            <a:avLst/>
          </a:prstGeom>
        </p:spPr>
      </p:pic>
      <p:sp>
        <p:nvSpPr>
          <p:cNvPr id="12" name="Text 8"/>
          <p:cNvSpPr txBox="1"/>
          <p:nvPr/>
        </p:nvSpPr>
        <p:spPr>
          <a:xfrm>
            <a:off x="3665144" y="2743200"/>
            <a:ext cx="2019224" cy="640080"/>
          </a:xfrm>
          <a:prstGeom prst="rect">
            <a:avLst/>
          </a:prstGeom>
          <a:noFill/>
          <a:ln/>
        </p:spPr>
        <p:txBody>
          <a:bodyPr wrap="square" lIns="0" tIns="0" rIns="0" bIns="0" rtlCol="0" anchor="ctr"/>
          <a:lstStyle/>
          <a:p>
            <a:pPr marL="0" indent="0">
              <a:buNone/>
            </a:pPr>
            <a:r>
              <a:rPr lang="en-US" sz="3200" b="1" dirty="0">
                <a:solidFill>
                  <a:srgbClr val="1E2B3A"/>
                </a:solidFill>
                <a:latin typeface="Cambria" pitchFamily="34" charset="0"/>
                <a:ea typeface="Cambria" pitchFamily="34" charset="-122"/>
                <a:cs typeface="Cambria" pitchFamily="34" charset="-120"/>
              </a:rPr>
              <a:t>5,253</a:t>
            </a:r>
            <a:endParaRPr lang="en-US" sz="3200" dirty="0"/>
          </a:p>
        </p:txBody>
      </p:sp>
      <p:sp>
        <p:nvSpPr>
          <p:cNvPr id="13" name="Text 9"/>
          <p:cNvSpPr txBox="1"/>
          <p:nvPr/>
        </p:nvSpPr>
        <p:spPr>
          <a:xfrm>
            <a:off x="3665144" y="3429000"/>
            <a:ext cx="2019224" cy="82296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customers who had ordered before 9 Sept 2011</a:t>
            </a:r>
            <a:endParaRPr lang="en-US" sz="1400" dirty="0"/>
          </a:p>
        </p:txBody>
      </p:sp>
      <p:sp>
        <p:nvSpPr>
          <p:cNvPr id="14" name="Shape 10"/>
          <p:cNvSpPr/>
          <p:nvPr/>
        </p:nvSpPr>
        <p:spPr>
          <a:xfrm>
            <a:off x="6233008" y="1737360"/>
            <a:ext cx="2567864" cy="2651760"/>
          </a:xfrm>
          <a:prstGeom prst="roundRect">
            <a:avLst>
              <a:gd name="adj" fmla="val 3561"/>
            </a:avLst>
          </a:prstGeom>
          <a:solidFill>
            <a:srgbClr val="F3F5F8"/>
          </a:solidFill>
          <a:ln w="12700">
            <a:solidFill>
              <a:srgbClr val="F3F5F8"/>
            </a:solidFill>
            <a:prstDash val="solid"/>
          </a:ln>
        </p:spPr>
        <p:txBody>
          <a:bodyPr/>
          <a:lstStyle/>
          <a:p>
            <a:endParaRPr lang="en-CA"/>
          </a:p>
        </p:txBody>
      </p:sp>
      <p:sp>
        <p:nvSpPr>
          <p:cNvPr id="15" name="Shape 11"/>
          <p:cNvSpPr/>
          <p:nvPr/>
        </p:nvSpPr>
        <p:spPr>
          <a:xfrm>
            <a:off x="6507328" y="1965960"/>
            <a:ext cx="640080" cy="640080"/>
          </a:xfrm>
          <a:prstGeom prst="ellipse">
            <a:avLst/>
          </a:prstGeom>
          <a:solidFill>
            <a:srgbClr val="1E2B3A"/>
          </a:solidFill>
          <a:ln w="12700">
            <a:solidFill>
              <a:srgbClr val="1E2B3A"/>
            </a:solidFill>
            <a:prstDash val="solid"/>
          </a:ln>
        </p:spPr>
        <p:txBody>
          <a:bodyPr/>
          <a:lstStyle/>
          <a:p>
            <a:endParaRPr lang="en-CA"/>
          </a:p>
        </p:txBody>
      </p:sp>
      <p:pic>
        <p:nvPicPr>
          <p:cNvPr id="16" name="Image 2" descr="preencoded.png"/>
          <p:cNvPicPr>
            <a:picLocks noChangeAspect="1"/>
          </p:cNvPicPr>
          <p:nvPr/>
        </p:nvPicPr>
        <p:blipFill>
          <a:blip r:embed="rId5"/>
          <a:stretch>
            <a:fillRect/>
          </a:stretch>
        </p:blipFill>
        <p:spPr>
          <a:xfrm>
            <a:off x="6667348" y="2125980"/>
            <a:ext cx="320040" cy="320040"/>
          </a:xfrm>
          <a:prstGeom prst="rect">
            <a:avLst/>
          </a:prstGeom>
        </p:spPr>
      </p:pic>
      <p:sp>
        <p:nvSpPr>
          <p:cNvPr id="17" name="Text 12"/>
          <p:cNvSpPr txBox="1"/>
          <p:nvPr/>
        </p:nvSpPr>
        <p:spPr>
          <a:xfrm>
            <a:off x="6507328" y="2743200"/>
            <a:ext cx="2019224" cy="640080"/>
          </a:xfrm>
          <a:prstGeom prst="rect">
            <a:avLst/>
          </a:prstGeom>
          <a:noFill/>
          <a:ln/>
        </p:spPr>
        <p:txBody>
          <a:bodyPr wrap="square" lIns="0" tIns="0" rIns="0" bIns="0" rtlCol="0" anchor="ctr"/>
          <a:lstStyle/>
          <a:p>
            <a:pPr marL="0" indent="0">
              <a:buNone/>
            </a:pPr>
            <a:r>
              <a:rPr lang="en-US" sz="3200" b="1" dirty="0">
                <a:solidFill>
                  <a:srgbClr val="1E2B3A"/>
                </a:solidFill>
                <a:latin typeface="Cambria" pitchFamily="34" charset="0"/>
                <a:ea typeface="Cambria" pitchFamily="34" charset="-122"/>
                <a:cs typeface="Cambria" pitchFamily="34" charset="-120"/>
              </a:rPr>
              <a:t>£13.2M</a:t>
            </a:r>
            <a:endParaRPr lang="en-US" sz="3200" dirty="0"/>
          </a:p>
        </p:txBody>
      </p:sp>
      <p:sp>
        <p:nvSpPr>
          <p:cNvPr id="18" name="Text 13"/>
          <p:cNvSpPr txBox="1"/>
          <p:nvPr/>
        </p:nvSpPr>
        <p:spPr>
          <a:xfrm>
            <a:off x="6507328" y="3429000"/>
            <a:ext cx="2019224" cy="82296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of their spending looked at, after cancellations</a:t>
            </a:r>
            <a:endParaRPr lang="en-US" sz="1400" dirty="0"/>
          </a:p>
        </p:txBody>
      </p:sp>
      <p:sp>
        <p:nvSpPr>
          <p:cNvPr id="19" name="Shape 14"/>
          <p:cNvSpPr/>
          <p:nvPr/>
        </p:nvSpPr>
        <p:spPr>
          <a:xfrm>
            <a:off x="9075191" y="1737360"/>
            <a:ext cx="2567864" cy="2651760"/>
          </a:xfrm>
          <a:prstGeom prst="roundRect">
            <a:avLst>
              <a:gd name="adj" fmla="val 3561"/>
            </a:avLst>
          </a:prstGeom>
          <a:solidFill>
            <a:srgbClr val="F3F5F8"/>
          </a:solidFill>
          <a:ln w="12700">
            <a:solidFill>
              <a:srgbClr val="F3F5F8"/>
            </a:solidFill>
            <a:prstDash val="solid"/>
          </a:ln>
        </p:spPr>
        <p:txBody>
          <a:bodyPr/>
          <a:lstStyle/>
          <a:p>
            <a:endParaRPr lang="en-CA"/>
          </a:p>
        </p:txBody>
      </p:sp>
      <p:sp>
        <p:nvSpPr>
          <p:cNvPr id="20" name="Shape 15"/>
          <p:cNvSpPr/>
          <p:nvPr/>
        </p:nvSpPr>
        <p:spPr>
          <a:xfrm>
            <a:off x="9349511" y="1965960"/>
            <a:ext cx="640080" cy="640080"/>
          </a:xfrm>
          <a:prstGeom prst="ellipse">
            <a:avLst/>
          </a:prstGeom>
          <a:solidFill>
            <a:srgbClr val="1E2B3A"/>
          </a:solidFill>
          <a:ln w="12700">
            <a:solidFill>
              <a:srgbClr val="1E2B3A"/>
            </a:solidFill>
            <a:prstDash val="solid"/>
          </a:ln>
        </p:spPr>
        <p:txBody>
          <a:bodyPr/>
          <a:lstStyle/>
          <a:p>
            <a:endParaRPr lang="en-CA"/>
          </a:p>
        </p:txBody>
      </p:sp>
      <p:pic>
        <p:nvPicPr>
          <p:cNvPr id="21" name="Image 3" descr="preencoded.png"/>
          <p:cNvPicPr>
            <a:picLocks noChangeAspect="1"/>
          </p:cNvPicPr>
          <p:nvPr/>
        </p:nvPicPr>
        <p:blipFill>
          <a:blip r:embed="rId6"/>
          <a:stretch>
            <a:fillRect/>
          </a:stretch>
        </p:blipFill>
        <p:spPr>
          <a:xfrm>
            <a:off x="9509531" y="2125980"/>
            <a:ext cx="320040" cy="320040"/>
          </a:xfrm>
          <a:prstGeom prst="rect">
            <a:avLst/>
          </a:prstGeom>
        </p:spPr>
      </p:pic>
      <p:sp>
        <p:nvSpPr>
          <p:cNvPr id="22" name="Text 16"/>
          <p:cNvSpPr txBox="1"/>
          <p:nvPr/>
        </p:nvSpPr>
        <p:spPr>
          <a:xfrm>
            <a:off x="9349511" y="2743200"/>
            <a:ext cx="2019224" cy="640080"/>
          </a:xfrm>
          <a:prstGeom prst="rect">
            <a:avLst/>
          </a:prstGeom>
          <a:noFill/>
          <a:ln/>
        </p:spPr>
        <p:txBody>
          <a:bodyPr wrap="square" lIns="0" tIns="0" rIns="0" bIns="0" rtlCol="0" anchor="ctr"/>
          <a:lstStyle/>
          <a:p>
            <a:pPr marL="0" indent="0">
              <a:buNone/>
            </a:pPr>
            <a:r>
              <a:rPr lang="en-US" sz="3200" b="1" dirty="0">
                <a:solidFill>
                  <a:srgbClr val="1E2B3A"/>
                </a:solidFill>
                <a:latin typeface="Cambria" pitchFamily="34" charset="0"/>
                <a:ea typeface="Cambria" pitchFamily="34" charset="-122"/>
                <a:cs typeface="Cambria" pitchFamily="34" charset="-120"/>
              </a:rPr>
              <a:t>3 months</a:t>
            </a:r>
            <a:endParaRPr lang="en-US" sz="3200" dirty="0"/>
          </a:p>
        </p:txBody>
      </p:sp>
      <p:sp>
        <p:nvSpPr>
          <p:cNvPr id="23" name="Text 17"/>
          <p:cNvSpPr txBox="1"/>
          <p:nvPr/>
        </p:nvSpPr>
        <p:spPr>
          <a:xfrm>
            <a:off x="9349511" y="3429000"/>
            <a:ext cx="2019224" cy="82296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of follow-up to check that each group behaved as expected</a:t>
            </a:r>
            <a:endParaRPr lang="en-US" sz="1400" dirty="0"/>
          </a:p>
        </p:txBody>
      </p:sp>
      <p:sp>
        <p:nvSpPr>
          <p:cNvPr id="24" name="Shape 18"/>
          <p:cNvSpPr/>
          <p:nvPr/>
        </p:nvSpPr>
        <p:spPr>
          <a:xfrm>
            <a:off x="548640" y="4663440"/>
            <a:ext cx="457200" cy="457200"/>
          </a:xfrm>
          <a:prstGeom prst="ellipse">
            <a:avLst/>
          </a:prstGeom>
          <a:solidFill>
            <a:srgbClr val="B8C0CB"/>
          </a:solidFill>
          <a:ln w="12700">
            <a:solidFill>
              <a:srgbClr val="B8C0CB"/>
            </a:solidFill>
            <a:prstDash val="solid"/>
          </a:ln>
        </p:spPr>
        <p:txBody>
          <a:bodyPr/>
          <a:lstStyle/>
          <a:p>
            <a:endParaRPr lang="en-CA"/>
          </a:p>
        </p:txBody>
      </p:sp>
      <p:pic>
        <p:nvPicPr>
          <p:cNvPr id="25" name="Image 4" descr="preencoded.png"/>
          <p:cNvPicPr>
            <a:picLocks noChangeAspect="1"/>
          </p:cNvPicPr>
          <p:nvPr/>
        </p:nvPicPr>
        <p:blipFill>
          <a:blip r:embed="rId7"/>
          <a:stretch>
            <a:fillRect/>
          </a:stretch>
        </p:blipFill>
        <p:spPr>
          <a:xfrm>
            <a:off x="662940" y="4777740"/>
            <a:ext cx="228600" cy="228600"/>
          </a:xfrm>
          <a:prstGeom prst="rect">
            <a:avLst/>
          </a:prstGeom>
        </p:spPr>
      </p:pic>
      <p:sp>
        <p:nvSpPr>
          <p:cNvPr id="26" name="Text 19"/>
          <p:cNvSpPr txBox="1"/>
          <p:nvPr/>
        </p:nvSpPr>
        <p:spPr>
          <a:xfrm>
            <a:off x="1188720" y="4645152"/>
            <a:ext cx="10454335" cy="548640"/>
          </a:xfrm>
          <a:prstGeom prst="rect">
            <a:avLst/>
          </a:prstGeom>
          <a:noFill/>
          <a:ln/>
        </p:spPr>
        <p:txBody>
          <a:bodyPr wrap="square" lIns="0" tIns="0" rIns="0" bIns="0" rtlCol="0" anchor="ctr"/>
          <a:lstStyle/>
          <a:p>
            <a:pPr marL="0" indent="0">
              <a:buNone/>
            </a:pPr>
            <a:r>
              <a:rPr lang="en-US" sz="1400" dirty="0">
                <a:solidFill>
                  <a:srgbClr val="5B6675"/>
                </a:solidFill>
                <a:latin typeface="Calibri" pitchFamily="34" charset="0"/>
                <a:ea typeface="Calibri" pitchFamily="34" charset="-122"/>
                <a:cs typeface="Calibri" pitchFamily="34" charset="-120"/>
              </a:rPr>
              <a:t>Before any analysis we removed duplicate rows, test entries, postage and fee lines, and two mistaken giant orders that were reversed, so every figure comes from real purchases.</a:t>
            </a:r>
            <a:endParaRPr lang="en-US" sz="1400" dirty="0"/>
          </a:p>
        </p:txBody>
      </p:sp>
      <p:sp>
        <p:nvSpPr>
          <p:cNvPr id="27" name="Shape 20"/>
          <p:cNvSpPr/>
          <p:nvPr/>
        </p:nvSpPr>
        <p:spPr>
          <a:xfrm>
            <a:off x="548640" y="5669280"/>
            <a:ext cx="11094415"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29" name="Text 21"/>
          <p:cNvSpPr txBox="1"/>
          <p:nvPr/>
        </p:nvSpPr>
        <p:spPr>
          <a:xfrm>
            <a:off x="733426" y="5669280"/>
            <a:ext cx="10726750"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When we checked what customers did next, each group behaved as expected in both summer and autumn.</a:t>
            </a:r>
            <a:endParaRPr lang="en-US" sz="1500" dirty="0"/>
          </a:p>
        </p:txBody>
      </p:sp>
      <p:sp>
        <p:nvSpPr>
          <p:cNvPr id="30"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HOW WE GROUPED CUSTOMERS</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We asked three questions about every customer</a:t>
            </a:r>
            <a:endParaRPr lang="en-US" sz="2600" dirty="0"/>
          </a:p>
        </p:txBody>
      </p:sp>
      <p:sp>
        <p:nvSpPr>
          <p:cNvPr id="4" name="Shape 2"/>
          <p:cNvSpPr/>
          <p:nvPr/>
        </p:nvSpPr>
        <p:spPr>
          <a:xfrm>
            <a:off x="548640" y="1828800"/>
            <a:ext cx="777240" cy="777240"/>
          </a:xfrm>
          <a:prstGeom prst="ellipse">
            <a:avLst/>
          </a:prstGeom>
          <a:solidFill>
            <a:srgbClr val="1E2B3A"/>
          </a:solidFill>
          <a:ln w="12700">
            <a:solidFill>
              <a:srgbClr val="1E2B3A"/>
            </a:solidFill>
            <a:prstDash val="solid"/>
          </a:ln>
        </p:spPr>
        <p:txBody>
          <a:bodyPr/>
          <a:lstStyle/>
          <a:p>
            <a:endParaRPr lang="en-CA"/>
          </a:p>
        </p:txBody>
      </p:sp>
      <p:pic>
        <p:nvPicPr>
          <p:cNvPr id="5" name="Image 0" descr="preencoded.png"/>
          <p:cNvPicPr>
            <a:picLocks noChangeAspect="1"/>
          </p:cNvPicPr>
          <p:nvPr/>
        </p:nvPicPr>
        <p:blipFill>
          <a:blip r:embed="rId3"/>
          <a:stretch>
            <a:fillRect/>
          </a:stretch>
        </p:blipFill>
        <p:spPr>
          <a:xfrm>
            <a:off x="742950" y="2023110"/>
            <a:ext cx="388620" cy="388620"/>
          </a:xfrm>
          <a:prstGeom prst="rect">
            <a:avLst/>
          </a:prstGeom>
        </p:spPr>
      </p:pic>
      <p:sp>
        <p:nvSpPr>
          <p:cNvPr id="6" name="Text 3"/>
          <p:cNvSpPr txBox="1"/>
          <p:nvPr/>
        </p:nvSpPr>
        <p:spPr>
          <a:xfrm>
            <a:off x="1554480" y="1847088"/>
            <a:ext cx="3931920" cy="411480"/>
          </a:xfrm>
          <a:prstGeom prst="rect">
            <a:avLst/>
          </a:prstGeom>
          <a:noFill/>
          <a:ln/>
        </p:spPr>
        <p:txBody>
          <a:bodyPr wrap="square" lIns="0" tIns="0" rIns="0" bIns="0" rtlCol="0" anchor="t"/>
          <a:lstStyle/>
          <a:p>
            <a:pPr marL="0" indent="0">
              <a:buNone/>
            </a:pPr>
            <a:r>
              <a:rPr lang="en-US" sz="1900" b="1" dirty="0">
                <a:solidFill>
                  <a:srgbClr val="1E2B3A"/>
                </a:solidFill>
                <a:latin typeface="Calibri" pitchFamily="34" charset="0"/>
                <a:ea typeface="Calibri" pitchFamily="34" charset="-122"/>
                <a:cs typeface="Calibri" pitchFamily="34" charset="-120"/>
              </a:rPr>
              <a:t>How recently did they order?</a:t>
            </a:r>
            <a:endParaRPr lang="en-US" sz="1900" dirty="0"/>
          </a:p>
        </p:txBody>
      </p:sp>
      <p:sp>
        <p:nvSpPr>
          <p:cNvPr id="7" name="Text 4"/>
          <p:cNvSpPr txBox="1"/>
          <p:nvPr/>
        </p:nvSpPr>
        <p:spPr>
          <a:xfrm>
            <a:off x="1554480" y="2258568"/>
            <a:ext cx="3931920" cy="32004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Days since their last order</a:t>
            </a:r>
            <a:endParaRPr lang="en-US" sz="1400" dirty="0"/>
          </a:p>
        </p:txBody>
      </p:sp>
      <p:sp>
        <p:nvSpPr>
          <p:cNvPr id="8" name="Shape 5"/>
          <p:cNvSpPr/>
          <p:nvPr/>
        </p:nvSpPr>
        <p:spPr>
          <a:xfrm>
            <a:off x="548640" y="3017520"/>
            <a:ext cx="777240" cy="777240"/>
          </a:xfrm>
          <a:prstGeom prst="ellipse">
            <a:avLst/>
          </a:prstGeom>
          <a:solidFill>
            <a:srgbClr val="1E2B3A"/>
          </a:solidFill>
          <a:ln w="12700">
            <a:solidFill>
              <a:srgbClr val="1E2B3A"/>
            </a:solidFill>
            <a:prstDash val="solid"/>
          </a:ln>
        </p:spPr>
        <p:txBody>
          <a:bodyPr/>
          <a:lstStyle/>
          <a:p>
            <a:endParaRPr lang="en-CA"/>
          </a:p>
        </p:txBody>
      </p:sp>
      <p:pic>
        <p:nvPicPr>
          <p:cNvPr id="9" name="Image 1" descr="preencoded.png"/>
          <p:cNvPicPr>
            <a:picLocks noChangeAspect="1"/>
          </p:cNvPicPr>
          <p:nvPr/>
        </p:nvPicPr>
        <p:blipFill>
          <a:blip r:embed="rId4"/>
          <a:stretch>
            <a:fillRect/>
          </a:stretch>
        </p:blipFill>
        <p:spPr>
          <a:xfrm>
            <a:off x="742950" y="3211830"/>
            <a:ext cx="388620" cy="388620"/>
          </a:xfrm>
          <a:prstGeom prst="rect">
            <a:avLst/>
          </a:prstGeom>
        </p:spPr>
      </p:pic>
      <p:sp>
        <p:nvSpPr>
          <p:cNvPr id="10" name="Text 6"/>
          <p:cNvSpPr txBox="1"/>
          <p:nvPr/>
        </p:nvSpPr>
        <p:spPr>
          <a:xfrm>
            <a:off x="1554480" y="3035808"/>
            <a:ext cx="3931920" cy="411480"/>
          </a:xfrm>
          <a:prstGeom prst="rect">
            <a:avLst/>
          </a:prstGeom>
          <a:noFill/>
          <a:ln/>
        </p:spPr>
        <p:txBody>
          <a:bodyPr wrap="square" lIns="0" tIns="0" rIns="0" bIns="0" rtlCol="0" anchor="t"/>
          <a:lstStyle/>
          <a:p>
            <a:pPr marL="0" indent="0">
              <a:buNone/>
            </a:pPr>
            <a:r>
              <a:rPr lang="en-US" sz="1900" b="1" dirty="0">
                <a:solidFill>
                  <a:srgbClr val="1E2B3A"/>
                </a:solidFill>
                <a:latin typeface="Calibri" pitchFamily="34" charset="0"/>
                <a:ea typeface="Calibri" pitchFamily="34" charset="-122"/>
                <a:cs typeface="Calibri" pitchFamily="34" charset="-120"/>
              </a:rPr>
              <a:t>How often do they order?</a:t>
            </a:r>
            <a:endParaRPr lang="en-US" sz="1900" dirty="0"/>
          </a:p>
        </p:txBody>
      </p:sp>
      <p:sp>
        <p:nvSpPr>
          <p:cNvPr id="11" name="Text 7"/>
          <p:cNvSpPr txBox="1"/>
          <p:nvPr/>
        </p:nvSpPr>
        <p:spPr>
          <a:xfrm>
            <a:off x="1554480" y="3447288"/>
            <a:ext cx="3931920" cy="32004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Number of separate orders</a:t>
            </a:r>
            <a:endParaRPr lang="en-US" sz="1400" dirty="0"/>
          </a:p>
        </p:txBody>
      </p:sp>
      <p:sp>
        <p:nvSpPr>
          <p:cNvPr id="12" name="Shape 8"/>
          <p:cNvSpPr/>
          <p:nvPr/>
        </p:nvSpPr>
        <p:spPr>
          <a:xfrm>
            <a:off x="548640" y="4206240"/>
            <a:ext cx="777240" cy="777240"/>
          </a:xfrm>
          <a:prstGeom prst="ellipse">
            <a:avLst/>
          </a:prstGeom>
          <a:solidFill>
            <a:srgbClr val="1E2B3A"/>
          </a:solidFill>
          <a:ln w="12700">
            <a:solidFill>
              <a:srgbClr val="1E2B3A"/>
            </a:solidFill>
            <a:prstDash val="solid"/>
          </a:ln>
        </p:spPr>
        <p:txBody>
          <a:bodyPr/>
          <a:lstStyle/>
          <a:p>
            <a:endParaRPr lang="en-CA"/>
          </a:p>
        </p:txBody>
      </p:sp>
      <p:pic>
        <p:nvPicPr>
          <p:cNvPr id="13" name="Image 2" descr="preencoded.png"/>
          <p:cNvPicPr>
            <a:picLocks noChangeAspect="1"/>
          </p:cNvPicPr>
          <p:nvPr/>
        </p:nvPicPr>
        <p:blipFill>
          <a:blip r:embed="rId5"/>
          <a:stretch>
            <a:fillRect/>
          </a:stretch>
        </p:blipFill>
        <p:spPr>
          <a:xfrm>
            <a:off x="742950" y="4400550"/>
            <a:ext cx="388620" cy="388620"/>
          </a:xfrm>
          <a:prstGeom prst="rect">
            <a:avLst/>
          </a:prstGeom>
        </p:spPr>
      </p:pic>
      <p:sp>
        <p:nvSpPr>
          <p:cNvPr id="14" name="Text 9"/>
          <p:cNvSpPr txBox="1"/>
          <p:nvPr/>
        </p:nvSpPr>
        <p:spPr>
          <a:xfrm>
            <a:off x="1554480" y="4224528"/>
            <a:ext cx="3931920" cy="411480"/>
          </a:xfrm>
          <a:prstGeom prst="rect">
            <a:avLst/>
          </a:prstGeom>
          <a:noFill/>
          <a:ln/>
        </p:spPr>
        <p:txBody>
          <a:bodyPr wrap="square" lIns="0" tIns="0" rIns="0" bIns="0" rtlCol="0" anchor="t"/>
          <a:lstStyle/>
          <a:p>
            <a:pPr marL="0" indent="0">
              <a:buNone/>
            </a:pPr>
            <a:r>
              <a:rPr lang="en-US" sz="1900" b="1" dirty="0">
                <a:solidFill>
                  <a:srgbClr val="1E2B3A"/>
                </a:solidFill>
                <a:latin typeface="Calibri" pitchFamily="34" charset="0"/>
                <a:ea typeface="Calibri" pitchFamily="34" charset="-122"/>
                <a:cs typeface="Calibri" pitchFamily="34" charset="-120"/>
              </a:rPr>
              <a:t>How much have they spent?</a:t>
            </a:r>
            <a:endParaRPr lang="en-US" sz="1900" dirty="0"/>
          </a:p>
        </p:txBody>
      </p:sp>
      <p:sp>
        <p:nvSpPr>
          <p:cNvPr id="15" name="Text 10"/>
          <p:cNvSpPr txBox="1"/>
          <p:nvPr/>
        </p:nvSpPr>
        <p:spPr>
          <a:xfrm>
            <a:off x="1554480" y="4636008"/>
            <a:ext cx="3931920" cy="32004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Total spend, minus cancellations</a:t>
            </a:r>
            <a:endParaRPr lang="en-US" sz="1400" dirty="0"/>
          </a:p>
        </p:txBody>
      </p:sp>
      <p:sp>
        <p:nvSpPr>
          <p:cNvPr id="16" name="Shape 11"/>
          <p:cNvSpPr/>
          <p:nvPr/>
        </p:nvSpPr>
        <p:spPr>
          <a:xfrm>
            <a:off x="5623560" y="2788920"/>
            <a:ext cx="1188720" cy="640080"/>
          </a:xfrm>
          <a:prstGeom prst="rightArrow">
            <a:avLst/>
          </a:prstGeom>
          <a:solidFill>
            <a:srgbClr val="B8C0CB"/>
          </a:solidFill>
          <a:ln w="12700">
            <a:solidFill>
              <a:srgbClr val="B8C0CB"/>
            </a:solidFill>
            <a:prstDash val="solid"/>
          </a:ln>
        </p:spPr>
        <p:txBody>
          <a:bodyPr/>
          <a:lstStyle/>
          <a:p>
            <a:endParaRPr lang="en-CA"/>
          </a:p>
        </p:txBody>
      </p:sp>
      <p:sp>
        <p:nvSpPr>
          <p:cNvPr id="17" name="Text 12"/>
          <p:cNvSpPr txBox="1"/>
          <p:nvPr/>
        </p:nvSpPr>
        <p:spPr>
          <a:xfrm>
            <a:off x="5257800" y="3611880"/>
            <a:ext cx="1920240" cy="1463040"/>
          </a:xfrm>
          <a:prstGeom prst="rect">
            <a:avLst/>
          </a:prstGeom>
          <a:noFill/>
          <a:ln/>
        </p:spPr>
        <p:txBody>
          <a:bodyPr wrap="square" lIns="0" tIns="0" rIns="0" bIns="0" rtlCol="0" anchor="t"/>
          <a:lstStyle/>
          <a:p>
            <a:pPr marL="0" indent="0" algn="ctr">
              <a:buNone/>
            </a:pPr>
            <a:r>
              <a:rPr lang="en-US" sz="1200" dirty="0">
                <a:solidFill>
                  <a:srgbClr val="5B6675"/>
                </a:solidFill>
                <a:latin typeface="Calibri" pitchFamily="34" charset="0"/>
                <a:ea typeface="Calibri" pitchFamily="34" charset="-122"/>
                <a:cs typeface="Calibri" pitchFamily="34" charset="-120"/>
              </a:rPr>
              <a:t>Each answer is scored 1 to 4 compared with all other customers. Simple rules then place each customer in one of these five groups.</a:t>
            </a:r>
            <a:endParaRPr lang="en-US" sz="1200" dirty="0"/>
          </a:p>
        </p:txBody>
      </p:sp>
      <p:sp>
        <p:nvSpPr>
          <p:cNvPr id="18" name="Shape 13"/>
          <p:cNvSpPr/>
          <p:nvPr/>
        </p:nvSpPr>
        <p:spPr>
          <a:xfrm>
            <a:off x="7589520" y="1783080"/>
            <a:ext cx="4050792" cy="566928"/>
          </a:xfrm>
          <a:prstGeom prst="roundRect">
            <a:avLst>
              <a:gd name="adj" fmla="val 16129"/>
            </a:avLst>
          </a:prstGeom>
          <a:solidFill>
            <a:srgbClr val="1F7A5C"/>
          </a:solidFill>
          <a:ln w="12700">
            <a:solidFill>
              <a:srgbClr val="1F7A5C"/>
            </a:solidFill>
            <a:prstDash val="solid"/>
          </a:ln>
        </p:spPr>
        <p:txBody>
          <a:bodyPr/>
          <a:lstStyle/>
          <a:p>
            <a:endParaRPr lang="en-CA"/>
          </a:p>
        </p:txBody>
      </p:sp>
      <p:pic>
        <p:nvPicPr>
          <p:cNvPr id="19" name="Image 3" descr="preencoded.png"/>
          <p:cNvPicPr>
            <a:picLocks noChangeAspect="1"/>
          </p:cNvPicPr>
          <p:nvPr/>
        </p:nvPicPr>
        <p:blipFill>
          <a:blip r:embed="rId6"/>
          <a:stretch>
            <a:fillRect/>
          </a:stretch>
        </p:blipFill>
        <p:spPr>
          <a:xfrm>
            <a:off x="7772400" y="1911096"/>
            <a:ext cx="310896" cy="310896"/>
          </a:xfrm>
          <a:prstGeom prst="rect">
            <a:avLst/>
          </a:prstGeom>
        </p:spPr>
      </p:pic>
      <p:sp>
        <p:nvSpPr>
          <p:cNvPr id="20" name="Text 14"/>
          <p:cNvSpPr txBox="1"/>
          <p:nvPr/>
        </p:nvSpPr>
        <p:spPr>
          <a:xfrm>
            <a:off x="8275320" y="1783080"/>
            <a:ext cx="320040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Top Customers</a:t>
            </a:r>
            <a:endParaRPr lang="en-US" sz="1600" dirty="0"/>
          </a:p>
        </p:txBody>
      </p:sp>
      <p:sp>
        <p:nvSpPr>
          <p:cNvPr id="21" name="Shape 15"/>
          <p:cNvSpPr/>
          <p:nvPr/>
        </p:nvSpPr>
        <p:spPr>
          <a:xfrm>
            <a:off x="7589520" y="2514600"/>
            <a:ext cx="4050792" cy="566928"/>
          </a:xfrm>
          <a:prstGeom prst="roundRect">
            <a:avLst>
              <a:gd name="adj" fmla="val 16129"/>
            </a:avLst>
          </a:prstGeom>
          <a:solidFill>
            <a:srgbClr val="2E6FB0"/>
          </a:solidFill>
          <a:ln w="12700">
            <a:solidFill>
              <a:srgbClr val="2E6FB0"/>
            </a:solidFill>
            <a:prstDash val="solid"/>
          </a:ln>
        </p:spPr>
        <p:txBody>
          <a:bodyPr/>
          <a:lstStyle/>
          <a:p>
            <a:endParaRPr lang="en-CA"/>
          </a:p>
        </p:txBody>
      </p:sp>
      <p:pic>
        <p:nvPicPr>
          <p:cNvPr id="22" name="Image 4" descr="preencoded.png"/>
          <p:cNvPicPr>
            <a:picLocks noChangeAspect="1"/>
          </p:cNvPicPr>
          <p:nvPr/>
        </p:nvPicPr>
        <p:blipFill>
          <a:blip r:embed="rId7"/>
          <a:stretch>
            <a:fillRect/>
          </a:stretch>
        </p:blipFill>
        <p:spPr>
          <a:xfrm>
            <a:off x="7772400" y="2642616"/>
            <a:ext cx="310896" cy="310896"/>
          </a:xfrm>
          <a:prstGeom prst="rect">
            <a:avLst/>
          </a:prstGeom>
        </p:spPr>
      </p:pic>
      <p:sp>
        <p:nvSpPr>
          <p:cNvPr id="23" name="Text 16"/>
          <p:cNvSpPr txBox="1"/>
          <p:nvPr/>
        </p:nvSpPr>
        <p:spPr>
          <a:xfrm>
            <a:off x="8275320" y="2514600"/>
            <a:ext cx="320040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Steady Regulars</a:t>
            </a:r>
            <a:endParaRPr lang="en-US" sz="1600" dirty="0"/>
          </a:p>
        </p:txBody>
      </p:sp>
      <p:sp>
        <p:nvSpPr>
          <p:cNvPr id="24" name="Shape 17"/>
          <p:cNvSpPr/>
          <p:nvPr/>
        </p:nvSpPr>
        <p:spPr>
          <a:xfrm>
            <a:off x="7589520" y="3246120"/>
            <a:ext cx="4050792" cy="566928"/>
          </a:xfrm>
          <a:prstGeom prst="roundRect">
            <a:avLst>
              <a:gd name="adj" fmla="val 16129"/>
            </a:avLst>
          </a:prstGeom>
          <a:solidFill>
            <a:srgbClr val="C9820E"/>
          </a:solidFill>
          <a:ln w="12700">
            <a:solidFill>
              <a:srgbClr val="C9820E"/>
            </a:solidFill>
            <a:prstDash val="solid"/>
          </a:ln>
        </p:spPr>
        <p:txBody>
          <a:bodyPr/>
          <a:lstStyle/>
          <a:p>
            <a:endParaRPr lang="en-CA"/>
          </a:p>
        </p:txBody>
      </p:sp>
      <p:pic>
        <p:nvPicPr>
          <p:cNvPr id="25" name="Image 5" descr="preencoded.png"/>
          <p:cNvPicPr>
            <a:picLocks noChangeAspect="1"/>
          </p:cNvPicPr>
          <p:nvPr/>
        </p:nvPicPr>
        <p:blipFill>
          <a:blip r:embed="rId8"/>
          <a:stretch>
            <a:fillRect/>
          </a:stretch>
        </p:blipFill>
        <p:spPr>
          <a:xfrm>
            <a:off x="7772400" y="3374136"/>
            <a:ext cx="310896" cy="310896"/>
          </a:xfrm>
          <a:prstGeom prst="rect">
            <a:avLst/>
          </a:prstGeom>
        </p:spPr>
      </p:pic>
      <p:sp>
        <p:nvSpPr>
          <p:cNvPr id="26" name="Text 18"/>
          <p:cNvSpPr txBox="1"/>
          <p:nvPr/>
        </p:nvSpPr>
        <p:spPr>
          <a:xfrm>
            <a:off x="8275320" y="3246120"/>
            <a:ext cx="320040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New Starters</a:t>
            </a:r>
            <a:endParaRPr lang="en-US" sz="1600" dirty="0"/>
          </a:p>
        </p:txBody>
      </p:sp>
      <p:sp>
        <p:nvSpPr>
          <p:cNvPr id="27" name="Shape 19"/>
          <p:cNvSpPr/>
          <p:nvPr/>
        </p:nvSpPr>
        <p:spPr>
          <a:xfrm>
            <a:off x="7589520" y="3977640"/>
            <a:ext cx="4050792" cy="566928"/>
          </a:xfrm>
          <a:prstGeom prst="roundRect">
            <a:avLst>
              <a:gd name="adj" fmla="val 16129"/>
            </a:avLst>
          </a:prstGeom>
          <a:solidFill>
            <a:srgbClr val="C0404A"/>
          </a:solidFill>
          <a:ln w="12700">
            <a:solidFill>
              <a:srgbClr val="C0404A"/>
            </a:solidFill>
            <a:prstDash val="solid"/>
          </a:ln>
        </p:spPr>
        <p:txBody>
          <a:bodyPr/>
          <a:lstStyle/>
          <a:p>
            <a:endParaRPr lang="en-CA"/>
          </a:p>
        </p:txBody>
      </p:sp>
      <p:pic>
        <p:nvPicPr>
          <p:cNvPr id="28" name="Image 6" descr="preencoded.png"/>
          <p:cNvPicPr>
            <a:picLocks noChangeAspect="1"/>
          </p:cNvPicPr>
          <p:nvPr/>
        </p:nvPicPr>
        <p:blipFill>
          <a:blip r:embed="rId9"/>
          <a:stretch>
            <a:fillRect/>
          </a:stretch>
        </p:blipFill>
        <p:spPr>
          <a:xfrm>
            <a:off x="7772400" y="4105656"/>
            <a:ext cx="310896" cy="310896"/>
          </a:xfrm>
          <a:prstGeom prst="rect">
            <a:avLst/>
          </a:prstGeom>
        </p:spPr>
      </p:pic>
      <p:sp>
        <p:nvSpPr>
          <p:cNvPr id="29" name="Text 20"/>
          <p:cNvSpPr txBox="1"/>
          <p:nvPr/>
        </p:nvSpPr>
        <p:spPr>
          <a:xfrm>
            <a:off x="8275320" y="3977640"/>
            <a:ext cx="320040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Fading Big Spenders</a:t>
            </a:r>
            <a:endParaRPr lang="en-US" sz="1600" dirty="0"/>
          </a:p>
        </p:txBody>
      </p:sp>
      <p:sp>
        <p:nvSpPr>
          <p:cNvPr id="30" name="Shape 21"/>
          <p:cNvSpPr/>
          <p:nvPr/>
        </p:nvSpPr>
        <p:spPr>
          <a:xfrm>
            <a:off x="7589520" y="4709160"/>
            <a:ext cx="4050792" cy="566928"/>
          </a:xfrm>
          <a:prstGeom prst="roundRect">
            <a:avLst>
              <a:gd name="adj" fmla="val 16129"/>
            </a:avLst>
          </a:prstGeom>
          <a:solidFill>
            <a:srgbClr val="7F8691"/>
          </a:solidFill>
          <a:ln w="12700">
            <a:solidFill>
              <a:srgbClr val="7F8691"/>
            </a:solidFill>
            <a:prstDash val="solid"/>
          </a:ln>
        </p:spPr>
        <p:txBody>
          <a:bodyPr/>
          <a:lstStyle/>
          <a:p>
            <a:endParaRPr lang="en-CA"/>
          </a:p>
        </p:txBody>
      </p:sp>
      <p:pic>
        <p:nvPicPr>
          <p:cNvPr id="31" name="Image 7" descr="preencoded.png"/>
          <p:cNvPicPr>
            <a:picLocks noChangeAspect="1"/>
          </p:cNvPicPr>
          <p:nvPr/>
        </p:nvPicPr>
        <p:blipFill>
          <a:blip r:embed="rId10"/>
          <a:stretch>
            <a:fillRect/>
          </a:stretch>
        </p:blipFill>
        <p:spPr>
          <a:xfrm>
            <a:off x="7772400" y="4837176"/>
            <a:ext cx="310896" cy="310896"/>
          </a:xfrm>
          <a:prstGeom prst="rect">
            <a:avLst/>
          </a:prstGeom>
        </p:spPr>
      </p:pic>
      <p:sp>
        <p:nvSpPr>
          <p:cNvPr id="32" name="Text 22"/>
          <p:cNvSpPr txBox="1"/>
          <p:nvPr/>
        </p:nvSpPr>
        <p:spPr>
          <a:xfrm>
            <a:off x="8275320" y="4709160"/>
            <a:ext cx="320040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Gone Quiet</a:t>
            </a:r>
            <a:endParaRPr lang="en-US" sz="1600" dirty="0"/>
          </a:p>
        </p:txBody>
      </p:sp>
      <p:sp>
        <p:nvSpPr>
          <p:cNvPr id="34"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THE FIVE GROUPS</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Meet the five customer groups</a:t>
            </a:r>
            <a:endParaRPr lang="en-US" sz="2600" dirty="0"/>
          </a:p>
        </p:txBody>
      </p:sp>
      <p:sp>
        <p:nvSpPr>
          <p:cNvPr id="4" name="Shape 2"/>
          <p:cNvSpPr/>
          <p:nvPr/>
        </p:nvSpPr>
        <p:spPr>
          <a:xfrm>
            <a:off x="548640" y="1600200"/>
            <a:ext cx="2036003" cy="3840480"/>
          </a:xfrm>
          <a:prstGeom prst="roundRect">
            <a:avLst>
              <a:gd name="adj" fmla="val 4491"/>
            </a:avLst>
          </a:prstGeom>
          <a:solidFill>
            <a:srgbClr val="E6F2ED"/>
          </a:solidFill>
          <a:ln w="12700">
            <a:solidFill>
              <a:srgbClr val="E6F2ED"/>
            </a:solidFill>
            <a:prstDash val="solid"/>
          </a:ln>
        </p:spPr>
        <p:txBody>
          <a:bodyPr/>
          <a:lstStyle/>
          <a:p>
            <a:endParaRPr lang="en-CA"/>
          </a:p>
        </p:txBody>
      </p:sp>
      <p:sp>
        <p:nvSpPr>
          <p:cNvPr id="5" name="Shape 3"/>
          <p:cNvSpPr/>
          <p:nvPr/>
        </p:nvSpPr>
        <p:spPr>
          <a:xfrm>
            <a:off x="777240" y="1810512"/>
            <a:ext cx="685800" cy="685800"/>
          </a:xfrm>
          <a:prstGeom prst="ellipse">
            <a:avLst/>
          </a:prstGeom>
          <a:solidFill>
            <a:srgbClr val="1F7A5C"/>
          </a:solidFill>
          <a:ln w="12700">
            <a:solidFill>
              <a:srgbClr val="1F7A5C"/>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48690" y="1981962"/>
            <a:ext cx="342900" cy="342900"/>
          </a:xfrm>
          <a:prstGeom prst="rect">
            <a:avLst/>
          </a:prstGeom>
        </p:spPr>
      </p:pic>
      <p:sp>
        <p:nvSpPr>
          <p:cNvPr id="7" name="Text 4"/>
          <p:cNvSpPr txBox="1"/>
          <p:nvPr/>
        </p:nvSpPr>
        <p:spPr>
          <a:xfrm>
            <a:off x="777240" y="2606040"/>
            <a:ext cx="1670243" cy="640080"/>
          </a:xfrm>
          <a:prstGeom prst="rect">
            <a:avLst/>
          </a:prstGeom>
          <a:noFill/>
          <a:ln/>
        </p:spPr>
        <p:txBody>
          <a:bodyPr wrap="square" lIns="0" tIns="0" rIns="0" bIns="0" rtlCol="0" anchor="t"/>
          <a:lstStyle/>
          <a:p>
            <a:pPr marL="0" indent="0">
              <a:buNone/>
            </a:pPr>
            <a:r>
              <a:rPr lang="en-US" sz="1700" b="1" dirty="0">
                <a:solidFill>
                  <a:srgbClr val="1F7A5C"/>
                </a:solidFill>
                <a:latin typeface="Calibri" pitchFamily="34" charset="0"/>
                <a:ea typeface="Calibri" pitchFamily="34" charset="-122"/>
                <a:cs typeface="Calibri" pitchFamily="34" charset="-120"/>
              </a:rPr>
              <a:t>Top Customers</a:t>
            </a:r>
            <a:endParaRPr lang="en-US" sz="1700" dirty="0"/>
          </a:p>
        </p:txBody>
      </p:sp>
      <p:sp>
        <p:nvSpPr>
          <p:cNvPr id="8" name="Text 5"/>
          <p:cNvSpPr txBox="1"/>
          <p:nvPr/>
        </p:nvSpPr>
        <p:spPr>
          <a:xfrm>
            <a:off x="777240" y="3246120"/>
            <a:ext cx="1624523" cy="91440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Order often, spend the most, and bought in the last few weeks</a:t>
            </a:r>
            <a:endParaRPr lang="en-US" sz="1250" dirty="0"/>
          </a:p>
        </p:txBody>
      </p:sp>
      <p:sp>
        <p:nvSpPr>
          <p:cNvPr id="9" name="Text 6"/>
          <p:cNvSpPr txBox="1"/>
          <p:nvPr/>
        </p:nvSpPr>
        <p:spPr>
          <a:xfrm>
            <a:off x="777240" y="4206240"/>
            <a:ext cx="914400" cy="502920"/>
          </a:xfrm>
          <a:prstGeom prst="rect">
            <a:avLst/>
          </a:prstGeom>
          <a:noFill/>
          <a:ln/>
        </p:spPr>
        <p:txBody>
          <a:bodyPr wrap="square" lIns="0" tIns="0" rIns="0" bIns="0" rtlCol="0" anchor="t"/>
          <a:lstStyle/>
          <a:p>
            <a:pPr marL="0" indent="0">
              <a:buNone/>
            </a:pPr>
            <a:r>
              <a:rPr lang="en-US" sz="2600" b="1" dirty="0">
                <a:solidFill>
                  <a:srgbClr val="1F7A5C"/>
                </a:solidFill>
                <a:latin typeface="Cambria" pitchFamily="34" charset="0"/>
                <a:ea typeface="Cambria" pitchFamily="34" charset="-122"/>
                <a:cs typeface="Cambria" pitchFamily="34" charset="-120"/>
              </a:rPr>
              <a:t>15%</a:t>
            </a:r>
            <a:endParaRPr lang="en-US" sz="2600" dirty="0"/>
          </a:p>
        </p:txBody>
      </p:sp>
      <p:sp>
        <p:nvSpPr>
          <p:cNvPr id="10" name="Text 7"/>
          <p:cNvSpPr txBox="1"/>
          <p:nvPr/>
        </p:nvSpPr>
        <p:spPr>
          <a:xfrm>
            <a:off x="777240" y="4709160"/>
            <a:ext cx="914400" cy="5029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customers</a:t>
            </a:r>
            <a:endParaRPr lang="en-US" sz="1100" dirty="0"/>
          </a:p>
        </p:txBody>
      </p:sp>
      <p:sp>
        <p:nvSpPr>
          <p:cNvPr id="11" name="Text 8"/>
          <p:cNvSpPr txBox="1"/>
          <p:nvPr/>
        </p:nvSpPr>
        <p:spPr>
          <a:xfrm>
            <a:off x="1645920" y="4206240"/>
            <a:ext cx="9144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60%</a:t>
            </a:r>
            <a:endParaRPr lang="en-US" sz="2600" dirty="0"/>
          </a:p>
        </p:txBody>
      </p:sp>
      <p:sp>
        <p:nvSpPr>
          <p:cNvPr id="12" name="Text 9"/>
          <p:cNvSpPr txBox="1"/>
          <p:nvPr/>
        </p:nvSpPr>
        <p:spPr>
          <a:xfrm>
            <a:off x="1645920" y="4709160"/>
            <a:ext cx="914400" cy="5029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spend</a:t>
            </a:r>
            <a:endParaRPr lang="en-US" sz="1100" dirty="0"/>
          </a:p>
        </p:txBody>
      </p:sp>
      <p:sp>
        <p:nvSpPr>
          <p:cNvPr id="13" name="Shape 10"/>
          <p:cNvSpPr/>
          <p:nvPr/>
        </p:nvSpPr>
        <p:spPr>
          <a:xfrm>
            <a:off x="2813243" y="1600200"/>
            <a:ext cx="2036003" cy="3840480"/>
          </a:xfrm>
          <a:prstGeom prst="roundRect">
            <a:avLst>
              <a:gd name="adj" fmla="val 4491"/>
            </a:avLst>
          </a:prstGeom>
          <a:solidFill>
            <a:srgbClr val="E7EFF8"/>
          </a:solidFill>
          <a:ln w="12700">
            <a:solidFill>
              <a:srgbClr val="E7EFF8"/>
            </a:solidFill>
            <a:prstDash val="solid"/>
          </a:ln>
        </p:spPr>
        <p:txBody>
          <a:bodyPr/>
          <a:lstStyle/>
          <a:p>
            <a:endParaRPr lang="en-CA"/>
          </a:p>
        </p:txBody>
      </p:sp>
      <p:sp>
        <p:nvSpPr>
          <p:cNvPr id="14" name="Shape 11"/>
          <p:cNvSpPr/>
          <p:nvPr/>
        </p:nvSpPr>
        <p:spPr>
          <a:xfrm>
            <a:off x="3041843" y="1810512"/>
            <a:ext cx="685800" cy="685800"/>
          </a:xfrm>
          <a:prstGeom prst="ellipse">
            <a:avLst/>
          </a:prstGeom>
          <a:solidFill>
            <a:srgbClr val="2E6FB0"/>
          </a:solidFill>
          <a:ln w="12700">
            <a:solidFill>
              <a:srgbClr val="2E6FB0"/>
            </a:solidFill>
            <a:prstDash val="solid"/>
          </a:ln>
        </p:spPr>
        <p:txBody>
          <a:bodyPr/>
          <a:lstStyle/>
          <a:p>
            <a:endParaRPr lang="en-CA"/>
          </a:p>
        </p:txBody>
      </p:sp>
      <p:pic>
        <p:nvPicPr>
          <p:cNvPr id="15" name="Image 1" descr="preencoded.png"/>
          <p:cNvPicPr>
            <a:picLocks noChangeAspect="1"/>
          </p:cNvPicPr>
          <p:nvPr/>
        </p:nvPicPr>
        <p:blipFill>
          <a:blip r:embed="rId4"/>
          <a:stretch>
            <a:fillRect/>
          </a:stretch>
        </p:blipFill>
        <p:spPr>
          <a:xfrm>
            <a:off x="3213293" y="1981962"/>
            <a:ext cx="342900" cy="342900"/>
          </a:xfrm>
          <a:prstGeom prst="rect">
            <a:avLst/>
          </a:prstGeom>
        </p:spPr>
      </p:pic>
      <p:sp>
        <p:nvSpPr>
          <p:cNvPr id="16" name="Text 12"/>
          <p:cNvSpPr txBox="1"/>
          <p:nvPr/>
        </p:nvSpPr>
        <p:spPr>
          <a:xfrm>
            <a:off x="3041843" y="2606040"/>
            <a:ext cx="1670243" cy="640080"/>
          </a:xfrm>
          <a:prstGeom prst="rect">
            <a:avLst/>
          </a:prstGeom>
          <a:noFill/>
          <a:ln/>
        </p:spPr>
        <p:txBody>
          <a:bodyPr wrap="square" lIns="0" tIns="0" rIns="0" bIns="0" rtlCol="0" anchor="t"/>
          <a:lstStyle/>
          <a:p>
            <a:pPr marL="0" indent="0">
              <a:buNone/>
            </a:pPr>
            <a:r>
              <a:rPr lang="en-US" sz="1700" b="1" dirty="0">
                <a:solidFill>
                  <a:srgbClr val="2E6FB0"/>
                </a:solidFill>
                <a:latin typeface="Calibri" pitchFamily="34" charset="0"/>
                <a:ea typeface="Calibri" pitchFamily="34" charset="-122"/>
                <a:cs typeface="Calibri" pitchFamily="34" charset="-120"/>
              </a:rPr>
              <a:t>Steady Regulars</a:t>
            </a:r>
            <a:endParaRPr lang="en-US" sz="1700" dirty="0"/>
          </a:p>
        </p:txBody>
      </p:sp>
      <p:sp>
        <p:nvSpPr>
          <p:cNvPr id="17" name="Text 13"/>
          <p:cNvSpPr txBox="1"/>
          <p:nvPr/>
        </p:nvSpPr>
        <p:spPr>
          <a:xfrm>
            <a:off x="3041843" y="3246120"/>
            <a:ext cx="1624523" cy="91440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Order regularly with solid spend, like a smaller version of Top Customers</a:t>
            </a:r>
            <a:endParaRPr lang="en-US" sz="1250" dirty="0"/>
          </a:p>
        </p:txBody>
      </p:sp>
      <p:sp>
        <p:nvSpPr>
          <p:cNvPr id="18" name="Text 14"/>
          <p:cNvSpPr txBox="1"/>
          <p:nvPr/>
        </p:nvSpPr>
        <p:spPr>
          <a:xfrm>
            <a:off x="3041843" y="4206240"/>
            <a:ext cx="914400" cy="502920"/>
          </a:xfrm>
          <a:prstGeom prst="rect">
            <a:avLst/>
          </a:prstGeom>
          <a:noFill/>
          <a:ln/>
        </p:spPr>
        <p:txBody>
          <a:bodyPr wrap="square" lIns="0" tIns="0" rIns="0" bIns="0" rtlCol="0" anchor="t"/>
          <a:lstStyle/>
          <a:p>
            <a:pPr marL="0" indent="0">
              <a:buNone/>
            </a:pPr>
            <a:r>
              <a:rPr lang="en-US" sz="2600" b="1" dirty="0">
                <a:solidFill>
                  <a:srgbClr val="2E6FB0"/>
                </a:solidFill>
                <a:latin typeface="Cambria" pitchFamily="34" charset="0"/>
                <a:ea typeface="Cambria" pitchFamily="34" charset="-122"/>
                <a:cs typeface="Cambria" pitchFamily="34" charset="-120"/>
              </a:rPr>
              <a:t>21%</a:t>
            </a:r>
            <a:endParaRPr lang="en-US" sz="2600" dirty="0"/>
          </a:p>
        </p:txBody>
      </p:sp>
      <p:sp>
        <p:nvSpPr>
          <p:cNvPr id="19" name="Text 15"/>
          <p:cNvSpPr txBox="1"/>
          <p:nvPr/>
        </p:nvSpPr>
        <p:spPr>
          <a:xfrm>
            <a:off x="3041843" y="4709160"/>
            <a:ext cx="914400" cy="5029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customers</a:t>
            </a:r>
            <a:endParaRPr lang="en-US" sz="1100" dirty="0"/>
          </a:p>
        </p:txBody>
      </p:sp>
      <p:sp>
        <p:nvSpPr>
          <p:cNvPr id="20" name="Text 16"/>
          <p:cNvSpPr txBox="1"/>
          <p:nvPr/>
        </p:nvSpPr>
        <p:spPr>
          <a:xfrm>
            <a:off x="3910523" y="4206240"/>
            <a:ext cx="9144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20%</a:t>
            </a:r>
            <a:endParaRPr lang="en-US" sz="2600" dirty="0"/>
          </a:p>
        </p:txBody>
      </p:sp>
      <p:sp>
        <p:nvSpPr>
          <p:cNvPr id="21" name="Text 17"/>
          <p:cNvSpPr txBox="1"/>
          <p:nvPr/>
        </p:nvSpPr>
        <p:spPr>
          <a:xfrm>
            <a:off x="3910523" y="4709160"/>
            <a:ext cx="914400" cy="5029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spend</a:t>
            </a:r>
            <a:endParaRPr lang="en-US" sz="1100" dirty="0"/>
          </a:p>
        </p:txBody>
      </p:sp>
      <p:sp>
        <p:nvSpPr>
          <p:cNvPr id="22" name="Shape 18"/>
          <p:cNvSpPr/>
          <p:nvPr/>
        </p:nvSpPr>
        <p:spPr>
          <a:xfrm>
            <a:off x="5077846" y="1600200"/>
            <a:ext cx="2036003" cy="3840480"/>
          </a:xfrm>
          <a:prstGeom prst="roundRect">
            <a:avLst>
              <a:gd name="adj" fmla="val 4491"/>
            </a:avLst>
          </a:prstGeom>
          <a:solidFill>
            <a:srgbClr val="FBF1E0"/>
          </a:solidFill>
          <a:ln w="12700">
            <a:solidFill>
              <a:srgbClr val="FBF1E0"/>
            </a:solidFill>
            <a:prstDash val="solid"/>
          </a:ln>
        </p:spPr>
        <p:txBody>
          <a:bodyPr/>
          <a:lstStyle/>
          <a:p>
            <a:endParaRPr lang="en-CA"/>
          </a:p>
        </p:txBody>
      </p:sp>
      <p:sp>
        <p:nvSpPr>
          <p:cNvPr id="23" name="Shape 19"/>
          <p:cNvSpPr/>
          <p:nvPr/>
        </p:nvSpPr>
        <p:spPr>
          <a:xfrm>
            <a:off x="5306446" y="1810512"/>
            <a:ext cx="685800" cy="685800"/>
          </a:xfrm>
          <a:prstGeom prst="ellipse">
            <a:avLst/>
          </a:prstGeom>
          <a:solidFill>
            <a:srgbClr val="C9820E"/>
          </a:solidFill>
          <a:ln w="12700">
            <a:solidFill>
              <a:srgbClr val="C9820E"/>
            </a:solidFill>
            <a:prstDash val="solid"/>
          </a:ln>
        </p:spPr>
        <p:txBody>
          <a:bodyPr/>
          <a:lstStyle/>
          <a:p>
            <a:endParaRPr lang="en-CA"/>
          </a:p>
        </p:txBody>
      </p:sp>
      <p:pic>
        <p:nvPicPr>
          <p:cNvPr id="24" name="Image 2" descr="preencoded.png"/>
          <p:cNvPicPr>
            <a:picLocks noChangeAspect="1"/>
          </p:cNvPicPr>
          <p:nvPr/>
        </p:nvPicPr>
        <p:blipFill>
          <a:blip r:embed="rId5"/>
          <a:stretch>
            <a:fillRect/>
          </a:stretch>
        </p:blipFill>
        <p:spPr>
          <a:xfrm>
            <a:off x="5477896" y="1981962"/>
            <a:ext cx="342900" cy="342900"/>
          </a:xfrm>
          <a:prstGeom prst="rect">
            <a:avLst/>
          </a:prstGeom>
        </p:spPr>
      </p:pic>
      <p:sp>
        <p:nvSpPr>
          <p:cNvPr id="25" name="Text 20"/>
          <p:cNvSpPr txBox="1"/>
          <p:nvPr/>
        </p:nvSpPr>
        <p:spPr>
          <a:xfrm>
            <a:off x="5306446" y="2606040"/>
            <a:ext cx="1670243" cy="640080"/>
          </a:xfrm>
          <a:prstGeom prst="rect">
            <a:avLst/>
          </a:prstGeom>
          <a:noFill/>
          <a:ln/>
        </p:spPr>
        <p:txBody>
          <a:bodyPr wrap="square" lIns="0" tIns="0" rIns="0" bIns="0" rtlCol="0" anchor="t"/>
          <a:lstStyle/>
          <a:p>
            <a:pPr marL="0" indent="0">
              <a:buNone/>
            </a:pPr>
            <a:r>
              <a:rPr lang="en-US" sz="1700" b="1" dirty="0">
                <a:solidFill>
                  <a:srgbClr val="C9820E"/>
                </a:solidFill>
                <a:latin typeface="Calibri" pitchFamily="34" charset="0"/>
                <a:ea typeface="Calibri" pitchFamily="34" charset="-122"/>
                <a:cs typeface="Calibri" pitchFamily="34" charset="-120"/>
              </a:rPr>
              <a:t>New Starters</a:t>
            </a:r>
            <a:endParaRPr lang="en-US" sz="1700" dirty="0"/>
          </a:p>
        </p:txBody>
      </p:sp>
      <p:sp>
        <p:nvSpPr>
          <p:cNvPr id="26" name="Text 21"/>
          <p:cNvSpPr txBox="1"/>
          <p:nvPr/>
        </p:nvSpPr>
        <p:spPr>
          <a:xfrm>
            <a:off x="5306446" y="3246120"/>
            <a:ext cx="1624523" cy="91440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Recent buyers with only one or two orders so far</a:t>
            </a:r>
            <a:endParaRPr lang="en-US" sz="1250" dirty="0"/>
          </a:p>
        </p:txBody>
      </p:sp>
      <p:sp>
        <p:nvSpPr>
          <p:cNvPr id="27" name="Text 22"/>
          <p:cNvSpPr txBox="1"/>
          <p:nvPr/>
        </p:nvSpPr>
        <p:spPr>
          <a:xfrm>
            <a:off x="5306446" y="4206240"/>
            <a:ext cx="914400" cy="502920"/>
          </a:xfrm>
          <a:prstGeom prst="rect">
            <a:avLst/>
          </a:prstGeom>
          <a:noFill/>
          <a:ln/>
        </p:spPr>
        <p:txBody>
          <a:bodyPr wrap="square" lIns="0" tIns="0" rIns="0" bIns="0" rtlCol="0" anchor="t"/>
          <a:lstStyle/>
          <a:p>
            <a:pPr marL="0" indent="0">
              <a:buNone/>
            </a:pPr>
            <a:r>
              <a:rPr lang="en-US" sz="2600" b="1" dirty="0">
                <a:solidFill>
                  <a:srgbClr val="C9820E"/>
                </a:solidFill>
                <a:latin typeface="Cambria" pitchFamily="34" charset="0"/>
                <a:ea typeface="Cambria" pitchFamily="34" charset="-122"/>
                <a:cs typeface="Cambria" pitchFamily="34" charset="-120"/>
              </a:rPr>
              <a:t>14%</a:t>
            </a:r>
            <a:endParaRPr lang="en-US" sz="2600" dirty="0"/>
          </a:p>
        </p:txBody>
      </p:sp>
      <p:sp>
        <p:nvSpPr>
          <p:cNvPr id="28" name="Text 23"/>
          <p:cNvSpPr txBox="1"/>
          <p:nvPr/>
        </p:nvSpPr>
        <p:spPr>
          <a:xfrm>
            <a:off x="5306446" y="4709160"/>
            <a:ext cx="914400" cy="5029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customers</a:t>
            </a:r>
            <a:endParaRPr lang="en-US" sz="1100" dirty="0"/>
          </a:p>
        </p:txBody>
      </p:sp>
      <p:sp>
        <p:nvSpPr>
          <p:cNvPr id="29" name="Text 24"/>
          <p:cNvSpPr txBox="1"/>
          <p:nvPr/>
        </p:nvSpPr>
        <p:spPr>
          <a:xfrm>
            <a:off x="6175126" y="4206240"/>
            <a:ext cx="9144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2%</a:t>
            </a:r>
            <a:endParaRPr lang="en-US" sz="2600" dirty="0"/>
          </a:p>
        </p:txBody>
      </p:sp>
      <p:sp>
        <p:nvSpPr>
          <p:cNvPr id="30" name="Text 25"/>
          <p:cNvSpPr txBox="1"/>
          <p:nvPr/>
        </p:nvSpPr>
        <p:spPr>
          <a:xfrm>
            <a:off x="6175126" y="4709160"/>
            <a:ext cx="914400" cy="5029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spend</a:t>
            </a:r>
            <a:endParaRPr lang="en-US" sz="1100" dirty="0"/>
          </a:p>
        </p:txBody>
      </p:sp>
      <p:sp>
        <p:nvSpPr>
          <p:cNvPr id="31" name="Shape 26"/>
          <p:cNvSpPr/>
          <p:nvPr/>
        </p:nvSpPr>
        <p:spPr>
          <a:xfrm>
            <a:off x="7342449" y="1600200"/>
            <a:ext cx="2036003" cy="3840480"/>
          </a:xfrm>
          <a:prstGeom prst="roundRect">
            <a:avLst>
              <a:gd name="adj" fmla="val 4491"/>
            </a:avLst>
          </a:prstGeom>
          <a:solidFill>
            <a:srgbClr val="F8E6E7"/>
          </a:solidFill>
          <a:ln w="12700">
            <a:solidFill>
              <a:srgbClr val="F8E6E7"/>
            </a:solidFill>
            <a:prstDash val="solid"/>
          </a:ln>
        </p:spPr>
        <p:txBody>
          <a:bodyPr/>
          <a:lstStyle/>
          <a:p>
            <a:endParaRPr lang="en-CA"/>
          </a:p>
        </p:txBody>
      </p:sp>
      <p:sp>
        <p:nvSpPr>
          <p:cNvPr id="32" name="Shape 27"/>
          <p:cNvSpPr/>
          <p:nvPr/>
        </p:nvSpPr>
        <p:spPr>
          <a:xfrm>
            <a:off x="7571049" y="1810512"/>
            <a:ext cx="685800" cy="685800"/>
          </a:xfrm>
          <a:prstGeom prst="ellipse">
            <a:avLst/>
          </a:prstGeom>
          <a:solidFill>
            <a:srgbClr val="C0404A"/>
          </a:solidFill>
          <a:ln w="12700">
            <a:solidFill>
              <a:srgbClr val="C0404A"/>
            </a:solidFill>
            <a:prstDash val="solid"/>
          </a:ln>
        </p:spPr>
        <p:txBody>
          <a:bodyPr/>
          <a:lstStyle/>
          <a:p>
            <a:endParaRPr lang="en-CA"/>
          </a:p>
        </p:txBody>
      </p:sp>
      <p:pic>
        <p:nvPicPr>
          <p:cNvPr id="33" name="Image 3" descr="preencoded.png"/>
          <p:cNvPicPr>
            <a:picLocks noChangeAspect="1"/>
          </p:cNvPicPr>
          <p:nvPr/>
        </p:nvPicPr>
        <p:blipFill>
          <a:blip r:embed="rId6"/>
          <a:stretch>
            <a:fillRect/>
          </a:stretch>
        </p:blipFill>
        <p:spPr>
          <a:xfrm>
            <a:off x="7742499" y="1981962"/>
            <a:ext cx="342900" cy="342900"/>
          </a:xfrm>
          <a:prstGeom prst="rect">
            <a:avLst/>
          </a:prstGeom>
        </p:spPr>
      </p:pic>
      <p:sp>
        <p:nvSpPr>
          <p:cNvPr id="34" name="Text 28"/>
          <p:cNvSpPr txBox="1"/>
          <p:nvPr/>
        </p:nvSpPr>
        <p:spPr>
          <a:xfrm>
            <a:off x="7571049" y="2606040"/>
            <a:ext cx="1670243" cy="640080"/>
          </a:xfrm>
          <a:prstGeom prst="rect">
            <a:avLst/>
          </a:prstGeom>
          <a:noFill/>
          <a:ln/>
        </p:spPr>
        <p:txBody>
          <a:bodyPr wrap="square" lIns="0" tIns="0" rIns="0" bIns="0" rtlCol="0" anchor="t"/>
          <a:lstStyle/>
          <a:p>
            <a:pPr marL="0" indent="0">
              <a:buNone/>
            </a:pPr>
            <a:r>
              <a:rPr lang="en-US" sz="1700" b="1" dirty="0">
                <a:solidFill>
                  <a:srgbClr val="C0404A"/>
                </a:solidFill>
                <a:latin typeface="Calibri" pitchFamily="34" charset="0"/>
                <a:ea typeface="Calibri" pitchFamily="34" charset="-122"/>
                <a:cs typeface="Calibri" pitchFamily="34" charset="-120"/>
              </a:rPr>
              <a:t>Fading Big Spenders</a:t>
            </a:r>
            <a:endParaRPr lang="en-US" sz="1700" dirty="0"/>
          </a:p>
        </p:txBody>
      </p:sp>
      <p:sp>
        <p:nvSpPr>
          <p:cNvPr id="35" name="Text 29"/>
          <p:cNvSpPr txBox="1"/>
          <p:nvPr/>
        </p:nvSpPr>
        <p:spPr>
          <a:xfrm>
            <a:off x="7571049" y="3246120"/>
            <a:ext cx="1624523" cy="91440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Used to order often and spend well, but no order for about 9 months</a:t>
            </a:r>
            <a:endParaRPr lang="en-US" sz="1250" dirty="0"/>
          </a:p>
        </p:txBody>
      </p:sp>
      <p:sp>
        <p:nvSpPr>
          <p:cNvPr id="36" name="Text 30"/>
          <p:cNvSpPr txBox="1"/>
          <p:nvPr/>
        </p:nvSpPr>
        <p:spPr>
          <a:xfrm>
            <a:off x="7571049" y="4206240"/>
            <a:ext cx="914400" cy="502920"/>
          </a:xfrm>
          <a:prstGeom prst="rect">
            <a:avLst/>
          </a:prstGeom>
          <a:noFill/>
          <a:ln/>
        </p:spPr>
        <p:txBody>
          <a:bodyPr wrap="square" lIns="0" tIns="0" rIns="0" bIns="0" rtlCol="0" anchor="t"/>
          <a:lstStyle/>
          <a:p>
            <a:pPr marL="0" indent="0">
              <a:buNone/>
            </a:pPr>
            <a:r>
              <a:rPr lang="en-US" sz="2600" b="1" dirty="0">
                <a:solidFill>
                  <a:srgbClr val="C0404A"/>
                </a:solidFill>
                <a:latin typeface="Cambria" pitchFamily="34" charset="0"/>
                <a:ea typeface="Cambria" pitchFamily="34" charset="-122"/>
                <a:cs typeface="Cambria" pitchFamily="34" charset="-120"/>
              </a:rPr>
              <a:t>9%</a:t>
            </a:r>
            <a:endParaRPr lang="en-US" sz="2600" dirty="0"/>
          </a:p>
        </p:txBody>
      </p:sp>
      <p:sp>
        <p:nvSpPr>
          <p:cNvPr id="37" name="Text 31"/>
          <p:cNvSpPr txBox="1"/>
          <p:nvPr/>
        </p:nvSpPr>
        <p:spPr>
          <a:xfrm>
            <a:off x="7571049" y="4709160"/>
            <a:ext cx="914400" cy="5029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customers</a:t>
            </a:r>
            <a:endParaRPr lang="en-US" sz="1100" dirty="0"/>
          </a:p>
        </p:txBody>
      </p:sp>
      <p:sp>
        <p:nvSpPr>
          <p:cNvPr id="38" name="Text 32"/>
          <p:cNvSpPr txBox="1"/>
          <p:nvPr/>
        </p:nvSpPr>
        <p:spPr>
          <a:xfrm>
            <a:off x="8439729" y="4206240"/>
            <a:ext cx="9144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11%</a:t>
            </a:r>
            <a:endParaRPr lang="en-US" sz="2600" dirty="0"/>
          </a:p>
        </p:txBody>
      </p:sp>
      <p:sp>
        <p:nvSpPr>
          <p:cNvPr id="39" name="Text 33"/>
          <p:cNvSpPr txBox="1"/>
          <p:nvPr/>
        </p:nvSpPr>
        <p:spPr>
          <a:xfrm>
            <a:off x="8439729" y="4709160"/>
            <a:ext cx="914400" cy="5029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spend</a:t>
            </a:r>
            <a:endParaRPr lang="en-US" sz="1100" dirty="0"/>
          </a:p>
        </p:txBody>
      </p:sp>
      <p:sp>
        <p:nvSpPr>
          <p:cNvPr id="40" name="Shape 34"/>
          <p:cNvSpPr/>
          <p:nvPr/>
        </p:nvSpPr>
        <p:spPr>
          <a:xfrm>
            <a:off x="9607052" y="1600200"/>
            <a:ext cx="2036003" cy="3840480"/>
          </a:xfrm>
          <a:prstGeom prst="roundRect">
            <a:avLst>
              <a:gd name="adj" fmla="val 4491"/>
            </a:avLst>
          </a:prstGeom>
          <a:solidFill>
            <a:srgbClr val="EEEFF1"/>
          </a:solidFill>
          <a:ln w="12700">
            <a:solidFill>
              <a:srgbClr val="EEEFF1"/>
            </a:solidFill>
            <a:prstDash val="solid"/>
          </a:ln>
        </p:spPr>
        <p:txBody>
          <a:bodyPr/>
          <a:lstStyle/>
          <a:p>
            <a:endParaRPr lang="en-CA"/>
          </a:p>
        </p:txBody>
      </p:sp>
      <p:sp>
        <p:nvSpPr>
          <p:cNvPr id="41" name="Shape 35"/>
          <p:cNvSpPr/>
          <p:nvPr/>
        </p:nvSpPr>
        <p:spPr>
          <a:xfrm>
            <a:off x="9835652" y="1810512"/>
            <a:ext cx="685800" cy="685800"/>
          </a:xfrm>
          <a:prstGeom prst="ellipse">
            <a:avLst/>
          </a:prstGeom>
          <a:solidFill>
            <a:srgbClr val="7F8691"/>
          </a:solidFill>
          <a:ln w="12700">
            <a:solidFill>
              <a:srgbClr val="7F8691"/>
            </a:solidFill>
            <a:prstDash val="solid"/>
          </a:ln>
        </p:spPr>
        <p:txBody>
          <a:bodyPr/>
          <a:lstStyle/>
          <a:p>
            <a:endParaRPr lang="en-CA"/>
          </a:p>
        </p:txBody>
      </p:sp>
      <p:pic>
        <p:nvPicPr>
          <p:cNvPr id="42" name="Image 4" descr="preencoded.png"/>
          <p:cNvPicPr>
            <a:picLocks noChangeAspect="1"/>
          </p:cNvPicPr>
          <p:nvPr/>
        </p:nvPicPr>
        <p:blipFill>
          <a:blip r:embed="rId7"/>
          <a:stretch>
            <a:fillRect/>
          </a:stretch>
        </p:blipFill>
        <p:spPr>
          <a:xfrm>
            <a:off x="10007102" y="1981962"/>
            <a:ext cx="342900" cy="342900"/>
          </a:xfrm>
          <a:prstGeom prst="rect">
            <a:avLst/>
          </a:prstGeom>
        </p:spPr>
      </p:pic>
      <p:sp>
        <p:nvSpPr>
          <p:cNvPr id="43" name="Text 36"/>
          <p:cNvSpPr txBox="1"/>
          <p:nvPr/>
        </p:nvSpPr>
        <p:spPr>
          <a:xfrm>
            <a:off x="9835652" y="2606040"/>
            <a:ext cx="1670243" cy="640080"/>
          </a:xfrm>
          <a:prstGeom prst="rect">
            <a:avLst/>
          </a:prstGeom>
          <a:noFill/>
          <a:ln/>
        </p:spPr>
        <p:txBody>
          <a:bodyPr wrap="square" lIns="0" tIns="0" rIns="0" bIns="0" rtlCol="0" anchor="t"/>
          <a:lstStyle/>
          <a:p>
            <a:pPr marL="0" indent="0">
              <a:buNone/>
            </a:pPr>
            <a:r>
              <a:rPr lang="en-US" sz="1700" b="1" dirty="0">
                <a:solidFill>
                  <a:srgbClr val="7F8691"/>
                </a:solidFill>
                <a:latin typeface="Calibri" pitchFamily="34" charset="0"/>
                <a:ea typeface="Calibri" pitchFamily="34" charset="-122"/>
                <a:cs typeface="Calibri" pitchFamily="34" charset="-120"/>
              </a:rPr>
              <a:t>Gone Quiet</a:t>
            </a:r>
            <a:endParaRPr lang="en-US" sz="1700" dirty="0"/>
          </a:p>
        </p:txBody>
      </p:sp>
      <p:sp>
        <p:nvSpPr>
          <p:cNvPr id="44" name="Text 37"/>
          <p:cNvSpPr txBox="1"/>
          <p:nvPr/>
        </p:nvSpPr>
        <p:spPr>
          <a:xfrm>
            <a:off x="9835652" y="3246120"/>
            <a:ext cx="1624523" cy="91440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Bought once or twice, almost a year ago</a:t>
            </a:r>
            <a:endParaRPr lang="en-US" sz="1250" dirty="0"/>
          </a:p>
        </p:txBody>
      </p:sp>
      <p:sp>
        <p:nvSpPr>
          <p:cNvPr id="45" name="Text 38"/>
          <p:cNvSpPr txBox="1"/>
          <p:nvPr/>
        </p:nvSpPr>
        <p:spPr>
          <a:xfrm>
            <a:off x="9835652" y="4206240"/>
            <a:ext cx="914400" cy="502920"/>
          </a:xfrm>
          <a:prstGeom prst="rect">
            <a:avLst/>
          </a:prstGeom>
          <a:noFill/>
          <a:ln/>
        </p:spPr>
        <p:txBody>
          <a:bodyPr wrap="square" lIns="0" tIns="0" rIns="0" bIns="0" rtlCol="0" anchor="t"/>
          <a:lstStyle/>
          <a:p>
            <a:pPr marL="0" indent="0">
              <a:buNone/>
            </a:pPr>
            <a:r>
              <a:rPr lang="en-US" sz="2600" b="1" dirty="0">
                <a:solidFill>
                  <a:srgbClr val="7F8691"/>
                </a:solidFill>
                <a:latin typeface="Cambria" pitchFamily="34" charset="0"/>
                <a:ea typeface="Cambria" pitchFamily="34" charset="-122"/>
                <a:cs typeface="Cambria" pitchFamily="34" charset="-120"/>
              </a:rPr>
              <a:t>41%</a:t>
            </a:r>
            <a:endParaRPr lang="en-US" sz="2600" dirty="0"/>
          </a:p>
        </p:txBody>
      </p:sp>
      <p:sp>
        <p:nvSpPr>
          <p:cNvPr id="46" name="Text 39"/>
          <p:cNvSpPr txBox="1"/>
          <p:nvPr/>
        </p:nvSpPr>
        <p:spPr>
          <a:xfrm>
            <a:off x="9835652" y="4709160"/>
            <a:ext cx="914400" cy="5029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customers</a:t>
            </a:r>
            <a:endParaRPr lang="en-US" sz="1100" dirty="0"/>
          </a:p>
        </p:txBody>
      </p:sp>
      <p:sp>
        <p:nvSpPr>
          <p:cNvPr id="47" name="Text 40"/>
          <p:cNvSpPr txBox="1"/>
          <p:nvPr/>
        </p:nvSpPr>
        <p:spPr>
          <a:xfrm>
            <a:off x="10704332" y="4206240"/>
            <a:ext cx="91440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7%</a:t>
            </a:r>
            <a:endParaRPr lang="en-US" sz="2600" dirty="0"/>
          </a:p>
        </p:txBody>
      </p:sp>
      <p:sp>
        <p:nvSpPr>
          <p:cNvPr id="48" name="Text 41"/>
          <p:cNvSpPr txBox="1"/>
          <p:nvPr/>
        </p:nvSpPr>
        <p:spPr>
          <a:xfrm>
            <a:off x="10704332" y="4709160"/>
            <a:ext cx="914400" cy="5029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spend</a:t>
            </a:r>
            <a:endParaRPr lang="en-US" sz="1100" dirty="0"/>
          </a:p>
        </p:txBody>
      </p:sp>
      <p:sp>
        <p:nvSpPr>
          <p:cNvPr id="49" name="Shape 42"/>
          <p:cNvSpPr/>
          <p:nvPr/>
        </p:nvSpPr>
        <p:spPr>
          <a:xfrm>
            <a:off x="548640" y="5669280"/>
            <a:ext cx="11094415" cy="685800"/>
          </a:xfrm>
          <a:prstGeom prst="roundRect">
            <a:avLst>
              <a:gd name="adj" fmla="val 10667"/>
            </a:avLst>
          </a:prstGeom>
          <a:solidFill>
            <a:srgbClr val="1E2B3A"/>
          </a:solidFill>
          <a:ln w="12700">
            <a:solidFill>
              <a:srgbClr val="1E2B3A"/>
            </a:solidFill>
            <a:prstDash val="solid"/>
          </a:ln>
        </p:spPr>
        <p:txBody>
          <a:bodyPr/>
          <a:lstStyle/>
          <a:p>
            <a:endParaRPr lang="en-CA"/>
          </a:p>
        </p:txBody>
      </p:sp>
      <p:sp>
        <p:nvSpPr>
          <p:cNvPr id="51" name="Text 43"/>
          <p:cNvSpPr txBox="1"/>
          <p:nvPr/>
        </p:nvSpPr>
        <p:spPr>
          <a:xfrm>
            <a:off x="710214" y="5669280"/>
            <a:ext cx="10749961" cy="685800"/>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Each group needs a different message; thank, grow, welcome, win back, or keep costs low.</a:t>
            </a:r>
            <a:endParaRPr lang="en-US" sz="1500" dirty="0"/>
          </a:p>
        </p:txBody>
      </p:sp>
      <p:sp>
        <p:nvSpPr>
          <p:cNvPr id="52"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WHERE THE MONEY COMES FROM</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36% of customers brings in 80% of all revenue</a:t>
            </a:r>
            <a:endParaRPr lang="en-US" sz="2600" dirty="0"/>
          </a:p>
        </p:txBody>
      </p:sp>
      <p:graphicFrame>
        <p:nvGraphicFramePr>
          <p:cNvPr id="4" name="Chart 0"/>
          <p:cNvGraphicFramePr/>
          <p:nvPr>
            <p:extLst>
              <p:ext uri="{D42A27DB-BD31-4B8C-83A1-F6EECF244321}">
                <p14:modId xmlns:p14="http://schemas.microsoft.com/office/powerpoint/2010/main" val="1412106244"/>
              </p:ext>
            </p:extLst>
          </p:nvPr>
        </p:nvGraphicFramePr>
        <p:xfrm>
          <a:off x="548640" y="1600200"/>
          <a:ext cx="76809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95360" y="1828800"/>
            <a:ext cx="3044952" cy="1554480"/>
          </a:xfrm>
          <a:prstGeom prst="roundRect">
            <a:avLst>
              <a:gd name="adj" fmla="val 5882"/>
            </a:avLst>
          </a:prstGeom>
          <a:solidFill>
            <a:srgbClr val="F3F5F8"/>
          </a:solidFill>
          <a:ln w="12700">
            <a:solidFill>
              <a:srgbClr val="F3F5F8"/>
            </a:solidFill>
            <a:prstDash val="solid"/>
          </a:ln>
        </p:spPr>
        <p:txBody>
          <a:bodyPr/>
          <a:lstStyle/>
          <a:p>
            <a:endParaRPr lang="en-CA"/>
          </a:p>
        </p:txBody>
      </p:sp>
      <p:sp>
        <p:nvSpPr>
          <p:cNvPr id="6" name="Text 3"/>
          <p:cNvSpPr txBox="1"/>
          <p:nvPr/>
        </p:nvSpPr>
        <p:spPr>
          <a:xfrm>
            <a:off x="8823960" y="2011680"/>
            <a:ext cx="2651760" cy="365760"/>
          </a:xfrm>
          <a:prstGeom prst="rect">
            <a:avLst/>
          </a:prstGeom>
          <a:noFill/>
          <a:ln/>
        </p:spPr>
        <p:txBody>
          <a:bodyPr wrap="square" lIns="0" tIns="0" rIns="0" bIns="0" rtlCol="0" anchor="t"/>
          <a:lstStyle/>
          <a:p>
            <a:pPr marL="0" indent="0">
              <a:buNone/>
            </a:pPr>
            <a:r>
              <a:rPr lang="en-US" sz="1600" b="1" dirty="0">
                <a:solidFill>
                  <a:srgbClr val="1F7A5C"/>
                </a:solidFill>
                <a:latin typeface="Calibri" pitchFamily="34" charset="0"/>
                <a:ea typeface="Calibri" pitchFamily="34" charset="-122"/>
                <a:cs typeface="Calibri" pitchFamily="34" charset="-120"/>
              </a:rPr>
              <a:t>Top Customers</a:t>
            </a:r>
            <a:endParaRPr lang="en-US" sz="1600" dirty="0"/>
          </a:p>
        </p:txBody>
      </p:sp>
      <p:sp>
        <p:nvSpPr>
          <p:cNvPr id="7" name="Text 4"/>
          <p:cNvSpPr txBox="1"/>
          <p:nvPr/>
        </p:nvSpPr>
        <p:spPr>
          <a:xfrm>
            <a:off x="8823960" y="2423160"/>
            <a:ext cx="2651760" cy="822960"/>
          </a:xfrm>
          <a:prstGeom prst="rect">
            <a:avLst/>
          </a:prstGeom>
          <a:noFill/>
          <a:ln/>
        </p:spPr>
        <p:txBody>
          <a:bodyPr wrap="square" lIns="0" tIns="0" rIns="0" bIns="0" rtlCol="0" anchor="t"/>
          <a:lstStyle/>
          <a:p>
            <a:pPr marL="0" indent="0">
              <a:buNone/>
            </a:pPr>
            <a:r>
              <a:rPr lang="en-US" sz="1800" b="1" dirty="0">
                <a:solidFill>
                  <a:srgbClr val="1E2B3A"/>
                </a:solidFill>
                <a:latin typeface="Calibri" pitchFamily="34" charset="0"/>
                <a:ea typeface="Calibri" pitchFamily="34" charset="-122"/>
                <a:cs typeface="Calibri" pitchFamily="34" charset="-120"/>
              </a:rPr>
              <a:t>15% of customers,</a:t>
            </a:r>
            <a:endParaRPr lang="en-US" sz="1800" dirty="0"/>
          </a:p>
          <a:p>
            <a:pPr marL="0" indent="0">
              <a:buNone/>
            </a:pPr>
            <a:r>
              <a:rPr lang="en-US" sz="1800" b="1" dirty="0">
                <a:solidFill>
                  <a:srgbClr val="1E2B3A"/>
                </a:solidFill>
                <a:latin typeface="Calibri" pitchFamily="34" charset="0"/>
                <a:ea typeface="Calibri" pitchFamily="34" charset="-122"/>
                <a:cs typeface="Calibri" pitchFamily="34" charset="-120"/>
              </a:rPr>
              <a:t>60% of </a:t>
            </a:r>
            <a:r>
              <a:rPr lang="en-US" b="1" dirty="0">
                <a:solidFill>
                  <a:srgbClr val="1E2B3A"/>
                </a:solidFill>
                <a:latin typeface="Calibri" pitchFamily="34" charset="0"/>
                <a:ea typeface="Calibri" pitchFamily="34" charset="-122"/>
                <a:cs typeface="Calibri" pitchFamily="34" charset="-120"/>
              </a:rPr>
              <a:t>revenue</a:t>
            </a:r>
            <a:endParaRPr lang="en-US" sz="1800" dirty="0"/>
          </a:p>
        </p:txBody>
      </p:sp>
      <p:sp>
        <p:nvSpPr>
          <p:cNvPr id="8" name="Shape 5"/>
          <p:cNvSpPr/>
          <p:nvPr/>
        </p:nvSpPr>
        <p:spPr>
          <a:xfrm>
            <a:off x="8595360" y="3657600"/>
            <a:ext cx="3044952" cy="1554480"/>
          </a:xfrm>
          <a:prstGeom prst="roundRect">
            <a:avLst>
              <a:gd name="adj" fmla="val 5882"/>
            </a:avLst>
          </a:prstGeom>
          <a:solidFill>
            <a:srgbClr val="F3F5F8"/>
          </a:solidFill>
          <a:ln w="12700">
            <a:solidFill>
              <a:srgbClr val="F3F5F8"/>
            </a:solidFill>
            <a:prstDash val="solid"/>
          </a:ln>
        </p:spPr>
        <p:txBody>
          <a:bodyPr/>
          <a:lstStyle/>
          <a:p>
            <a:endParaRPr lang="en-CA"/>
          </a:p>
        </p:txBody>
      </p:sp>
      <p:sp>
        <p:nvSpPr>
          <p:cNvPr id="9" name="Text 6"/>
          <p:cNvSpPr txBox="1"/>
          <p:nvPr/>
        </p:nvSpPr>
        <p:spPr>
          <a:xfrm>
            <a:off x="8823960" y="3840480"/>
            <a:ext cx="2651760" cy="365760"/>
          </a:xfrm>
          <a:prstGeom prst="rect">
            <a:avLst/>
          </a:prstGeom>
          <a:noFill/>
          <a:ln/>
        </p:spPr>
        <p:txBody>
          <a:bodyPr wrap="square" lIns="0" tIns="0" rIns="0" bIns="0" rtlCol="0" anchor="t"/>
          <a:lstStyle/>
          <a:p>
            <a:pPr marL="0" indent="0">
              <a:buNone/>
            </a:pPr>
            <a:r>
              <a:rPr lang="en-US" sz="1600" b="1" dirty="0">
                <a:solidFill>
                  <a:srgbClr val="7F8691"/>
                </a:solidFill>
                <a:latin typeface="Calibri" pitchFamily="34" charset="0"/>
                <a:ea typeface="Calibri" pitchFamily="34" charset="-122"/>
                <a:cs typeface="Calibri" pitchFamily="34" charset="-120"/>
              </a:rPr>
              <a:t>Gone Quiet</a:t>
            </a:r>
            <a:endParaRPr lang="en-US" sz="1600" dirty="0"/>
          </a:p>
        </p:txBody>
      </p:sp>
      <p:sp>
        <p:nvSpPr>
          <p:cNvPr id="10" name="Text 7"/>
          <p:cNvSpPr txBox="1"/>
          <p:nvPr/>
        </p:nvSpPr>
        <p:spPr>
          <a:xfrm>
            <a:off x="8823960" y="4251960"/>
            <a:ext cx="2651760" cy="822960"/>
          </a:xfrm>
          <a:prstGeom prst="rect">
            <a:avLst/>
          </a:prstGeom>
          <a:noFill/>
          <a:ln/>
        </p:spPr>
        <p:txBody>
          <a:bodyPr wrap="square" lIns="0" tIns="0" rIns="0" bIns="0" rtlCol="0" anchor="t"/>
          <a:lstStyle/>
          <a:p>
            <a:pPr marL="0" indent="0">
              <a:buNone/>
            </a:pPr>
            <a:r>
              <a:rPr lang="en-US" sz="1800" b="1" dirty="0">
                <a:solidFill>
                  <a:srgbClr val="1E2B3A"/>
                </a:solidFill>
                <a:latin typeface="Calibri" pitchFamily="34" charset="0"/>
                <a:ea typeface="Calibri" pitchFamily="34" charset="-122"/>
                <a:cs typeface="Calibri" pitchFamily="34" charset="-120"/>
              </a:rPr>
              <a:t>41% of customers,</a:t>
            </a:r>
            <a:endParaRPr lang="en-US" sz="1800" dirty="0"/>
          </a:p>
          <a:p>
            <a:pPr marL="0" indent="0">
              <a:buNone/>
            </a:pPr>
            <a:r>
              <a:rPr lang="en-US" sz="1800" b="1" dirty="0">
                <a:solidFill>
                  <a:srgbClr val="1E2B3A"/>
                </a:solidFill>
                <a:latin typeface="Calibri" pitchFamily="34" charset="0"/>
                <a:ea typeface="Calibri" pitchFamily="34" charset="-122"/>
                <a:cs typeface="Calibri" pitchFamily="34" charset="-120"/>
              </a:rPr>
              <a:t>7% of </a:t>
            </a:r>
            <a:r>
              <a:rPr lang="en-US" b="1" dirty="0">
                <a:solidFill>
                  <a:srgbClr val="1E2B3A"/>
                </a:solidFill>
                <a:latin typeface="Calibri" pitchFamily="34" charset="0"/>
                <a:ea typeface="Calibri" pitchFamily="34" charset="-122"/>
                <a:cs typeface="Calibri" pitchFamily="34" charset="-120"/>
              </a:rPr>
              <a:t>revenue</a:t>
            </a:r>
            <a:endParaRPr lang="en-US" sz="1800" dirty="0"/>
          </a:p>
        </p:txBody>
      </p:sp>
      <p:sp>
        <p:nvSpPr>
          <p:cNvPr id="11" name="Shape 8"/>
          <p:cNvSpPr/>
          <p:nvPr/>
        </p:nvSpPr>
        <p:spPr>
          <a:xfrm>
            <a:off x="548640" y="5669280"/>
            <a:ext cx="11094415"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3" name="Text 9"/>
          <p:cNvSpPr txBox="1"/>
          <p:nvPr/>
        </p:nvSpPr>
        <p:spPr>
          <a:xfrm>
            <a:off x="745724" y="5669280"/>
            <a:ext cx="10714451"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Losing one Top Customer costs more than losing ten Gone Quiet customers. Budget and staff time should follow value instead of headcount.</a:t>
            </a:r>
            <a:endParaRPr lang="en-US" sz="15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WHO COMES BACK</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The groups tell us who is likely to stop buying</a:t>
            </a:r>
            <a:endParaRPr lang="en-US" sz="2600" dirty="0"/>
          </a:p>
        </p:txBody>
      </p:sp>
      <p:graphicFrame>
        <p:nvGraphicFramePr>
          <p:cNvPr id="4" name="Chart 0"/>
          <p:cNvGraphicFramePr/>
          <p:nvPr/>
        </p:nvGraphicFramePr>
        <p:xfrm>
          <a:off x="548640" y="1600200"/>
          <a:ext cx="76809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95360" y="1828800"/>
            <a:ext cx="3044952" cy="3474720"/>
          </a:xfrm>
          <a:prstGeom prst="roundRect">
            <a:avLst>
              <a:gd name="adj" fmla="val 3003"/>
            </a:avLst>
          </a:prstGeom>
          <a:solidFill>
            <a:srgbClr val="F3F5F8"/>
          </a:solidFill>
          <a:ln w="12700">
            <a:solidFill>
              <a:srgbClr val="F3F5F8"/>
            </a:solidFill>
            <a:prstDash val="solid"/>
          </a:ln>
        </p:spPr>
        <p:txBody>
          <a:bodyPr/>
          <a:lstStyle/>
          <a:p>
            <a:endParaRPr lang="en-CA"/>
          </a:p>
        </p:txBody>
      </p:sp>
      <p:sp>
        <p:nvSpPr>
          <p:cNvPr id="6" name="Text 3"/>
          <p:cNvSpPr txBox="1"/>
          <p:nvPr/>
        </p:nvSpPr>
        <p:spPr>
          <a:xfrm>
            <a:off x="8823960" y="2057400"/>
            <a:ext cx="2651760" cy="3108960"/>
          </a:xfrm>
          <a:prstGeom prst="rect">
            <a:avLst/>
          </a:prstGeom>
          <a:noFill/>
          <a:ln/>
        </p:spPr>
        <p:txBody>
          <a:bodyPr wrap="square" lIns="0" tIns="0" rIns="0" bIns="0" rtlCol="0" anchor="t"/>
          <a:lstStyle/>
          <a:p>
            <a:pPr marL="0" indent="0">
              <a:buNone/>
            </a:pPr>
            <a:r>
              <a:rPr lang="en-US" sz="1500" b="1" dirty="0">
                <a:solidFill>
                  <a:srgbClr val="1F7A5C"/>
                </a:solidFill>
                <a:latin typeface="Calibri" pitchFamily="34" charset="0"/>
                <a:ea typeface="Calibri" pitchFamily="34" charset="-122"/>
                <a:cs typeface="Calibri" pitchFamily="34" charset="-120"/>
              </a:rPr>
              <a:t>Top Customers</a:t>
            </a:r>
            <a:endParaRPr lang="en-US" sz="1500" dirty="0"/>
          </a:p>
          <a:p>
            <a:pPr marL="0" indent="0">
              <a:buNone/>
            </a:pPr>
            <a:r>
              <a:rPr lang="en-US" sz="1500" dirty="0">
                <a:solidFill>
                  <a:srgbClr val="1E2B3A"/>
                </a:solidFill>
                <a:latin typeface="Calibri" pitchFamily="34" charset="0"/>
                <a:ea typeface="Calibri" pitchFamily="34" charset="-122"/>
                <a:cs typeface="Calibri" pitchFamily="34" charset="-120"/>
              </a:rPr>
              <a:t>More than 8 in 10 ordered again.</a:t>
            </a:r>
            <a:endParaRPr lang="en-US" sz="1500" dirty="0"/>
          </a:p>
          <a:p>
            <a:pPr marL="0" indent="0">
              <a:buNone/>
            </a:pPr>
            <a:r>
              <a:rPr lang="en-US" sz="800" dirty="0">
                <a:solidFill>
                  <a:srgbClr val="1E2B3A"/>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7F8691"/>
                </a:solidFill>
                <a:latin typeface="Calibri" pitchFamily="34" charset="0"/>
                <a:ea typeface="Calibri" pitchFamily="34" charset="-122"/>
                <a:cs typeface="Calibri" pitchFamily="34" charset="-120"/>
              </a:rPr>
              <a:t>Gone Quiet</a:t>
            </a:r>
            <a:endParaRPr lang="en-US" sz="1500" dirty="0"/>
          </a:p>
          <a:p>
            <a:pPr marL="0" indent="0">
              <a:buNone/>
            </a:pPr>
            <a:r>
              <a:rPr lang="en-US" sz="1500" dirty="0">
                <a:solidFill>
                  <a:srgbClr val="1E2B3A"/>
                </a:solidFill>
                <a:latin typeface="Calibri" pitchFamily="34" charset="0"/>
                <a:ea typeface="Calibri" pitchFamily="34" charset="-122"/>
                <a:cs typeface="Calibri" pitchFamily="34" charset="-120"/>
              </a:rPr>
              <a:t>Only 1 in 5 ordered again.</a:t>
            </a:r>
            <a:endParaRPr lang="en-US" sz="1500" dirty="0"/>
          </a:p>
          <a:p>
            <a:pPr marL="0" indent="0">
              <a:buNone/>
            </a:pPr>
            <a:r>
              <a:rPr lang="en-US" sz="800" dirty="0">
                <a:solidFill>
                  <a:srgbClr val="1E2B3A"/>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1E2B3A"/>
                </a:solidFill>
                <a:latin typeface="Calibri" pitchFamily="34" charset="0"/>
                <a:ea typeface="Calibri" pitchFamily="34" charset="-122"/>
                <a:cs typeface="Calibri" pitchFamily="34" charset="-120"/>
              </a:rPr>
              <a:t>All customers</a:t>
            </a:r>
            <a:endParaRPr lang="en-US" sz="1500" dirty="0"/>
          </a:p>
          <a:p>
            <a:pPr marL="0" indent="0">
              <a:buNone/>
            </a:pPr>
            <a:r>
              <a:rPr lang="en-US" sz="1500" dirty="0">
                <a:solidFill>
                  <a:srgbClr val="1E2B3A"/>
                </a:solidFill>
                <a:latin typeface="Calibri" pitchFamily="34" charset="0"/>
                <a:ea typeface="Calibri" pitchFamily="34" charset="-122"/>
                <a:cs typeface="Calibri" pitchFamily="34" charset="-120"/>
              </a:rPr>
              <a:t>57% placed no order.</a:t>
            </a:r>
            <a:endParaRPr lang="en-US" sz="1500" dirty="0"/>
          </a:p>
        </p:txBody>
      </p:sp>
      <p:sp>
        <p:nvSpPr>
          <p:cNvPr id="7" name="Shape 4"/>
          <p:cNvSpPr/>
          <p:nvPr/>
        </p:nvSpPr>
        <p:spPr>
          <a:xfrm>
            <a:off x="548640" y="5669280"/>
            <a:ext cx="11094415"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9" name="Text 5"/>
          <p:cNvSpPr txBox="1"/>
          <p:nvPr/>
        </p:nvSpPr>
        <p:spPr>
          <a:xfrm>
            <a:off x="745724" y="5669280"/>
            <a:ext cx="10714451"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We built the groups without knowing who would leave, yet they sorted customers from most to least likely to stay. We can act before customers go.</a:t>
            </a:r>
            <a:endParaRPr lang="en-US" sz="15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1F7A5C"/>
                </a:solidFill>
                <a:latin typeface="Calibri" pitchFamily="34" charset="0"/>
                <a:ea typeface="Calibri" pitchFamily="34" charset="-122"/>
                <a:cs typeface="Calibri" pitchFamily="34" charset="-120"/>
              </a:rPr>
              <a:t>GROUP 1 OF 5  ·  TOP CUSTOMERS</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Top Customers bring in 60% of spend, so protect them with service, not discounts</a:t>
            </a:r>
            <a:endParaRPr lang="en-US" sz="2600" dirty="0"/>
          </a:p>
        </p:txBody>
      </p:sp>
      <p:sp>
        <p:nvSpPr>
          <p:cNvPr id="4" name="Shape 2"/>
          <p:cNvSpPr/>
          <p:nvPr/>
        </p:nvSpPr>
        <p:spPr>
          <a:xfrm>
            <a:off x="548640" y="1600200"/>
            <a:ext cx="3200400" cy="3840480"/>
          </a:xfrm>
          <a:prstGeom prst="roundRect">
            <a:avLst>
              <a:gd name="adj" fmla="val 2857"/>
            </a:avLst>
          </a:prstGeom>
          <a:solidFill>
            <a:srgbClr val="E6F2ED"/>
          </a:solidFill>
          <a:ln w="12700">
            <a:solidFill>
              <a:srgbClr val="E6F2ED"/>
            </a:solidFill>
            <a:prstDash val="solid"/>
          </a:ln>
        </p:spPr>
        <p:txBody>
          <a:bodyPr/>
          <a:lstStyle/>
          <a:p>
            <a:endParaRPr lang="en-CA"/>
          </a:p>
        </p:txBody>
      </p:sp>
      <p:sp>
        <p:nvSpPr>
          <p:cNvPr id="5" name="Shape 3"/>
          <p:cNvSpPr/>
          <p:nvPr/>
        </p:nvSpPr>
        <p:spPr>
          <a:xfrm>
            <a:off x="777240" y="1810512"/>
            <a:ext cx="777240" cy="777240"/>
          </a:xfrm>
          <a:prstGeom prst="ellipse">
            <a:avLst/>
          </a:prstGeom>
          <a:solidFill>
            <a:srgbClr val="1F7A5C"/>
          </a:solidFill>
          <a:ln w="12700">
            <a:solidFill>
              <a:srgbClr val="1F7A5C"/>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71550" y="2004822"/>
            <a:ext cx="388620" cy="388620"/>
          </a:xfrm>
          <a:prstGeom prst="rect">
            <a:avLst/>
          </a:prstGeom>
        </p:spPr>
      </p:pic>
      <p:sp>
        <p:nvSpPr>
          <p:cNvPr id="7" name="Text 4"/>
          <p:cNvSpPr txBox="1"/>
          <p:nvPr/>
        </p:nvSpPr>
        <p:spPr>
          <a:xfrm>
            <a:off x="1691640" y="1810512"/>
            <a:ext cx="1920240" cy="777240"/>
          </a:xfrm>
          <a:prstGeom prst="rect">
            <a:avLst/>
          </a:prstGeom>
          <a:noFill/>
          <a:ln/>
        </p:spPr>
        <p:txBody>
          <a:bodyPr wrap="square" lIns="0" tIns="0" rIns="0" bIns="0" rtlCol="0" anchor="ctr"/>
          <a:lstStyle/>
          <a:p>
            <a:pPr marL="0" indent="0">
              <a:buNone/>
            </a:pPr>
            <a:r>
              <a:rPr lang="en-US" sz="1800" b="1" dirty="0">
                <a:solidFill>
                  <a:srgbClr val="1F7A5C"/>
                </a:solidFill>
                <a:latin typeface="Calibri" pitchFamily="34" charset="0"/>
                <a:ea typeface="Calibri" pitchFamily="34" charset="-122"/>
                <a:cs typeface="Calibri" pitchFamily="34" charset="-120"/>
              </a:rPr>
              <a:t>Top Customers</a:t>
            </a:r>
            <a:endParaRPr lang="en-US" sz="1800" dirty="0"/>
          </a:p>
        </p:txBody>
      </p:sp>
      <p:sp>
        <p:nvSpPr>
          <p:cNvPr id="8" name="Text 5"/>
          <p:cNvSpPr txBox="1"/>
          <p:nvPr/>
        </p:nvSpPr>
        <p:spPr>
          <a:xfrm>
            <a:off x="777240" y="2743200"/>
            <a:ext cx="2788920" cy="731520"/>
          </a:xfrm>
          <a:prstGeom prst="rect">
            <a:avLst/>
          </a:prstGeom>
          <a:noFill/>
          <a:ln/>
        </p:spPr>
        <p:txBody>
          <a:bodyPr wrap="square" lIns="0" tIns="0" rIns="0" bIns="0" rtlCol="0" anchor="t"/>
          <a:lstStyle/>
          <a:p>
            <a:pPr marL="0" indent="0">
              <a:buNone/>
            </a:pPr>
            <a:r>
              <a:rPr lang="en-US" sz="1300" dirty="0">
                <a:solidFill>
                  <a:srgbClr val="1E2B3A"/>
                </a:solidFill>
                <a:latin typeface="Calibri" pitchFamily="34" charset="0"/>
                <a:ea typeface="Calibri" pitchFamily="34" charset="-122"/>
                <a:cs typeface="Calibri" pitchFamily="34" charset="-120"/>
              </a:rPr>
              <a:t>Order often, spend the most, and bought in the last few weeks</a:t>
            </a:r>
            <a:endParaRPr lang="en-US" sz="1300" dirty="0"/>
          </a:p>
        </p:txBody>
      </p:sp>
      <p:sp>
        <p:nvSpPr>
          <p:cNvPr id="9" name="Text 6"/>
          <p:cNvSpPr txBox="1"/>
          <p:nvPr/>
        </p:nvSpPr>
        <p:spPr>
          <a:xfrm>
            <a:off x="777240" y="3474720"/>
            <a:ext cx="1371600" cy="548640"/>
          </a:xfrm>
          <a:prstGeom prst="rect">
            <a:avLst/>
          </a:prstGeom>
          <a:noFill/>
          <a:ln/>
        </p:spPr>
        <p:txBody>
          <a:bodyPr wrap="square" lIns="0" tIns="0" rIns="0" bIns="0" rtlCol="0" anchor="t"/>
          <a:lstStyle/>
          <a:p>
            <a:pPr marL="0" indent="0">
              <a:buNone/>
            </a:pPr>
            <a:r>
              <a:rPr lang="en-US" sz="3200" b="1" dirty="0">
                <a:solidFill>
                  <a:srgbClr val="1F7A5C"/>
                </a:solidFill>
                <a:latin typeface="Cambria" pitchFamily="34" charset="0"/>
                <a:ea typeface="Cambria" pitchFamily="34" charset="-122"/>
                <a:cs typeface="Cambria" pitchFamily="34" charset="-120"/>
              </a:rPr>
              <a:t>15%</a:t>
            </a:r>
            <a:endParaRPr lang="en-US" sz="3200" dirty="0"/>
          </a:p>
        </p:txBody>
      </p:sp>
      <p:sp>
        <p:nvSpPr>
          <p:cNvPr id="10" name="Text 7"/>
          <p:cNvSpPr txBox="1"/>
          <p:nvPr/>
        </p:nvSpPr>
        <p:spPr>
          <a:xfrm>
            <a:off x="777240" y="4023360"/>
            <a:ext cx="1371600" cy="4572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 customers</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(786)</a:t>
            </a:r>
            <a:endParaRPr lang="en-US" sz="1100" dirty="0"/>
          </a:p>
        </p:txBody>
      </p:sp>
      <p:sp>
        <p:nvSpPr>
          <p:cNvPr id="11" name="Text 8"/>
          <p:cNvSpPr txBox="1"/>
          <p:nvPr/>
        </p:nvSpPr>
        <p:spPr>
          <a:xfrm>
            <a:off x="2194560" y="3474720"/>
            <a:ext cx="1371600" cy="548640"/>
          </a:xfrm>
          <a:prstGeom prst="rect">
            <a:avLst/>
          </a:prstGeom>
          <a:noFill/>
          <a:ln/>
        </p:spPr>
        <p:txBody>
          <a:bodyPr wrap="square" lIns="0" tIns="0" rIns="0" bIns="0" rtlCol="0" anchor="t"/>
          <a:lstStyle/>
          <a:p>
            <a:pPr marL="0" indent="0">
              <a:buNone/>
            </a:pPr>
            <a:r>
              <a:rPr lang="en-US" sz="3200" b="1" dirty="0">
                <a:solidFill>
                  <a:srgbClr val="1E2B3A"/>
                </a:solidFill>
                <a:latin typeface="Cambria" pitchFamily="34" charset="0"/>
                <a:ea typeface="Cambria" pitchFamily="34" charset="-122"/>
                <a:cs typeface="Cambria" pitchFamily="34" charset="-120"/>
              </a:rPr>
              <a:t>60%</a:t>
            </a:r>
            <a:endParaRPr lang="en-US" sz="3200" dirty="0"/>
          </a:p>
        </p:txBody>
      </p:sp>
      <p:sp>
        <p:nvSpPr>
          <p:cNvPr id="12" name="Text 9"/>
          <p:cNvSpPr txBox="1"/>
          <p:nvPr/>
        </p:nvSpPr>
        <p:spPr>
          <a:xfrm>
            <a:off x="2194560" y="4023360"/>
            <a:ext cx="1371600" cy="4572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 all revenue</a:t>
            </a:r>
            <a:endParaRPr lang="en-US" sz="1100" dirty="0"/>
          </a:p>
        </p:txBody>
      </p:sp>
      <p:sp>
        <p:nvSpPr>
          <p:cNvPr id="13" name="Text 10"/>
          <p:cNvSpPr txBox="1"/>
          <p:nvPr/>
        </p:nvSpPr>
        <p:spPr>
          <a:xfrm>
            <a:off x="777240" y="4572000"/>
            <a:ext cx="2788920" cy="2743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Placed no order in the next 3 months</a:t>
            </a:r>
            <a:endParaRPr lang="en-US" sz="1100" dirty="0"/>
          </a:p>
        </p:txBody>
      </p:sp>
      <p:sp>
        <p:nvSpPr>
          <p:cNvPr id="14" name="Shape 11"/>
          <p:cNvSpPr/>
          <p:nvPr/>
        </p:nvSpPr>
        <p:spPr>
          <a:xfrm>
            <a:off x="777240" y="4919472"/>
            <a:ext cx="2103120" cy="219456"/>
          </a:xfrm>
          <a:prstGeom prst="rect">
            <a:avLst/>
          </a:prstGeom>
          <a:solidFill>
            <a:srgbClr val="FFFFFF"/>
          </a:solidFill>
          <a:ln w="9525">
            <a:solidFill>
              <a:srgbClr val="D9DEE5"/>
            </a:solidFill>
            <a:prstDash val="solid"/>
          </a:ln>
        </p:spPr>
        <p:txBody>
          <a:bodyPr/>
          <a:lstStyle/>
          <a:p>
            <a:endParaRPr lang="en-CA"/>
          </a:p>
        </p:txBody>
      </p:sp>
      <p:sp>
        <p:nvSpPr>
          <p:cNvPr id="15" name="Shape 12"/>
          <p:cNvSpPr/>
          <p:nvPr/>
        </p:nvSpPr>
        <p:spPr>
          <a:xfrm>
            <a:off x="777240" y="4919472"/>
            <a:ext cx="336499" cy="219456"/>
          </a:xfrm>
          <a:prstGeom prst="rect">
            <a:avLst/>
          </a:prstGeom>
          <a:solidFill>
            <a:srgbClr val="1F7A5C"/>
          </a:solidFill>
          <a:ln w="12700">
            <a:solidFill>
              <a:srgbClr val="1F7A5C"/>
            </a:solidFill>
            <a:prstDash val="solid"/>
          </a:ln>
        </p:spPr>
        <p:txBody>
          <a:bodyPr/>
          <a:lstStyle/>
          <a:p>
            <a:endParaRPr lang="en-CA"/>
          </a:p>
        </p:txBody>
      </p:sp>
      <p:sp>
        <p:nvSpPr>
          <p:cNvPr id="16" name="Text 13"/>
          <p:cNvSpPr txBox="1"/>
          <p:nvPr/>
        </p:nvSpPr>
        <p:spPr>
          <a:xfrm>
            <a:off x="2971800" y="4828032"/>
            <a:ext cx="640080" cy="384048"/>
          </a:xfrm>
          <a:prstGeom prst="rect">
            <a:avLst/>
          </a:prstGeom>
          <a:noFill/>
          <a:ln/>
        </p:spPr>
        <p:txBody>
          <a:bodyPr wrap="square" lIns="0" tIns="0" rIns="0" bIns="0" rtlCol="0" anchor="ctr"/>
          <a:lstStyle/>
          <a:p>
            <a:pPr marL="0" indent="0">
              <a:buNone/>
            </a:pPr>
            <a:r>
              <a:rPr lang="en-US" sz="1800" b="1" dirty="0">
                <a:solidFill>
                  <a:srgbClr val="1F7A5C"/>
                </a:solidFill>
                <a:latin typeface="Calibri" pitchFamily="34" charset="0"/>
                <a:ea typeface="Calibri" pitchFamily="34" charset="-122"/>
                <a:cs typeface="Calibri" pitchFamily="34" charset="-120"/>
              </a:rPr>
              <a:t>16%</a:t>
            </a:r>
            <a:endParaRPr lang="en-US" sz="1800" dirty="0"/>
          </a:p>
        </p:txBody>
      </p:sp>
      <p:sp>
        <p:nvSpPr>
          <p:cNvPr id="17" name="Text 14"/>
          <p:cNvSpPr txBox="1"/>
          <p:nvPr/>
        </p:nvSpPr>
        <p:spPr>
          <a:xfrm>
            <a:off x="777240" y="5157216"/>
            <a:ext cx="2788920" cy="237744"/>
          </a:xfrm>
          <a:prstGeom prst="rect">
            <a:avLst/>
          </a:prstGeom>
          <a:noFill/>
          <a:ln/>
        </p:spPr>
        <p:txBody>
          <a:bodyPr wrap="square" lIns="0" tIns="0" rIns="0" bIns="0" rtlCol="0" anchor="t"/>
          <a:lstStyle/>
          <a:p>
            <a:pPr marL="0" indent="0">
              <a:buNone/>
            </a:pPr>
            <a:r>
              <a:rPr lang="en-US" sz="1000" dirty="0">
                <a:solidFill>
                  <a:srgbClr val="5B6675"/>
                </a:solidFill>
                <a:latin typeface="Calibri" pitchFamily="34" charset="0"/>
                <a:ea typeface="Calibri" pitchFamily="34" charset="-122"/>
                <a:cs typeface="Calibri" pitchFamily="34" charset="-120"/>
              </a:rPr>
              <a:t>Summer period: 23%</a:t>
            </a:r>
            <a:endParaRPr lang="en-US" sz="1000" dirty="0"/>
          </a:p>
        </p:txBody>
      </p:sp>
      <p:sp>
        <p:nvSpPr>
          <p:cNvPr id="18" name="Text 15"/>
          <p:cNvSpPr txBox="1"/>
          <p:nvPr/>
        </p:nvSpPr>
        <p:spPr>
          <a:xfrm>
            <a:off x="4069080" y="1600200"/>
            <a:ext cx="374904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What makes them different</a:t>
            </a:r>
            <a:endParaRPr lang="en-US" sz="1500" dirty="0"/>
          </a:p>
        </p:txBody>
      </p:sp>
      <p:sp>
        <p:nvSpPr>
          <p:cNvPr id="19" name="Shape 16"/>
          <p:cNvSpPr/>
          <p:nvPr/>
        </p:nvSpPr>
        <p:spPr>
          <a:xfrm>
            <a:off x="4069080" y="2103120"/>
            <a:ext cx="502920" cy="502920"/>
          </a:xfrm>
          <a:prstGeom prst="ellipse">
            <a:avLst/>
          </a:prstGeom>
          <a:solidFill>
            <a:srgbClr val="E6F2ED"/>
          </a:solidFill>
          <a:ln w="12700">
            <a:solidFill>
              <a:srgbClr val="E6F2ED"/>
            </a:solidFill>
            <a:prstDash val="solid"/>
          </a:ln>
        </p:spPr>
        <p:txBody>
          <a:bodyPr/>
          <a:lstStyle/>
          <a:p>
            <a:endParaRPr lang="en-CA"/>
          </a:p>
        </p:txBody>
      </p:sp>
      <p:pic>
        <p:nvPicPr>
          <p:cNvPr id="20" name="Image 1" descr="preencoded.png"/>
          <p:cNvPicPr>
            <a:picLocks noChangeAspect="1"/>
          </p:cNvPicPr>
          <p:nvPr/>
        </p:nvPicPr>
        <p:blipFill>
          <a:blip r:embed="rId4"/>
          <a:stretch>
            <a:fillRect/>
          </a:stretch>
        </p:blipFill>
        <p:spPr>
          <a:xfrm>
            <a:off x="4194810" y="2228850"/>
            <a:ext cx="251460" cy="251460"/>
          </a:xfrm>
          <a:prstGeom prst="rect">
            <a:avLst/>
          </a:prstGeom>
        </p:spPr>
      </p:pic>
      <p:sp>
        <p:nvSpPr>
          <p:cNvPr id="21" name="Text 17"/>
          <p:cNvSpPr txBox="1"/>
          <p:nvPr/>
        </p:nvSpPr>
        <p:spPr>
          <a:xfrm>
            <a:off x="4709160" y="2057400"/>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16 days</a:t>
            </a:r>
            <a:r>
              <a:rPr lang="en-US" sz="1300" dirty="0">
                <a:solidFill>
                  <a:srgbClr val="1E2B3A"/>
                </a:solidFill>
                <a:latin typeface="Calibri" pitchFamily="34" charset="0"/>
                <a:ea typeface="Calibri" pitchFamily="34" charset="-122"/>
                <a:cs typeface="Calibri" pitchFamily="34" charset="-120"/>
              </a:rPr>
              <a:t>  since last order</a:t>
            </a:r>
            <a:endParaRPr lang="en-US" sz="1400" dirty="0"/>
          </a:p>
        </p:txBody>
      </p:sp>
      <p:sp>
        <p:nvSpPr>
          <p:cNvPr id="22" name="Text 18"/>
          <p:cNvSpPr txBox="1"/>
          <p:nvPr/>
        </p:nvSpPr>
        <p:spPr>
          <a:xfrm>
            <a:off x="4709160" y="2441448"/>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162 days</a:t>
            </a:r>
            <a:endParaRPr lang="en-US" sz="1150" dirty="0"/>
          </a:p>
        </p:txBody>
      </p:sp>
      <p:sp>
        <p:nvSpPr>
          <p:cNvPr id="23" name="Shape 19"/>
          <p:cNvSpPr/>
          <p:nvPr/>
        </p:nvSpPr>
        <p:spPr>
          <a:xfrm>
            <a:off x="4069080" y="2953512"/>
            <a:ext cx="502920" cy="502920"/>
          </a:xfrm>
          <a:prstGeom prst="ellipse">
            <a:avLst/>
          </a:prstGeom>
          <a:solidFill>
            <a:srgbClr val="E6F2ED"/>
          </a:solidFill>
          <a:ln w="12700">
            <a:solidFill>
              <a:srgbClr val="E6F2ED"/>
            </a:solidFill>
            <a:prstDash val="solid"/>
          </a:ln>
        </p:spPr>
        <p:txBody>
          <a:bodyPr/>
          <a:lstStyle/>
          <a:p>
            <a:endParaRPr lang="en-CA"/>
          </a:p>
        </p:txBody>
      </p:sp>
      <p:pic>
        <p:nvPicPr>
          <p:cNvPr id="24" name="Image 2" descr="preencoded.png"/>
          <p:cNvPicPr>
            <a:picLocks noChangeAspect="1"/>
          </p:cNvPicPr>
          <p:nvPr/>
        </p:nvPicPr>
        <p:blipFill>
          <a:blip r:embed="rId5"/>
          <a:stretch>
            <a:fillRect/>
          </a:stretch>
        </p:blipFill>
        <p:spPr>
          <a:xfrm>
            <a:off x="4194810" y="3079242"/>
            <a:ext cx="251460" cy="251460"/>
          </a:xfrm>
          <a:prstGeom prst="rect">
            <a:avLst/>
          </a:prstGeom>
        </p:spPr>
      </p:pic>
      <p:sp>
        <p:nvSpPr>
          <p:cNvPr id="25" name="Text 20"/>
          <p:cNvSpPr txBox="1"/>
          <p:nvPr/>
        </p:nvSpPr>
        <p:spPr>
          <a:xfrm>
            <a:off x="4709160" y="2907792"/>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12 orders</a:t>
            </a:r>
            <a:r>
              <a:rPr lang="en-US" sz="1300" dirty="0">
                <a:solidFill>
                  <a:srgbClr val="1E2B3A"/>
                </a:solidFill>
                <a:latin typeface="Calibri" pitchFamily="34" charset="0"/>
                <a:ea typeface="Calibri" pitchFamily="34" charset="-122"/>
                <a:cs typeface="Calibri" pitchFamily="34" charset="-120"/>
              </a:rPr>
              <a:t>  placed so far</a:t>
            </a:r>
            <a:endParaRPr lang="en-US" sz="1400" dirty="0"/>
          </a:p>
        </p:txBody>
      </p:sp>
      <p:sp>
        <p:nvSpPr>
          <p:cNvPr id="26" name="Text 21"/>
          <p:cNvSpPr txBox="1"/>
          <p:nvPr/>
        </p:nvSpPr>
        <p:spPr>
          <a:xfrm>
            <a:off x="4709160" y="3291840"/>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3</a:t>
            </a:r>
            <a:endParaRPr lang="en-US" sz="1150" dirty="0"/>
          </a:p>
        </p:txBody>
      </p:sp>
      <p:sp>
        <p:nvSpPr>
          <p:cNvPr id="27" name="Shape 22"/>
          <p:cNvSpPr/>
          <p:nvPr/>
        </p:nvSpPr>
        <p:spPr>
          <a:xfrm>
            <a:off x="4069080" y="3803904"/>
            <a:ext cx="502920" cy="502920"/>
          </a:xfrm>
          <a:prstGeom prst="ellipse">
            <a:avLst/>
          </a:prstGeom>
          <a:solidFill>
            <a:srgbClr val="E6F2ED"/>
          </a:solidFill>
          <a:ln w="12700">
            <a:solidFill>
              <a:srgbClr val="E6F2ED"/>
            </a:solidFill>
            <a:prstDash val="solid"/>
          </a:ln>
        </p:spPr>
        <p:txBody>
          <a:bodyPr/>
          <a:lstStyle/>
          <a:p>
            <a:endParaRPr lang="en-CA"/>
          </a:p>
        </p:txBody>
      </p:sp>
      <p:pic>
        <p:nvPicPr>
          <p:cNvPr id="28" name="Image 3" descr="preencoded.png"/>
          <p:cNvPicPr>
            <a:picLocks noChangeAspect="1"/>
          </p:cNvPicPr>
          <p:nvPr/>
        </p:nvPicPr>
        <p:blipFill>
          <a:blip r:embed="rId6"/>
          <a:stretch>
            <a:fillRect/>
          </a:stretch>
        </p:blipFill>
        <p:spPr>
          <a:xfrm>
            <a:off x="4194810" y="3929634"/>
            <a:ext cx="251460" cy="251460"/>
          </a:xfrm>
          <a:prstGeom prst="rect">
            <a:avLst/>
          </a:prstGeom>
        </p:spPr>
      </p:pic>
      <p:sp>
        <p:nvSpPr>
          <p:cNvPr id="29" name="Text 23"/>
          <p:cNvSpPr txBox="1"/>
          <p:nvPr/>
        </p:nvSpPr>
        <p:spPr>
          <a:xfrm>
            <a:off x="4709160" y="3758184"/>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£4,429</a:t>
            </a:r>
            <a:r>
              <a:rPr lang="en-US" sz="1300" dirty="0">
                <a:solidFill>
                  <a:srgbClr val="1E2B3A"/>
                </a:solidFill>
                <a:latin typeface="Calibri" pitchFamily="34" charset="0"/>
                <a:ea typeface="Calibri" pitchFamily="34" charset="-122"/>
                <a:cs typeface="Calibri" pitchFamily="34" charset="-120"/>
              </a:rPr>
              <a:t>  spent so far</a:t>
            </a:r>
            <a:endParaRPr lang="en-US" sz="1400" dirty="0"/>
          </a:p>
        </p:txBody>
      </p:sp>
      <p:sp>
        <p:nvSpPr>
          <p:cNvPr id="30" name="Text 24"/>
          <p:cNvSpPr txBox="1"/>
          <p:nvPr/>
        </p:nvSpPr>
        <p:spPr>
          <a:xfrm>
            <a:off x="4709160" y="4142232"/>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£759</a:t>
            </a:r>
            <a:endParaRPr lang="en-US" sz="1150" dirty="0"/>
          </a:p>
        </p:txBody>
      </p:sp>
      <p:sp>
        <p:nvSpPr>
          <p:cNvPr id="31" name="Shape 25"/>
          <p:cNvSpPr/>
          <p:nvPr/>
        </p:nvSpPr>
        <p:spPr>
          <a:xfrm>
            <a:off x="4069080" y="4654296"/>
            <a:ext cx="502920" cy="502920"/>
          </a:xfrm>
          <a:prstGeom prst="ellipse">
            <a:avLst/>
          </a:prstGeom>
          <a:solidFill>
            <a:srgbClr val="E6F2ED"/>
          </a:solidFill>
          <a:ln w="12700">
            <a:solidFill>
              <a:srgbClr val="E6F2ED"/>
            </a:solidFill>
            <a:prstDash val="solid"/>
          </a:ln>
        </p:spPr>
        <p:txBody>
          <a:bodyPr/>
          <a:lstStyle/>
          <a:p>
            <a:endParaRPr lang="en-CA"/>
          </a:p>
        </p:txBody>
      </p:sp>
      <p:pic>
        <p:nvPicPr>
          <p:cNvPr id="32" name="Image 4" descr="preencoded.png"/>
          <p:cNvPicPr>
            <a:picLocks noChangeAspect="1"/>
          </p:cNvPicPr>
          <p:nvPr/>
        </p:nvPicPr>
        <p:blipFill>
          <a:blip r:embed="rId7"/>
          <a:stretch>
            <a:fillRect/>
          </a:stretch>
        </p:blipFill>
        <p:spPr>
          <a:xfrm>
            <a:off x="4194810" y="4780026"/>
            <a:ext cx="251460" cy="251460"/>
          </a:xfrm>
          <a:prstGeom prst="rect">
            <a:avLst/>
          </a:prstGeom>
        </p:spPr>
      </p:pic>
      <p:sp>
        <p:nvSpPr>
          <p:cNvPr id="33" name="Text 26"/>
          <p:cNvSpPr txBox="1"/>
          <p:nvPr/>
        </p:nvSpPr>
        <p:spPr>
          <a:xfrm>
            <a:off x="4709160" y="4608576"/>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140</a:t>
            </a:r>
            <a:r>
              <a:rPr lang="en-US" sz="1300" dirty="0">
                <a:solidFill>
                  <a:srgbClr val="1E2B3A"/>
                </a:solidFill>
                <a:latin typeface="Calibri" pitchFamily="34" charset="0"/>
                <a:ea typeface="Calibri" pitchFamily="34" charset="-122"/>
                <a:cs typeface="Calibri" pitchFamily="34" charset="-120"/>
              </a:rPr>
              <a:t>  different products bought</a:t>
            </a:r>
            <a:endParaRPr lang="en-US" sz="1400" dirty="0"/>
          </a:p>
        </p:txBody>
      </p:sp>
      <p:sp>
        <p:nvSpPr>
          <p:cNvPr id="34" name="Text 27"/>
          <p:cNvSpPr txBox="1"/>
          <p:nvPr/>
        </p:nvSpPr>
        <p:spPr>
          <a:xfrm>
            <a:off x="4709160" y="4992624"/>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41</a:t>
            </a:r>
            <a:endParaRPr lang="en-US" sz="1150" dirty="0"/>
          </a:p>
        </p:txBody>
      </p:sp>
      <p:sp>
        <p:nvSpPr>
          <p:cNvPr id="35" name="Shape 28"/>
          <p:cNvSpPr/>
          <p:nvPr/>
        </p:nvSpPr>
        <p:spPr>
          <a:xfrm>
            <a:off x="8092440" y="1600200"/>
            <a:ext cx="3547872" cy="1783080"/>
          </a:xfrm>
          <a:prstGeom prst="roundRect">
            <a:avLst>
              <a:gd name="adj" fmla="val 4103"/>
            </a:avLst>
          </a:prstGeom>
          <a:solidFill>
            <a:srgbClr val="F3F5F8"/>
          </a:solidFill>
          <a:ln w="12700">
            <a:solidFill>
              <a:srgbClr val="F3F5F8"/>
            </a:solidFill>
            <a:prstDash val="solid"/>
          </a:ln>
        </p:spPr>
        <p:txBody>
          <a:bodyPr/>
          <a:lstStyle/>
          <a:p>
            <a:endParaRPr lang="en-CA"/>
          </a:p>
        </p:txBody>
      </p:sp>
      <p:sp>
        <p:nvSpPr>
          <p:cNvPr id="36" name="Text 29"/>
          <p:cNvSpPr txBox="1"/>
          <p:nvPr/>
        </p:nvSpPr>
        <p:spPr>
          <a:xfrm>
            <a:off x="8321040" y="1719072"/>
            <a:ext cx="3108960" cy="274320"/>
          </a:xfrm>
          <a:prstGeom prst="rect">
            <a:avLst/>
          </a:prstGeom>
          <a:noFill/>
          <a:ln/>
        </p:spPr>
        <p:txBody>
          <a:bodyPr wrap="square" lIns="0" tIns="0" rIns="0" bIns="0" rtlCol="0" anchor="t"/>
          <a:lstStyle/>
          <a:p>
            <a:pPr marL="0" indent="0">
              <a:buNone/>
            </a:pPr>
            <a:r>
              <a:rPr lang="en-US" sz="1200" b="1" dirty="0">
                <a:solidFill>
                  <a:srgbClr val="1F7A5C"/>
                </a:solidFill>
                <a:latin typeface="Calibri" pitchFamily="34" charset="0"/>
                <a:ea typeface="Calibri" pitchFamily="34" charset="-122"/>
                <a:cs typeface="Calibri" pitchFamily="34" charset="-120"/>
              </a:rPr>
              <a:t>A real customer</a:t>
            </a:r>
            <a:endParaRPr lang="en-US" sz="1200" dirty="0"/>
          </a:p>
        </p:txBody>
      </p:sp>
      <p:sp>
        <p:nvSpPr>
          <p:cNvPr id="37" name="Text 30"/>
          <p:cNvSpPr txBox="1"/>
          <p:nvPr/>
        </p:nvSpPr>
        <p:spPr>
          <a:xfrm>
            <a:off x="8321040" y="2011680"/>
            <a:ext cx="3154680" cy="1325880"/>
          </a:xfrm>
          <a:prstGeom prst="rect">
            <a:avLst/>
          </a:prstGeom>
          <a:noFill/>
          <a:ln/>
        </p:spPr>
        <p:txBody>
          <a:bodyPr wrap="square" lIns="0" tIns="0" rIns="0" bIns="0" rtlCol="0" anchor="t"/>
          <a:lstStyle/>
          <a:p>
            <a:pPr marL="0" indent="0">
              <a:buNone/>
            </a:pPr>
            <a:r>
              <a:rPr lang="en-US" sz="1350" i="1" dirty="0">
                <a:solidFill>
                  <a:srgbClr val="1E2B3A"/>
                </a:solidFill>
                <a:latin typeface="Calibri" pitchFamily="34" charset="0"/>
                <a:ea typeface="Calibri" pitchFamily="34" charset="-122"/>
                <a:cs typeface="Calibri" pitchFamily="34" charset="-120"/>
              </a:rPr>
              <a:t>Customer 13078 has placed 46 orders and spent £22,710. Their last order was 14 days before the snapshot, and they ordered again in the next 3 months.</a:t>
            </a:r>
            <a:endParaRPr lang="en-US" sz="1350" dirty="0"/>
          </a:p>
        </p:txBody>
      </p:sp>
      <p:sp>
        <p:nvSpPr>
          <p:cNvPr id="38" name="Shape 31"/>
          <p:cNvSpPr/>
          <p:nvPr/>
        </p:nvSpPr>
        <p:spPr>
          <a:xfrm>
            <a:off x="8092440" y="3520440"/>
            <a:ext cx="3547872" cy="1920240"/>
          </a:xfrm>
          <a:prstGeom prst="roundRect">
            <a:avLst>
              <a:gd name="adj" fmla="val 3810"/>
            </a:avLst>
          </a:prstGeom>
          <a:solidFill>
            <a:srgbClr val="FFFFFF"/>
          </a:solidFill>
          <a:ln w="15875">
            <a:solidFill>
              <a:srgbClr val="1F7A5C"/>
            </a:solidFill>
            <a:prstDash val="solid"/>
          </a:ln>
        </p:spPr>
        <p:txBody>
          <a:bodyPr/>
          <a:lstStyle/>
          <a:p>
            <a:endParaRPr lang="en-CA"/>
          </a:p>
        </p:txBody>
      </p:sp>
      <p:sp>
        <p:nvSpPr>
          <p:cNvPr id="39" name="Text 32"/>
          <p:cNvSpPr txBox="1"/>
          <p:nvPr/>
        </p:nvSpPr>
        <p:spPr>
          <a:xfrm>
            <a:off x="8321040" y="3630168"/>
            <a:ext cx="3108960" cy="274320"/>
          </a:xfrm>
          <a:prstGeom prst="rect">
            <a:avLst/>
          </a:prstGeom>
          <a:noFill/>
          <a:ln/>
        </p:spPr>
        <p:txBody>
          <a:bodyPr wrap="square" lIns="0" tIns="0" rIns="0" bIns="0" rtlCol="0" anchor="t"/>
          <a:lstStyle/>
          <a:p>
            <a:pPr marL="0" indent="0">
              <a:buNone/>
            </a:pPr>
            <a:r>
              <a:rPr lang="en-US" sz="1200" b="1" dirty="0">
                <a:solidFill>
                  <a:srgbClr val="1F7A5C"/>
                </a:solidFill>
                <a:latin typeface="Calibri" pitchFamily="34" charset="0"/>
                <a:ea typeface="Calibri" pitchFamily="34" charset="-122"/>
                <a:cs typeface="Calibri" pitchFamily="34" charset="-120"/>
              </a:rPr>
              <a:t>What the CRM team does</a:t>
            </a:r>
            <a:endParaRPr lang="en-US" sz="1200" dirty="0"/>
          </a:p>
        </p:txBody>
      </p:sp>
      <p:sp>
        <p:nvSpPr>
          <p:cNvPr id="40" name="Text 33"/>
          <p:cNvSpPr txBox="1"/>
          <p:nvPr/>
        </p:nvSpPr>
        <p:spPr>
          <a:xfrm>
            <a:off x="8321040" y="3950208"/>
            <a:ext cx="3200400" cy="14630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Early access to new and Christmas ranges</a:t>
            </a:r>
            <a:endParaRPr lang="en-US" sz="1350" dirty="0"/>
          </a:p>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Named contact for the largest accounts</a:t>
            </a:r>
            <a:endParaRPr lang="en-US" sz="1350" dirty="0"/>
          </a:p>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Thank-you notes; discounts are not needed, most return anyway</a:t>
            </a:r>
            <a:endParaRPr lang="en-US" sz="1350" dirty="0"/>
          </a:p>
        </p:txBody>
      </p:sp>
      <p:sp>
        <p:nvSpPr>
          <p:cNvPr id="41" name="Shape 34"/>
          <p:cNvSpPr/>
          <p:nvPr/>
        </p:nvSpPr>
        <p:spPr>
          <a:xfrm>
            <a:off x="548640" y="5623560"/>
            <a:ext cx="11094415" cy="777240"/>
          </a:xfrm>
          <a:prstGeom prst="roundRect">
            <a:avLst>
              <a:gd name="adj" fmla="val 9412"/>
            </a:avLst>
          </a:prstGeom>
          <a:solidFill>
            <a:srgbClr val="1E2B3A"/>
          </a:solidFill>
          <a:ln w="12700">
            <a:solidFill>
              <a:srgbClr val="1E2B3A"/>
            </a:solidFill>
            <a:prstDash val="solid"/>
          </a:ln>
        </p:spPr>
        <p:txBody>
          <a:bodyPr/>
          <a:lstStyle/>
          <a:p>
            <a:endParaRPr lang="en-CA"/>
          </a:p>
        </p:txBody>
      </p:sp>
      <p:sp>
        <p:nvSpPr>
          <p:cNvPr id="43" name="Text 35"/>
          <p:cNvSpPr txBox="1"/>
          <p:nvPr/>
        </p:nvSpPr>
        <p:spPr>
          <a:xfrm>
            <a:off x="777240" y="5623560"/>
            <a:ext cx="10682935" cy="777240"/>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These 786 customers carry 60% of spend. Losing even a few costs more than any other group, so give them service and attention first.</a:t>
            </a:r>
            <a:endParaRPr lang="en-US" sz="1500" dirty="0"/>
          </a:p>
        </p:txBody>
      </p:sp>
      <p:sp>
        <p:nvSpPr>
          <p:cNvPr id="44"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2E6FB0"/>
                </a:solidFill>
                <a:latin typeface="Calibri" pitchFamily="34" charset="0"/>
                <a:ea typeface="Calibri" pitchFamily="34" charset="-122"/>
                <a:cs typeface="Calibri" pitchFamily="34" charset="-120"/>
              </a:rPr>
              <a:t>GROUP 2 OF 5  ·  STEADY REGULARS</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Steady Regulars are the next Top Customers, and the group we lose the most value from</a:t>
            </a:r>
            <a:endParaRPr lang="en-US" sz="2600" dirty="0"/>
          </a:p>
        </p:txBody>
      </p:sp>
      <p:sp>
        <p:nvSpPr>
          <p:cNvPr id="4" name="Shape 2"/>
          <p:cNvSpPr/>
          <p:nvPr/>
        </p:nvSpPr>
        <p:spPr>
          <a:xfrm>
            <a:off x="548640" y="1600200"/>
            <a:ext cx="3200400" cy="3840480"/>
          </a:xfrm>
          <a:prstGeom prst="roundRect">
            <a:avLst>
              <a:gd name="adj" fmla="val 2857"/>
            </a:avLst>
          </a:prstGeom>
          <a:solidFill>
            <a:srgbClr val="E7EFF8"/>
          </a:solidFill>
          <a:ln w="12700">
            <a:solidFill>
              <a:srgbClr val="E7EFF8"/>
            </a:solidFill>
            <a:prstDash val="solid"/>
          </a:ln>
        </p:spPr>
        <p:txBody>
          <a:bodyPr/>
          <a:lstStyle/>
          <a:p>
            <a:endParaRPr lang="en-CA"/>
          </a:p>
        </p:txBody>
      </p:sp>
      <p:sp>
        <p:nvSpPr>
          <p:cNvPr id="5" name="Shape 3"/>
          <p:cNvSpPr/>
          <p:nvPr/>
        </p:nvSpPr>
        <p:spPr>
          <a:xfrm>
            <a:off x="777240" y="1810512"/>
            <a:ext cx="777240" cy="777240"/>
          </a:xfrm>
          <a:prstGeom prst="ellipse">
            <a:avLst/>
          </a:prstGeom>
          <a:solidFill>
            <a:srgbClr val="2E6FB0"/>
          </a:solidFill>
          <a:ln w="12700">
            <a:solidFill>
              <a:srgbClr val="2E6FB0"/>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71550" y="2004822"/>
            <a:ext cx="388620" cy="388620"/>
          </a:xfrm>
          <a:prstGeom prst="rect">
            <a:avLst/>
          </a:prstGeom>
        </p:spPr>
      </p:pic>
      <p:sp>
        <p:nvSpPr>
          <p:cNvPr id="7" name="Text 4"/>
          <p:cNvSpPr txBox="1"/>
          <p:nvPr/>
        </p:nvSpPr>
        <p:spPr>
          <a:xfrm>
            <a:off x="1691640" y="1810512"/>
            <a:ext cx="1920240" cy="777240"/>
          </a:xfrm>
          <a:prstGeom prst="rect">
            <a:avLst/>
          </a:prstGeom>
          <a:noFill/>
          <a:ln/>
        </p:spPr>
        <p:txBody>
          <a:bodyPr wrap="square" lIns="0" tIns="0" rIns="0" bIns="0" rtlCol="0" anchor="ctr"/>
          <a:lstStyle/>
          <a:p>
            <a:pPr marL="0" indent="0">
              <a:buNone/>
            </a:pPr>
            <a:r>
              <a:rPr lang="en-US" sz="1800" b="1" dirty="0">
                <a:solidFill>
                  <a:srgbClr val="2E6FB0"/>
                </a:solidFill>
                <a:latin typeface="Calibri" pitchFamily="34" charset="0"/>
                <a:ea typeface="Calibri" pitchFamily="34" charset="-122"/>
                <a:cs typeface="Calibri" pitchFamily="34" charset="-120"/>
              </a:rPr>
              <a:t>Steady Regulars</a:t>
            </a:r>
            <a:endParaRPr lang="en-US" sz="1800" dirty="0"/>
          </a:p>
        </p:txBody>
      </p:sp>
      <p:sp>
        <p:nvSpPr>
          <p:cNvPr id="8" name="Text 5"/>
          <p:cNvSpPr txBox="1"/>
          <p:nvPr/>
        </p:nvSpPr>
        <p:spPr>
          <a:xfrm>
            <a:off x="777240" y="2743200"/>
            <a:ext cx="2788920" cy="731520"/>
          </a:xfrm>
          <a:prstGeom prst="rect">
            <a:avLst/>
          </a:prstGeom>
          <a:noFill/>
          <a:ln/>
        </p:spPr>
        <p:txBody>
          <a:bodyPr wrap="square" lIns="0" tIns="0" rIns="0" bIns="0" rtlCol="0" anchor="t"/>
          <a:lstStyle/>
          <a:p>
            <a:pPr marL="0" indent="0">
              <a:buNone/>
            </a:pPr>
            <a:r>
              <a:rPr lang="en-US" sz="1300" dirty="0">
                <a:solidFill>
                  <a:srgbClr val="1E2B3A"/>
                </a:solidFill>
                <a:latin typeface="Calibri" pitchFamily="34" charset="0"/>
                <a:ea typeface="Calibri" pitchFamily="34" charset="-122"/>
                <a:cs typeface="Calibri" pitchFamily="34" charset="-120"/>
              </a:rPr>
              <a:t>Order regularly with solid spend, like a smaller version of Top Customers</a:t>
            </a:r>
            <a:endParaRPr lang="en-US" sz="1300" dirty="0"/>
          </a:p>
        </p:txBody>
      </p:sp>
      <p:sp>
        <p:nvSpPr>
          <p:cNvPr id="9" name="Text 6"/>
          <p:cNvSpPr txBox="1"/>
          <p:nvPr/>
        </p:nvSpPr>
        <p:spPr>
          <a:xfrm>
            <a:off x="777240" y="3474720"/>
            <a:ext cx="1371600" cy="548640"/>
          </a:xfrm>
          <a:prstGeom prst="rect">
            <a:avLst/>
          </a:prstGeom>
          <a:noFill/>
          <a:ln/>
        </p:spPr>
        <p:txBody>
          <a:bodyPr wrap="square" lIns="0" tIns="0" rIns="0" bIns="0" rtlCol="0" anchor="t"/>
          <a:lstStyle/>
          <a:p>
            <a:pPr marL="0" indent="0">
              <a:buNone/>
            </a:pPr>
            <a:r>
              <a:rPr lang="en-US" sz="3200" b="1" dirty="0">
                <a:solidFill>
                  <a:srgbClr val="2E6FB0"/>
                </a:solidFill>
                <a:latin typeface="Cambria" pitchFamily="34" charset="0"/>
                <a:ea typeface="Cambria" pitchFamily="34" charset="-122"/>
                <a:cs typeface="Cambria" pitchFamily="34" charset="-120"/>
              </a:rPr>
              <a:t>21%</a:t>
            </a:r>
            <a:endParaRPr lang="en-US" sz="3200" dirty="0"/>
          </a:p>
        </p:txBody>
      </p:sp>
      <p:sp>
        <p:nvSpPr>
          <p:cNvPr id="10" name="Text 7"/>
          <p:cNvSpPr txBox="1"/>
          <p:nvPr/>
        </p:nvSpPr>
        <p:spPr>
          <a:xfrm>
            <a:off x="777240" y="4023360"/>
            <a:ext cx="1371600" cy="4572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 customers</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(1,120)</a:t>
            </a:r>
            <a:endParaRPr lang="en-US" sz="1100" dirty="0"/>
          </a:p>
        </p:txBody>
      </p:sp>
      <p:sp>
        <p:nvSpPr>
          <p:cNvPr id="11" name="Text 8"/>
          <p:cNvSpPr txBox="1"/>
          <p:nvPr/>
        </p:nvSpPr>
        <p:spPr>
          <a:xfrm>
            <a:off x="2194560" y="3474720"/>
            <a:ext cx="1371600" cy="548640"/>
          </a:xfrm>
          <a:prstGeom prst="rect">
            <a:avLst/>
          </a:prstGeom>
          <a:noFill/>
          <a:ln/>
        </p:spPr>
        <p:txBody>
          <a:bodyPr wrap="square" lIns="0" tIns="0" rIns="0" bIns="0" rtlCol="0" anchor="t"/>
          <a:lstStyle/>
          <a:p>
            <a:pPr marL="0" indent="0">
              <a:buNone/>
            </a:pPr>
            <a:r>
              <a:rPr lang="en-US" sz="3200" b="1" dirty="0">
                <a:solidFill>
                  <a:srgbClr val="1E2B3A"/>
                </a:solidFill>
                <a:latin typeface="Cambria" pitchFamily="34" charset="0"/>
                <a:ea typeface="Cambria" pitchFamily="34" charset="-122"/>
                <a:cs typeface="Cambria" pitchFamily="34" charset="-120"/>
              </a:rPr>
              <a:t>20%</a:t>
            </a:r>
            <a:endParaRPr lang="en-US" sz="3200" dirty="0"/>
          </a:p>
        </p:txBody>
      </p:sp>
      <p:sp>
        <p:nvSpPr>
          <p:cNvPr id="12" name="Text 9"/>
          <p:cNvSpPr txBox="1"/>
          <p:nvPr/>
        </p:nvSpPr>
        <p:spPr>
          <a:xfrm>
            <a:off x="2194560" y="4023360"/>
            <a:ext cx="1371600" cy="4572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 all revenue</a:t>
            </a:r>
            <a:endParaRPr lang="en-US" sz="1100" dirty="0"/>
          </a:p>
        </p:txBody>
      </p:sp>
      <p:sp>
        <p:nvSpPr>
          <p:cNvPr id="13" name="Text 10"/>
          <p:cNvSpPr txBox="1"/>
          <p:nvPr/>
        </p:nvSpPr>
        <p:spPr>
          <a:xfrm>
            <a:off x="777240" y="4572000"/>
            <a:ext cx="2788920" cy="2743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Placed no order in the next 3 months</a:t>
            </a:r>
            <a:endParaRPr lang="en-US" sz="1100" dirty="0"/>
          </a:p>
        </p:txBody>
      </p:sp>
      <p:sp>
        <p:nvSpPr>
          <p:cNvPr id="14" name="Shape 11"/>
          <p:cNvSpPr/>
          <p:nvPr/>
        </p:nvSpPr>
        <p:spPr>
          <a:xfrm>
            <a:off x="777240" y="4919472"/>
            <a:ext cx="2103120" cy="219456"/>
          </a:xfrm>
          <a:prstGeom prst="rect">
            <a:avLst/>
          </a:prstGeom>
          <a:solidFill>
            <a:srgbClr val="FFFFFF"/>
          </a:solidFill>
          <a:ln w="9525">
            <a:solidFill>
              <a:srgbClr val="D9DEE5"/>
            </a:solidFill>
            <a:prstDash val="solid"/>
          </a:ln>
        </p:spPr>
        <p:txBody>
          <a:bodyPr/>
          <a:lstStyle/>
          <a:p>
            <a:endParaRPr lang="en-CA"/>
          </a:p>
        </p:txBody>
      </p:sp>
      <p:sp>
        <p:nvSpPr>
          <p:cNvPr id="15" name="Shape 12"/>
          <p:cNvSpPr/>
          <p:nvPr/>
        </p:nvSpPr>
        <p:spPr>
          <a:xfrm>
            <a:off x="777240" y="4919472"/>
            <a:ext cx="841248" cy="219456"/>
          </a:xfrm>
          <a:prstGeom prst="rect">
            <a:avLst/>
          </a:prstGeom>
          <a:solidFill>
            <a:srgbClr val="2E6FB0"/>
          </a:solidFill>
          <a:ln w="12700">
            <a:solidFill>
              <a:srgbClr val="2E6FB0"/>
            </a:solidFill>
            <a:prstDash val="solid"/>
          </a:ln>
        </p:spPr>
        <p:txBody>
          <a:bodyPr/>
          <a:lstStyle/>
          <a:p>
            <a:endParaRPr lang="en-CA"/>
          </a:p>
        </p:txBody>
      </p:sp>
      <p:sp>
        <p:nvSpPr>
          <p:cNvPr id="16" name="Text 13"/>
          <p:cNvSpPr txBox="1"/>
          <p:nvPr/>
        </p:nvSpPr>
        <p:spPr>
          <a:xfrm>
            <a:off x="2971800" y="4828032"/>
            <a:ext cx="640080" cy="384048"/>
          </a:xfrm>
          <a:prstGeom prst="rect">
            <a:avLst/>
          </a:prstGeom>
          <a:noFill/>
          <a:ln/>
        </p:spPr>
        <p:txBody>
          <a:bodyPr wrap="square" lIns="0" tIns="0" rIns="0" bIns="0" rtlCol="0" anchor="ctr"/>
          <a:lstStyle/>
          <a:p>
            <a:pPr marL="0" indent="0">
              <a:buNone/>
            </a:pPr>
            <a:r>
              <a:rPr lang="en-US" sz="1800" b="1" dirty="0">
                <a:solidFill>
                  <a:srgbClr val="2E6FB0"/>
                </a:solidFill>
                <a:latin typeface="Calibri" pitchFamily="34" charset="0"/>
                <a:ea typeface="Calibri" pitchFamily="34" charset="-122"/>
                <a:cs typeface="Calibri" pitchFamily="34" charset="-120"/>
              </a:rPr>
              <a:t>40%</a:t>
            </a:r>
            <a:endParaRPr lang="en-US" sz="1800" dirty="0"/>
          </a:p>
        </p:txBody>
      </p:sp>
      <p:sp>
        <p:nvSpPr>
          <p:cNvPr id="17" name="Text 14"/>
          <p:cNvSpPr txBox="1"/>
          <p:nvPr/>
        </p:nvSpPr>
        <p:spPr>
          <a:xfrm>
            <a:off x="777240" y="5157216"/>
            <a:ext cx="2788920" cy="237744"/>
          </a:xfrm>
          <a:prstGeom prst="rect">
            <a:avLst/>
          </a:prstGeom>
          <a:noFill/>
          <a:ln/>
        </p:spPr>
        <p:txBody>
          <a:bodyPr wrap="square" lIns="0" tIns="0" rIns="0" bIns="0" rtlCol="0" anchor="t"/>
          <a:lstStyle/>
          <a:p>
            <a:pPr marL="0" indent="0">
              <a:buNone/>
            </a:pPr>
            <a:r>
              <a:rPr lang="en-US" sz="1000" dirty="0">
                <a:solidFill>
                  <a:srgbClr val="5B6675"/>
                </a:solidFill>
                <a:latin typeface="Calibri" pitchFamily="34" charset="0"/>
                <a:ea typeface="Calibri" pitchFamily="34" charset="-122"/>
                <a:cs typeface="Calibri" pitchFamily="34" charset="-120"/>
              </a:rPr>
              <a:t>Summer period: 51%</a:t>
            </a:r>
            <a:endParaRPr lang="en-US" sz="1000" dirty="0"/>
          </a:p>
        </p:txBody>
      </p:sp>
      <p:sp>
        <p:nvSpPr>
          <p:cNvPr id="18" name="Text 15"/>
          <p:cNvSpPr txBox="1"/>
          <p:nvPr/>
        </p:nvSpPr>
        <p:spPr>
          <a:xfrm>
            <a:off x="4069080" y="1600200"/>
            <a:ext cx="374904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What makes them different</a:t>
            </a:r>
            <a:endParaRPr lang="en-US" sz="1500" dirty="0"/>
          </a:p>
        </p:txBody>
      </p:sp>
      <p:sp>
        <p:nvSpPr>
          <p:cNvPr id="19" name="Shape 16"/>
          <p:cNvSpPr/>
          <p:nvPr/>
        </p:nvSpPr>
        <p:spPr>
          <a:xfrm>
            <a:off x="4069080" y="2103120"/>
            <a:ext cx="502920" cy="502920"/>
          </a:xfrm>
          <a:prstGeom prst="ellipse">
            <a:avLst/>
          </a:prstGeom>
          <a:solidFill>
            <a:srgbClr val="E7EFF8"/>
          </a:solidFill>
          <a:ln w="12700">
            <a:solidFill>
              <a:srgbClr val="E7EFF8"/>
            </a:solidFill>
            <a:prstDash val="solid"/>
          </a:ln>
        </p:spPr>
        <p:txBody>
          <a:bodyPr/>
          <a:lstStyle/>
          <a:p>
            <a:endParaRPr lang="en-CA"/>
          </a:p>
        </p:txBody>
      </p:sp>
      <p:pic>
        <p:nvPicPr>
          <p:cNvPr id="20" name="Image 1" descr="preencoded.png"/>
          <p:cNvPicPr>
            <a:picLocks noChangeAspect="1"/>
          </p:cNvPicPr>
          <p:nvPr/>
        </p:nvPicPr>
        <p:blipFill>
          <a:blip r:embed="rId4"/>
          <a:stretch>
            <a:fillRect/>
          </a:stretch>
        </p:blipFill>
        <p:spPr>
          <a:xfrm>
            <a:off x="4194810" y="2228850"/>
            <a:ext cx="251460" cy="251460"/>
          </a:xfrm>
          <a:prstGeom prst="rect">
            <a:avLst/>
          </a:prstGeom>
        </p:spPr>
      </p:pic>
      <p:sp>
        <p:nvSpPr>
          <p:cNvPr id="21" name="Text 17"/>
          <p:cNvSpPr txBox="1"/>
          <p:nvPr/>
        </p:nvSpPr>
        <p:spPr>
          <a:xfrm>
            <a:off x="4709160" y="2057400"/>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78 days</a:t>
            </a:r>
            <a:r>
              <a:rPr lang="en-US" sz="1300" dirty="0">
                <a:solidFill>
                  <a:srgbClr val="1E2B3A"/>
                </a:solidFill>
                <a:latin typeface="Calibri" pitchFamily="34" charset="0"/>
                <a:ea typeface="Calibri" pitchFamily="34" charset="-122"/>
                <a:cs typeface="Calibri" pitchFamily="34" charset="-120"/>
              </a:rPr>
              <a:t>  since last order</a:t>
            </a:r>
            <a:endParaRPr lang="en-US" sz="1400" dirty="0"/>
          </a:p>
        </p:txBody>
      </p:sp>
      <p:sp>
        <p:nvSpPr>
          <p:cNvPr id="22" name="Text 18"/>
          <p:cNvSpPr txBox="1"/>
          <p:nvPr/>
        </p:nvSpPr>
        <p:spPr>
          <a:xfrm>
            <a:off x="4709160" y="2441448"/>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162 days</a:t>
            </a:r>
            <a:endParaRPr lang="en-US" sz="1150" dirty="0"/>
          </a:p>
        </p:txBody>
      </p:sp>
      <p:sp>
        <p:nvSpPr>
          <p:cNvPr id="23" name="Shape 19"/>
          <p:cNvSpPr/>
          <p:nvPr/>
        </p:nvSpPr>
        <p:spPr>
          <a:xfrm>
            <a:off x="4069080" y="2953512"/>
            <a:ext cx="502920" cy="502920"/>
          </a:xfrm>
          <a:prstGeom prst="ellipse">
            <a:avLst/>
          </a:prstGeom>
          <a:solidFill>
            <a:srgbClr val="E7EFF8"/>
          </a:solidFill>
          <a:ln w="12700">
            <a:solidFill>
              <a:srgbClr val="E7EFF8"/>
            </a:solidFill>
            <a:prstDash val="solid"/>
          </a:ln>
        </p:spPr>
        <p:txBody>
          <a:bodyPr/>
          <a:lstStyle/>
          <a:p>
            <a:endParaRPr lang="en-CA"/>
          </a:p>
        </p:txBody>
      </p:sp>
      <p:pic>
        <p:nvPicPr>
          <p:cNvPr id="24" name="Image 2" descr="preencoded.png"/>
          <p:cNvPicPr>
            <a:picLocks noChangeAspect="1"/>
          </p:cNvPicPr>
          <p:nvPr/>
        </p:nvPicPr>
        <p:blipFill>
          <a:blip r:embed="rId5"/>
          <a:stretch>
            <a:fillRect/>
          </a:stretch>
        </p:blipFill>
        <p:spPr>
          <a:xfrm>
            <a:off x="4194810" y="3079242"/>
            <a:ext cx="251460" cy="251460"/>
          </a:xfrm>
          <a:prstGeom prst="rect">
            <a:avLst/>
          </a:prstGeom>
        </p:spPr>
      </p:pic>
      <p:sp>
        <p:nvSpPr>
          <p:cNvPr id="25" name="Text 20"/>
          <p:cNvSpPr txBox="1"/>
          <p:nvPr/>
        </p:nvSpPr>
        <p:spPr>
          <a:xfrm>
            <a:off x="4709160" y="2907792"/>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5 orders</a:t>
            </a:r>
            <a:r>
              <a:rPr lang="en-US" sz="1300" dirty="0">
                <a:solidFill>
                  <a:srgbClr val="1E2B3A"/>
                </a:solidFill>
                <a:latin typeface="Calibri" pitchFamily="34" charset="0"/>
                <a:ea typeface="Calibri" pitchFamily="34" charset="-122"/>
                <a:cs typeface="Calibri" pitchFamily="34" charset="-120"/>
              </a:rPr>
              <a:t>  placed so far</a:t>
            </a:r>
            <a:endParaRPr lang="en-US" sz="1400" dirty="0"/>
          </a:p>
        </p:txBody>
      </p:sp>
      <p:sp>
        <p:nvSpPr>
          <p:cNvPr id="26" name="Text 21"/>
          <p:cNvSpPr txBox="1"/>
          <p:nvPr/>
        </p:nvSpPr>
        <p:spPr>
          <a:xfrm>
            <a:off x="4709160" y="3291840"/>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3</a:t>
            </a:r>
            <a:endParaRPr lang="en-US" sz="1150" dirty="0"/>
          </a:p>
        </p:txBody>
      </p:sp>
      <p:sp>
        <p:nvSpPr>
          <p:cNvPr id="27" name="Shape 22"/>
          <p:cNvSpPr/>
          <p:nvPr/>
        </p:nvSpPr>
        <p:spPr>
          <a:xfrm>
            <a:off x="4069080" y="3803904"/>
            <a:ext cx="502920" cy="502920"/>
          </a:xfrm>
          <a:prstGeom prst="ellipse">
            <a:avLst/>
          </a:prstGeom>
          <a:solidFill>
            <a:srgbClr val="E7EFF8"/>
          </a:solidFill>
          <a:ln w="12700">
            <a:solidFill>
              <a:srgbClr val="E7EFF8"/>
            </a:solidFill>
            <a:prstDash val="solid"/>
          </a:ln>
        </p:spPr>
        <p:txBody>
          <a:bodyPr/>
          <a:lstStyle/>
          <a:p>
            <a:endParaRPr lang="en-CA"/>
          </a:p>
        </p:txBody>
      </p:sp>
      <p:pic>
        <p:nvPicPr>
          <p:cNvPr id="28" name="Image 3" descr="preencoded.png"/>
          <p:cNvPicPr>
            <a:picLocks noChangeAspect="1"/>
          </p:cNvPicPr>
          <p:nvPr/>
        </p:nvPicPr>
        <p:blipFill>
          <a:blip r:embed="rId6"/>
          <a:stretch>
            <a:fillRect/>
          </a:stretch>
        </p:blipFill>
        <p:spPr>
          <a:xfrm>
            <a:off x="4194810" y="3929634"/>
            <a:ext cx="251460" cy="251460"/>
          </a:xfrm>
          <a:prstGeom prst="rect">
            <a:avLst/>
          </a:prstGeom>
        </p:spPr>
      </p:pic>
      <p:sp>
        <p:nvSpPr>
          <p:cNvPr id="29" name="Text 23"/>
          <p:cNvSpPr txBox="1"/>
          <p:nvPr/>
        </p:nvSpPr>
        <p:spPr>
          <a:xfrm>
            <a:off x="4709160" y="3758184"/>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£1,496</a:t>
            </a:r>
            <a:r>
              <a:rPr lang="en-US" sz="1300" dirty="0">
                <a:solidFill>
                  <a:srgbClr val="1E2B3A"/>
                </a:solidFill>
                <a:latin typeface="Calibri" pitchFamily="34" charset="0"/>
                <a:ea typeface="Calibri" pitchFamily="34" charset="-122"/>
                <a:cs typeface="Calibri" pitchFamily="34" charset="-120"/>
              </a:rPr>
              <a:t>  spent so far</a:t>
            </a:r>
            <a:endParaRPr lang="en-US" sz="1400" dirty="0"/>
          </a:p>
        </p:txBody>
      </p:sp>
      <p:sp>
        <p:nvSpPr>
          <p:cNvPr id="30" name="Text 24"/>
          <p:cNvSpPr txBox="1"/>
          <p:nvPr/>
        </p:nvSpPr>
        <p:spPr>
          <a:xfrm>
            <a:off x="4709160" y="4142232"/>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£759</a:t>
            </a:r>
            <a:endParaRPr lang="en-US" sz="1150" dirty="0"/>
          </a:p>
        </p:txBody>
      </p:sp>
      <p:sp>
        <p:nvSpPr>
          <p:cNvPr id="31" name="Shape 25"/>
          <p:cNvSpPr/>
          <p:nvPr/>
        </p:nvSpPr>
        <p:spPr>
          <a:xfrm>
            <a:off x="4069080" y="4654296"/>
            <a:ext cx="502920" cy="502920"/>
          </a:xfrm>
          <a:prstGeom prst="ellipse">
            <a:avLst/>
          </a:prstGeom>
          <a:solidFill>
            <a:srgbClr val="E7EFF8"/>
          </a:solidFill>
          <a:ln w="12700">
            <a:solidFill>
              <a:srgbClr val="E7EFF8"/>
            </a:solidFill>
            <a:prstDash val="solid"/>
          </a:ln>
        </p:spPr>
        <p:txBody>
          <a:bodyPr/>
          <a:lstStyle/>
          <a:p>
            <a:endParaRPr lang="en-CA"/>
          </a:p>
        </p:txBody>
      </p:sp>
      <p:pic>
        <p:nvPicPr>
          <p:cNvPr id="32" name="Image 4" descr="preencoded.png"/>
          <p:cNvPicPr>
            <a:picLocks noChangeAspect="1"/>
          </p:cNvPicPr>
          <p:nvPr/>
        </p:nvPicPr>
        <p:blipFill>
          <a:blip r:embed="rId7"/>
          <a:stretch>
            <a:fillRect/>
          </a:stretch>
        </p:blipFill>
        <p:spPr>
          <a:xfrm>
            <a:off x="4194810" y="4780026"/>
            <a:ext cx="251460" cy="251460"/>
          </a:xfrm>
          <a:prstGeom prst="rect">
            <a:avLst/>
          </a:prstGeom>
        </p:spPr>
      </p:pic>
      <p:sp>
        <p:nvSpPr>
          <p:cNvPr id="33" name="Text 26"/>
          <p:cNvSpPr txBox="1"/>
          <p:nvPr/>
        </p:nvSpPr>
        <p:spPr>
          <a:xfrm>
            <a:off x="4709160" y="4608576"/>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72</a:t>
            </a:r>
            <a:r>
              <a:rPr lang="en-US" sz="1300" dirty="0">
                <a:solidFill>
                  <a:srgbClr val="1E2B3A"/>
                </a:solidFill>
                <a:latin typeface="Calibri" pitchFamily="34" charset="0"/>
                <a:ea typeface="Calibri" pitchFamily="34" charset="-122"/>
                <a:cs typeface="Calibri" pitchFamily="34" charset="-120"/>
              </a:rPr>
              <a:t>  different products bought</a:t>
            </a:r>
            <a:endParaRPr lang="en-US" sz="1400" dirty="0"/>
          </a:p>
        </p:txBody>
      </p:sp>
      <p:sp>
        <p:nvSpPr>
          <p:cNvPr id="34" name="Text 27"/>
          <p:cNvSpPr txBox="1"/>
          <p:nvPr/>
        </p:nvSpPr>
        <p:spPr>
          <a:xfrm>
            <a:off x="4709160" y="4992624"/>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41</a:t>
            </a:r>
            <a:endParaRPr lang="en-US" sz="1150" dirty="0"/>
          </a:p>
        </p:txBody>
      </p:sp>
      <p:sp>
        <p:nvSpPr>
          <p:cNvPr id="35" name="Shape 28"/>
          <p:cNvSpPr/>
          <p:nvPr/>
        </p:nvSpPr>
        <p:spPr>
          <a:xfrm>
            <a:off x="8092440" y="1600200"/>
            <a:ext cx="3547872" cy="1783080"/>
          </a:xfrm>
          <a:prstGeom prst="roundRect">
            <a:avLst>
              <a:gd name="adj" fmla="val 4103"/>
            </a:avLst>
          </a:prstGeom>
          <a:solidFill>
            <a:srgbClr val="F3F5F8"/>
          </a:solidFill>
          <a:ln w="12700">
            <a:solidFill>
              <a:srgbClr val="F3F5F8"/>
            </a:solidFill>
            <a:prstDash val="solid"/>
          </a:ln>
        </p:spPr>
        <p:txBody>
          <a:bodyPr/>
          <a:lstStyle/>
          <a:p>
            <a:endParaRPr lang="en-CA"/>
          </a:p>
        </p:txBody>
      </p:sp>
      <p:sp>
        <p:nvSpPr>
          <p:cNvPr id="36" name="Text 29"/>
          <p:cNvSpPr txBox="1"/>
          <p:nvPr/>
        </p:nvSpPr>
        <p:spPr>
          <a:xfrm>
            <a:off x="8321040" y="1719072"/>
            <a:ext cx="3108960" cy="274320"/>
          </a:xfrm>
          <a:prstGeom prst="rect">
            <a:avLst/>
          </a:prstGeom>
          <a:noFill/>
          <a:ln/>
        </p:spPr>
        <p:txBody>
          <a:bodyPr wrap="square" lIns="0" tIns="0" rIns="0" bIns="0" rtlCol="0" anchor="t"/>
          <a:lstStyle/>
          <a:p>
            <a:pPr marL="0" indent="0">
              <a:buNone/>
            </a:pPr>
            <a:r>
              <a:rPr lang="en-US" sz="1200" b="1" dirty="0">
                <a:solidFill>
                  <a:srgbClr val="2E6FB0"/>
                </a:solidFill>
                <a:latin typeface="Calibri" pitchFamily="34" charset="0"/>
                <a:ea typeface="Calibri" pitchFamily="34" charset="-122"/>
                <a:cs typeface="Calibri" pitchFamily="34" charset="-120"/>
              </a:rPr>
              <a:t>A real customer</a:t>
            </a:r>
            <a:endParaRPr lang="en-US" sz="1200" dirty="0"/>
          </a:p>
        </p:txBody>
      </p:sp>
      <p:sp>
        <p:nvSpPr>
          <p:cNvPr id="37" name="Text 30"/>
          <p:cNvSpPr txBox="1"/>
          <p:nvPr/>
        </p:nvSpPr>
        <p:spPr>
          <a:xfrm>
            <a:off x="8321040" y="2011680"/>
            <a:ext cx="3154680" cy="1325880"/>
          </a:xfrm>
          <a:prstGeom prst="rect">
            <a:avLst/>
          </a:prstGeom>
          <a:noFill/>
          <a:ln/>
        </p:spPr>
        <p:txBody>
          <a:bodyPr wrap="square" lIns="0" tIns="0" rIns="0" bIns="0" rtlCol="0" anchor="t"/>
          <a:lstStyle/>
          <a:p>
            <a:pPr marL="0" indent="0">
              <a:buNone/>
            </a:pPr>
            <a:r>
              <a:rPr lang="en-US" sz="1350" i="1" dirty="0">
                <a:solidFill>
                  <a:srgbClr val="1E2B3A"/>
                </a:solidFill>
                <a:latin typeface="Calibri" pitchFamily="34" charset="0"/>
                <a:ea typeface="Calibri" pitchFamily="34" charset="-122"/>
                <a:cs typeface="Calibri" pitchFamily="34" charset="-120"/>
              </a:rPr>
              <a:t>Customer 13085 first ordered in Dec 2009: Christmas lights, cherry lights and a strawberry trinket box. 8 orders and £2,290 later, they placed no order in the next 3 months.</a:t>
            </a:r>
            <a:endParaRPr lang="en-US" sz="1350" dirty="0"/>
          </a:p>
        </p:txBody>
      </p:sp>
      <p:sp>
        <p:nvSpPr>
          <p:cNvPr id="38" name="Shape 31"/>
          <p:cNvSpPr/>
          <p:nvPr/>
        </p:nvSpPr>
        <p:spPr>
          <a:xfrm>
            <a:off x="8092440" y="3520440"/>
            <a:ext cx="3547872" cy="1920240"/>
          </a:xfrm>
          <a:prstGeom prst="roundRect">
            <a:avLst>
              <a:gd name="adj" fmla="val 3810"/>
            </a:avLst>
          </a:prstGeom>
          <a:solidFill>
            <a:srgbClr val="FFFFFF"/>
          </a:solidFill>
          <a:ln w="15875">
            <a:solidFill>
              <a:srgbClr val="2E6FB0"/>
            </a:solidFill>
            <a:prstDash val="solid"/>
          </a:ln>
        </p:spPr>
        <p:txBody>
          <a:bodyPr/>
          <a:lstStyle/>
          <a:p>
            <a:endParaRPr lang="en-CA"/>
          </a:p>
        </p:txBody>
      </p:sp>
      <p:sp>
        <p:nvSpPr>
          <p:cNvPr id="39" name="Text 32"/>
          <p:cNvSpPr txBox="1"/>
          <p:nvPr/>
        </p:nvSpPr>
        <p:spPr>
          <a:xfrm>
            <a:off x="8321040" y="3630168"/>
            <a:ext cx="3108960" cy="274320"/>
          </a:xfrm>
          <a:prstGeom prst="rect">
            <a:avLst/>
          </a:prstGeom>
          <a:noFill/>
          <a:ln/>
        </p:spPr>
        <p:txBody>
          <a:bodyPr wrap="square" lIns="0" tIns="0" rIns="0" bIns="0" rtlCol="0" anchor="t"/>
          <a:lstStyle/>
          <a:p>
            <a:pPr marL="0" indent="0">
              <a:buNone/>
            </a:pPr>
            <a:r>
              <a:rPr lang="en-US" sz="1200" b="1" dirty="0">
                <a:solidFill>
                  <a:srgbClr val="2E6FB0"/>
                </a:solidFill>
                <a:latin typeface="Calibri" pitchFamily="34" charset="0"/>
                <a:ea typeface="Calibri" pitchFamily="34" charset="-122"/>
                <a:cs typeface="Calibri" pitchFamily="34" charset="-120"/>
              </a:rPr>
              <a:t>What the CRM team does</a:t>
            </a:r>
            <a:endParaRPr lang="en-US" sz="1200" dirty="0"/>
          </a:p>
        </p:txBody>
      </p:sp>
      <p:sp>
        <p:nvSpPr>
          <p:cNvPr id="40" name="Text 33"/>
          <p:cNvSpPr txBox="1"/>
          <p:nvPr/>
        </p:nvSpPr>
        <p:spPr>
          <a:xfrm>
            <a:off x="8321040" y="3950208"/>
            <a:ext cx="3200400" cy="14630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Product suggestions based on past orders</a:t>
            </a:r>
            <a:endParaRPr lang="en-US" sz="1350" dirty="0"/>
          </a:p>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Reminder once 60 days pass with no order</a:t>
            </a:r>
            <a:endParaRPr lang="en-US" sz="1350" dirty="0"/>
          </a:p>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Small reward for ordering more often</a:t>
            </a:r>
            <a:endParaRPr lang="en-US" sz="1350" dirty="0"/>
          </a:p>
        </p:txBody>
      </p:sp>
      <p:sp>
        <p:nvSpPr>
          <p:cNvPr id="41" name="Shape 34"/>
          <p:cNvSpPr/>
          <p:nvPr/>
        </p:nvSpPr>
        <p:spPr>
          <a:xfrm>
            <a:off x="548640" y="5623560"/>
            <a:ext cx="11094415" cy="777240"/>
          </a:xfrm>
          <a:prstGeom prst="roundRect">
            <a:avLst>
              <a:gd name="adj" fmla="val 9412"/>
            </a:avLst>
          </a:prstGeom>
          <a:solidFill>
            <a:srgbClr val="1E2B3A"/>
          </a:solidFill>
          <a:ln w="12700">
            <a:solidFill>
              <a:srgbClr val="1E2B3A"/>
            </a:solidFill>
            <a:prstDash val="solid"/>
          </a:ln>
        </p:spPr>
        <p:txBody>
          <a:bodyPr/>
          <a:lstStyle/>
          <a:p>
            <a:endParaRPr lang="en-CA"/>
          </a:p>
        </p:txBody>
      </p:sp>
      <p:sp>
        <p:nvSpPr>
          <p:cNvPr id="43" name="Text 35"/>
          <p:cNvSpPr txBox="1"/>
          <p:nvPr/>
        </p:nvSpPr>
        <p:spPr>
          <a:xfrm>
            <a:off x="777240" y="5623560"/>
            <a:ext cx="10682935" cy="777240"/>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444 Steady Regulars placed no order in the next 3 months. Yet 1 in 4 moved up to Top Customers over the summer. This is the group to grow.</a:t>
            </a:r>
            <a:endParaRPr lang="en-US" sz="1500" dirty="0"/>
          </a:p>
        </p:txBody>
      </p:sp>
      <p:sp>
        <p:nvSpPr>
          <p:cNvPr id="44"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C9820E"/>
                </a:solidFill>
                <a:latin typeface="Calibri" pitchFamily="34" charset="0"/>
                <a:ea typeface="Calibri" pitchFamily="34" charset="-122"/>
                <a:cs typeface="Calibri" pitchFamily="34" charset="-120"/>
              </a:rPr>
              <a:t>GROUP 3 OF 5  ·  NEW STARTERS</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New Starters: getting them to a third order is what makes them stay</a:t>
            </a:r>
            <a:endParaRPr lang="en-US" sz="2600" dirty="0"/>
          </a:p>
        </p:txBody>
      </p:sp>
      <p:sp>
        <p:nvSpPr>
          <p:cNvPr id="4" name="Shape 2"/>
          <p:cNvSpPr/>
          <p:nvPr/>
        </p:nvSpPr>
        <p:spPr>
          <a:xfrm>
            <a:off x="548640" y="1600200"/>
            <a:ext cx="3200400" cy="3840480"/>
          </a:xfrm>
          <a:prstGeom prst="roundRect">
            <a:avLst>
              <a:gd name="adj" fmla="val 2857"/>
            </a:avLst>
          </a:prstGeom>
          <a:solidFill>
            <a:srgbClr val="FBF1E0"/>
          </a:solidFill>
          <a:ln w="12700">
            <a:solidFill>
              <a:srgbClr val="FBF1E0"/>
            </a:solidFill>
            <a:prstDash val="solid"/>
          </a:ln>
        </p:spPr>
        <p:txBody>
          <a:bodyPr/>
          <a:lstStyle/>
          <a:p>
            <a:endParaRPr lang="en-CA"/>
          </a:p>
        </p:txBody>
      </p:sp>
      <p:sp>
        <p:nvSpPr>
          <p:cNvPr id="5" name="Shape 3"/>
          <p:cNvSpPr/>
          <p:nvPr/>
        </p:nvSpPr>
        <p:spPr>
          <a:xfrm>
            <a:off x="777240" y="1810512"/>
            <a:ext cx="777240" cy="777240"/>
          </a:xfrm>
          <a:prstGeom prst="ellipse">
            <a:avLst/>
          </a:prstGeom>
          <a:solidFill>
            <a:srgbClr val="C9820E"/>
          </a:solidFill>
          <a:ln w="12700">
            <a:solidFill>
              <a:srgbClr val="C9820E"/>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71550" y="2004822"/>
            <a:ext cx="388620" cy="388620"/>
          </a:xfrm>
          <a:prstGeom prst="rect">
            <a:avLst/>
          </a:prstGeom>
        </p:spPr>
      </p:pic>
      <p:sp>
        <p:nvSpPr>
          <p:cNvPr id="7" name="Text 4"/>
          <p:cNvSpPr txBox="1"/>
          <p:nvPr/>
        </p:nvSpPr>
        <p:spPr>
          <a:xfrm>
            <a:off x="1691640" y="1810512"/>
            <a:ext cx="1920240" cy="777240"/>
          </a:xfrm>
          <a:prstGeom prst="rect">
            <a:avLst/>
          </a:prstGeom>
          <a:noFill/>
          <a:ln/>
        </p:spPr>
        <p:txBody>
          <a:bodyPr wrap="square" lIns="0" tIns="0" rIns="0" bIns="0" rtlCol="0" anchor="ctr"/>
          <a:lstStyle/>
          <a:p>
            <a:pPr marL="0" indent="0">
              <a:buNone/>
            </a:pPr>
            <a:r>
              <a:rPr lang="en-US" sz="1800" b="1" dirty="0">
                <a:solidFill>
                  <a:srgbClr val="C9820E"/>
                </a:solidFill>
                <a:latin typeface="Calibri" pitchFamily="34" charset="0"/>
                <a:ea typeface="Calibri" pitchFamily="34" charset="-122"/>
                <a:cs typeface="Calibri" pitchFamily="34" charset="-120"/>
              </a:rPr>
              <a:t>New Starters</a:t>
            </a:r>
            <a:endParaRPr lang="en-US" sz="1800" dirty="0"/>
          </a:p>
        </p:txBody>
      </p:sp>
      <p:sp>
        <p:nvSpPr>
          <p:cNvPr id="8" name="Text 5"/>
          <p:cNvSpPr txBox="1"/>
          <p:nvPr/>
        </p:nvSpPr>
        <p:spPr>
          <a:xfrm>
            <a:off x="777240" y="2743200"/>
            <a:ext cx="2788920" cy="731520"/>
          </a:xfrm>
          <a:prstGeom prst="rect">
            <a:avLst/>
          </a:prstGeom>
          <a:noFill/>
          <a:ln/>
        </p:spPr>
        <p:txBody>
          <a:bodyPr wrap="square" lIns="0" tIns="0" rIns="0" bIns="0" rtlCol="0" anchor="t"/>
          <a:lstStyle/>
          <a:p>
            <a:pPr marL="0" indent="0">
              <a:buNone/>
            </a:pPr>
            <a:r>
              <a:rPr lang="en-US" sz="1300" dirty="0">
                <a:solidFill>
                  <a:srgbClr val="1E2B3A"/>
                </a:solidFill>
                <a:latin typeface="Calibri" pitchFamily="34" charset="0"/>
                <a:ea typeface="Calibri" pitchFamily="34" charset="-122"/>
                <a:cs typeface="Calibri" pitchFamily="34" charset="-120"/>
              </a:rPr>
              <a:t>Recent buyers with only one or two orders so far</a:t>
            </a:r>
            <a:endParaRPr lang="en-US" sz="1300" dirty="0"/>
          </a:p>
        </p:txBody>
      </p:sp>
      <p:sp>
        <p:nvSpPr>
          <p:cNvPr id="9" name="Text 6"/>
          <p:cNvSpPr txBox="1"/>
          <p:nvPr/>
        </p:nvSpPr>
        <p:spPr>
          <a:xfrm>
            <a:off x="777240" y="3474720"/>
            <a:ext cx="1371600" cy="548640"/>
          </a:xfrm>
          <a:prstGeom prst="rect">
            <a:avLst/>
          </a:prstGeom>
          <a:noFill/>
          <a:ln/>
        </p:spPr>
        <p:txBody>
          <a:bodyPr wrap="square" lIns="0" tIns="0" rIns="0" bIns="0" rtlCol="0" anchor="t"/>
          <a:lstStyle/>
          <a:p>
            <a:pPr marL="0" indent="0">
              <a:buNone/>
            </a:pPr>
            <a:r>
              <a:rPr lang="en-US" sz="3200" b="1" dirty="0">
                <a:solidFill>
                  <a:srgbClr val="C9820E"/>
                </a:solidFill>
                <a:latin typeface="Cambria" pitchFamily="34" charset="0"/>
                <a:ea typeface="Cambria" pitchFamily="34" charset="-122"/>
                <a:cs typeface="Cambria" pitchFamily="34" charset="-120"/>
              </a:rPr>
              <a:t>14%</a:t>
            </a:r>
            <a:endParaRPr lang="en-US" sz="3200" dirty="0"/>
          </a:p>
        </p:txBody>
      </p:sp>
      <p:sp>
        <p:nvSpPr>
          <p:cNvPr id="10" name="Text 7"/>
          <p:cNvSpPr txBox="1"/>
          <p:nvPr/>
        </p:nvSpPr>
        <p:spPr>
          <a:xfrm>
            <a:off x="777240" y="4023360"/>
            <a:ext cx="1371600" cy="4572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 customers</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(722)</a:t>
            </a:r>
            <a:endParaRPr lang="en-US" sz="1100" dirty="0"/>
          </a:p>
        </p:txBody>
      </p:sp>
      <p:sp>
        <p:nvSpPr>
          <p:cNvPr id="11" name="Text 8"/>
          <p:cNvSpPr txBox="1"/>
          <p:nvPr/>
        </p:nvSpPr>
        <p:spPr>
          <a:xfrm>
            <a:off x="2194560" y="3474720"/>
            <a:ext cx="1371600" cy="548640"/>
          </a:xfrm>
          <a:prstGeom prst="rect">
            <a:avLst/>
          </a:prstGeom>
          <a:noFill/>
          <a:ln/>
        </p:spPr>
        <p:txBody>
          <a:bodyPr wrap="square" lIns="0" tIns="0" rIns="0" bIns="0" rtlCol="0" anchor="t"/>
          <a:lstStyle/>
          <a:p>
            <a:pPr marL="0" indent="0">
              <a:buNone/>
            </a:pPr>
            <a:r>
              <a:rPr lang="en-US" sz="3200" b="1" dirty="0">
                <a:solidFill>
                  <a:srgbClr val="1E2B3A"/>
                </a:solidFill>
                <a:latin typeface="Cambria" pitchFamily="34" charset="0"/>
                <a:ea typeface="Cambria" pitchFamily="34" charset="-122"/>
                <a:cs typeface="Cambria" pitchFamily="34" charset="-120"/>
              </a:rPr>
              <a:t>2%</a:t>
            </a:r>
            <a:endParaRPr lang="en-US" sz="3200" dirty="0"/>
          </a:p>
        </p:txBody>
      </p:sp>
      <p:sp>
        <p:nvSpPr>
          <p:cNvPr id="12" name="Text 9"/>
          <p:cNvSpPr txBox="1"/>
          <p:nvPr/>
        </p:nvSpPr>
        <p:spPr>
          <a:xfrm>
            <a:off x="2194560" y="4023360"/>
            <a:ext cx="1371600" cy="4572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 all revenue</a:t>
            </a:r>
            <a:endParaRPr lang="en-US" sz="1100" dirty="0"/>
          </a:p>
        </p:txBody>
      </p:sp>
      <p:sp>
        <p:nvSpPr>
          <p:cNvPr id="13" name="Text 10"/>
          <p:cNvSpPr txBox="1"/>
          <p:nvPr/>
        </p:nvSpPr>
        <p:spPr>
          <a:xfrm>
            <a:off x="777240" y="4572000"/>
            <a:ext cx="2788920" cy="2743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Placed no order in the next 3 months</a:t>
            </a:r>
            <a:endParaRPr lang="en-US" sz="1100" dirty="0"/>
          </a:p>
        </p:txBody>
      </p:sp>
      <p:sp>
        <p:nvSpPr>
          <p:cNvPr id="14" name="Shape 11"/>
          <p:cNvSpPr/>
          <p:nvPr/>
        </p:nvSpPr>
        <p:spPr>
          <a:xfrm>
            <a:off x="777240" y="4919472"/>
            <a:ext cx="2103120" cy="219456"/>
          </a:xfrm>
          <a:prstGeom prst="rect">
            <a:avLst/>
          </a:prstGeom>
          <a:solidFill>
            <a:srgbClr val="FFFFFF"/>
          </a:solidFill>
          <a:ln w="9525">
            <a:solidFill>
              <a:srgbClr val="D9DEE5"/>
            </a:solidFill>
            <a:prstDash val="solid"/>
          </a:ln>
        </p:spPr>
        <p:txBody>
          <a:bodyPr/>
          <a:lstStyle/>
          <a:p>
            <a:endParaRPr lang="en-CA"/>
          </a:p>
        </p:txBody>
      </p:sp>
      <p:sp>
        <p:nvSpPr>
          <p:cNvPr id="15" name="Shape 12"/>
          <p:cNvSpPr/>
          <p:nvPr/>
        </p:nvSpPr>
        <p:spPr>
          <a:xfrm>
            <a:off x="777240" y="4919472"/>
            <a:ext cx="1177747" cy="219456"/>
          </a:xfrm>
          <a:prstGeom prst="rect">
            <a:avLst/>
          </a:prstGeom>
          <a:solidFill>
            <a:srgbClr val="C9820E"/>
          </a:solidFill>
          <a:ln w="12700">
            <a:solidFill>
              <a:srgbClr val="C9820E"/>
            </a:solidFill>
            <a:prstDash val="solid"/>
          </a:ln>
        </p:spPr>
        <p:txBody>
          <a:bodyPr/>
          <a:lstStyle/>
          <a:p>
            <a:endParaRPr lang="en-CA"/>
          </a:p>
        </p:txBody>
      </p:sp>
      <p:sp>
        <p:nvSpPr>
          <p:cNvPr id="16" name="Text 13"/>
          <p:cNvSpPr txBox="1"/>
          <p:nvPr/>
        </p:nvSpPr>
        <p:spPr>
          <a:xfrm>
            <a:off x="2971800" y="4828032"/>
            <a:ext cx="640080" cy="384048"/>
          </a:xfrm>
          <a:prstGeom prst="rect">
            <a:avLst/>
          </a:prstGeom>
          <a:noFill/>
          <a:ln/>
        </p:spPr>
        <p:txBody>
          <a:bodyPr wrap="square" lIns="0" tIns="0" rIns="0" bIns="0" rtlCol="0" anchor="ctr"/>
          <a:lstStyle/>
          <a:p>
            <a:pPr marL="0" indent="0">
              <a:buNone/>
            </a:pPr>
            <a:r>
              <a:rPr lang="en-US" sz="1800" b="1" dirty="0">
                <a:solidFill>
                  <a:srgbClr val="C9820E"/>
                </a:solidFill>
                <a:latin typeface="Calibri" pitchFamily="34" charset="0"/>
                <a:ea typeface="Calibri" pitchFamily="34" charset="-122"/>
                <a:cs typeface="Calibri" pitchFamily="34" charset="-120"/>
              </a:rPr>
              <a:t>56%</a:t>
            </a:r>
            <a:endParaRPr lang="en-US" sz="1800" dirty="0"/>
          </a:p>
        </p:txBody>
      </p:sp>
      <p:sp>
        <p:nvSpPr>
          <p:cNvPr id="17" name="Text 14"/>
          <p:cNvSpPr txBox="1"/>
          <p:nvPr/>
        </p:nvSpPr>
        <p:spPr>
          <a:xfrm>
            <a:off x="777240" y="5157216"/>
            <a:ext cx="2788920" cy="237744"/>
          </a:xfrm>
          <a:prstGeom prst="rect">
            <a:avLst/>
          </a:prstGeom>
          <a:noFill/>
          <a:ln/>
        </p:spPr>
        <p:txBody>
          <a:bodyPr wrap="square" lIns="0" tIns="0" rIns="0" bIns="0" rtlCol="0" anchor="t"/>
          <a:lstStyle/>
          <a:p>
            <a:pPr marL="0" indent="0">
              <a:buNone/>
            </a:pPr>
            <a:r>
              <a:rPr lang="en-US" sz="1000" dirty="0">
                <a:solidFill>
                  <a:srgbClr val="5B6675"/>
                </a:solidFill>
                <a:latin typeface="Calibri" pitchFamily="34" charset="0"/>
                <a:ea typeface="Calibri" pitchFamily="34" charset="-122"/>
                <a:cs typeface="Calibri" pitchFamily="34" charset="-120"/>
              </a:rPr>
              <a:t>Summer period: 72%</a:t>
            </a:r>
            <a:endParaRPr lang="en-US" sz="1000" dirty="0"/>
          </a:p>
        </p:txBody>
      </p:sp>
      <p:sp>
        <p:nvSpPr>
          <p:cNvPr id="18" name="Text 15"/>
          <p:cNvSpPr txBox="1"/>
          <p:nvPr/>
        </p:nvSpPr>
        <p:spPr>
          <a:xfrm>
            <a:off x="4069080" y="1600200"/>
            <a:ext cx="374904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What makes them different</a:t>
            </a:r>
            <a:endParaRPr lang="en-US" sz="1500" dirty="0"/>
          </a:p>
        </p:txBody>
      </p:sp>
      <p:sp>
        <p:nvSpPr>
          <p:cNvPr id="19" name="Shape 16"/>
          <p:cNvSpPr/>
          <p:nvPr/>
        </p:nvSpPr>
        <p:spPr>
          <a:xfrm>
            <a:off x="4069080" y="2103120"/>
            <a:ext cx="502920" cy="502920"/>
          </a:xfrm>
          <a:prstGeom prst="ellipse">
            <a:avLst/>
          </a:prstGeom>
          <a:solidFill>
            <a:srgbClr val="FBF1E0"/>
          </a:solidFill>
          <a:ln w="12700">
            <a:solidFill>
              <a:srgbClr val="FBF1E0"/>
            </a:solidFill>
            <a:prstDash val="solid"/>
          </a:ln>
        </p:spPr>
        <p:txBody>
          <a:bodyPr/>
          <a:lstStyle/>
          <a:p>
            <a:endParaRPr lang="en-CA"/>
          </a:p>
        </p:txBody>
      </p:sp>
      <p:pic>
        <p:nvPicPr>
          <p:cNvPr id="20" name="Image 1" descr="preencoded.png"/>
          <p:cNvPicPr>
            <a:picLocks noChangeAspect="1"/>
          </p:cNvPicPr>
          <p:nvPr/>
        </p:nvPicPr>
        <p:blipFill>
          <a:blip r:embed="rId4"/>
          <a:stretch>
            <a:fillRect/>
          </a:stretch>
        </p:blipFill>
        <p:spPr>
          <a:xfrm>
            <a:off x="4194810" y="2228850"/>
            <a:ext cx="251460" cy="251460"/>
          </a:xfrm>
          <a:prstGeom prst="rect">
            <a:avLst/>
          </a:prstGeom>
        </p:spPr>
      </p:pic>
      <p:sp>
        <p:nvSpPr>
          <p:cNvPr id="21" name="Text 17"/>
          <p:cNvSpPr txBox="1"/>
          <p:nvPr/>
        </p:nvSpPr>
        <p:spPr>
          <a:xfrm>
            <a:off x="4709160" y="2057400"/>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70 days</a:t>
            </a:r>
            <a:r>
              <a:rPr lang="en-US" sz="1300" dirty="0">
                <a:solidFill>
                  <a:srgbClr val="1E2B3A"/>
                </a:solidFill>
                <a:latin typeface="Calibri" pitchFamily="34" charset="0"/>
                <a:ea typeface="Calibri" pitchFamily="34" charset="-122"/>
                <a:cs typeface="Calibri" pitchFamily="34" charset="-120"/>
              </a:rPr>
              <a:t>  since last order</a:t>
            </a:r>
            <a:endParaRPr lang="en-US" sz="1400" dirty="0"/>
          </a:p>
        </p:txBody>
      </p:sp>
      <p:sp>
        <p:nvSpPr>
          <p:cNvPr id="22" name="Text 18"/>
          <p:cNvSpPr txBox="1"/>
          <p:nvPr/>
        </p:nvSpPr>
        <p:spPr>
          <a:xfrm>
            <a:off x="4709160" y="2441448"/>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162 days</a:t>
            </a:r>
            <a:endParaRPr lang="en-US" sz="1150" dirty="0"/>
          </a:p>
        </p:txBody>
      </p:sp>
      <p:sp>
        <p:nvSpPr>
          <p:cNvPr id="23" name="Shape 19"/>
          <p:cNvSpPr/>
          <p:nvPr/>
        </p:nvSpPr>
        <p:spPr>
          <a:xfrm>
            <a:off x="4069080" y="2953512"/>
            <a:ext cx="502920" cy="502920"/>
          </a:xfrm>
          <a:prstGeom prst="ellipse">
            <a:avLst/>
          </a:prstGeom>
          <a:solidFill>
            <a:srgbClr val="FBF1E0"/>
          </a:solidFill>
          <a:ln w="12700">
            <a:solidFill>
              <a:srgbClr val="FBF1E0"/>
            </a:solidFill>
            <a:prstDash val="solid"/>
          </a:ln>
        </p:spPr>
        <p:txBody>
          <a:bodyPr/>
          <a:lstStyle/>
          <a:p>
            <a:endParaRPr lang="en-CA"/>
          </a:p>
        </p:txBody>
      </p:sp>
      <p:pic>
        <p:nvPicPr>
          <p:cNvPr id="24" name="Image 2" descr="preencoded.png"/>
          <p:cNvPicPr>
            <a:picLocks noChangeAspect="1"/>
          </p:cNvPicPr>
          <p:nvPr/>
        </p:nvPicPr>
        <p:blipFill>
          <a:blip r:embed="rId5"/>
          <a:stretch>
            <a:fillRect/>
          </a:stretch>
        </p:blipFill>
        <p:spPr>
          <a:xfrm>
            <a:off x="4194810" y="3079242"/>
            <a:ext cx="251460" cy="251460"/>
          </a:xfrm>
          <a:prstGeom prst="rect">
            <a:avLst/>
          </a:prstGeom>
        </p:spPr>
      </p:pic>
      <p:sp>
        <p:nvSpPr>
          <p:cNvPr id="25" name="Text 20"/>
          <p:cNvSpPr txBox="1"/>
          <p:nvPr/>
        </p:nvSpPr>
        <p:spPr>
          <a:xfrm>
            <a:off x="4709160" y="2907792"/>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2 orders</a:t>
            </a:r>
            <a:r>
              <a:rPr lang="en-US" sz="1300" dirty="0">
                <a:solidFill>
                  <a:srgbClr val="1E2B3A"/>
                </a:solidFill>
                <a:latin typeface="Calibri" pitchFamily="34" charset="0"/>
                <a:ea typeface="Calibri" pitchFamily="34" charset="-122"/>
                <a:cs typeface="Calibri" pitchFamily="34" charset="-120"/>
              </a:rPr>
              <a:t>  placed so far</a:t>
            </a:r>
            <a:endParaRPr lang="en-US" sz="1400" dirty="0"/>
          </a:p>
        </p:txBody>
      </p:sp>
      <p:sp>
        <p:nvSpPr>
          <p:cNvPr id="26" name="Text 21"/>
          <p:cNvSpPr txBox="1"/>
          <p:nvPr/>
        </p:nvSpPr>
        <p:spPr>
          <a:xfrm>
            <a:off x="4709160" y="3291840"/>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3</a:t>
            </a:r>
            <a:endParaRPr lang="en-US" sz="1150" dirty="0"/>
          </a:p>
        </p:txBody>
      </p:sp>
      <p:sp>
        <p:nvSpPr>
          <p:cNvPr id="27" name="Shape 22"/>
          <p:cNvSpPr/>
          <p:nvPr/>
        </p:nvSpPr>
        <p:spPr>
          <a:xfrm>
            <a:off x="4069080" y="3803904"/>
            <a:ext cx="502920" cy="502920"/>
          </a:xfrm>
          <a:prstGeom prst="ellipse">
            <a:avLst/>
          </a:prstGeom>
          <a:solidFill>
            <a:srgbClr val="FBF1E0"/>
          </a:solidFill>
          <a:ln w="12700">
            <a:solidFill>
              <a:srgbClr val="FBF1E0"/>
            </a:solidFill>
            <a:prstDash val="solid"/>
          </a:ln>
        </p:spPr>
        <p:txBody>
          <a:bodyPr/>
          <a:lstStyle/>
          <a:p>
            <a:endParaRPr lang="en-CA"/>
          </a:p>
        </p:txBody>
      </p:sp>
      <p:pic>
        <p:nvPicPr>
          <p:cNvPr id="28" name="Image 3" descr="preencoded.png"/>
          <p:cNvPicPr>
            <a:picLocks noChangeAspect="1"/>
          </p:cNvPicPr>
          <p:nvPr/>
        </p:nvPicPr>
        <p:blipFill>
          <a:blip r:embed="rId6"/>
          <a:stretch>
            <a:fillRect/>
          </a:stretch>
        </p:blipFill>
        <p:spPr>
          <a:xfrm>
            <a:off x="4194810" y="3929634"/>
            <a:ext cx="251460" cy="251460"/>
          </a:xfrm>
          <a:prstGeom prst="rect">
            <a:avLst/>
          </a:prstGeom>
        </p:spPr>
      </p:pic>
      <p:sp>
        <p:nvSpPr>
          <p:cNvPr id="29" name="Text 23"/>
          <p:cNvSpPr txBox="1"/>
          <p:nvPr/>
        </p:nvSpPr>
        <p:spPr>
          <a:xfrm>
            <a:off x="4709160" y="3758184"/>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£342</a:t>
            </a:r>
            <a:r>
              <a:rPr lang="en-US" sz="1300" dirty="0">
                <a:solidFill>
                  <a:srgbClr val="1E2B3A"/>
                </a:solidFill>
                <a:latin typeface="Calibri" pitchFamily="34" charset="0"/>
                <a:ea typeface="Calibri" pitchFamily="34" charset="-122"/>
                <a:cs typeface="Calibri" pitchFamily="34" charset="-120"/>
              </a:rPr>
              <a:t>  spent so far</a:t>
            </a:r>
            <a:endParaRPr lang="en-US" sz="1400" dirty="0"/>
          </a:p>
        </p:txBody>
      </p:sp>
      <p:sp>
        <p:nvSpPr>
          <p:cNvPr id="30" name="Text 24"/>
          <p:cNvSpPr txBox="1"/>
          <p:nvPr/>
        </p:nvSpPr>
        <p:spPr>
          <a:xfrm>
            <a:off x="4709160" y="4142232"/>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£759</a:t>
            </a:r>
            <a:endParaRPr lang="en-US" sz="1150" dirty="0"/>
          </a:p>
        </p:txBody>
      </p:sp>
      <p:sp>
        <p:nvSpPr>
          <p:cNvPr id="31" name="Shape 25"/>
          <p:cNvSpPr/>
          <p:nvPr/>
        </p:nvSpPr>
        <p:spPr>
          <a:xfrm>
            <a:off x="4069080" y="4654296"/>
            <a:ext cx="502920" cy="502920"/>
          </a:xfrm>
          <a:prstGeom prst="ellipse">
            <a:avLst/>
          </a:prstGeom>
          <a:solidFill>
            <a:srgbClr val="FBF1E0"/>
          </a:solidFill>
          <a:ln w="12700">
            <a:solidFill>
              <a:srgbClr val="FBF1E0"/>
            </a:solidFill>
            <a:prstDash val="solid"/>
          </a:ln>
        </p:spPr>
        <p:txBody>
          <a:bodyPr/>
          <a:lstStyle/>
          <a:p>
            <a:endParaRPr lang="en-CA"/>
          </a:p>
        </p:txBody>
      </p:sp>
      <p:pic>
        <p:nvPicPr>
          <p:cNvPr id="32" name="Image 4" descr="preencoded.png"/>
          <p:cNvPicPr>
            <a:picLocks noChangeAspect="1"/>
          </p:cNvPicPr>
          <p:nvPr/>
        </p:nvPicPr>
        <p:blipFill>
          <a:blip r:embed="rId7"/>
          <a:stretch>
            <a:fillRect/>
          </a:stretch>
        </p:blipFill>
        <p:spPr>
          <a:xfrm>
            <a:off x="4194810" y="4780026"/>
            <a:ext cx="251460" cy="251460"/>
          </a:xfrm>
          <a:prstGeom prst="rect">
            <a:avLst/>
          </a:prstGeom>
        </p:spPr>
      </p:pic>
      <p:sp>
        <p:nvSpPr>
          <p:cNvPr id="33" name="Text 26"/>
          <p:cNvSpPr txBox="1"/>
          <p:nvPr/>
        </p:nvSpPr>
        <p:spPr>
          <a:xfrm>
            <a:off x="4709160" y="4608576"/>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4 months</a:t>
            </a:r>
            <a:r>
              <a:rPr lang="en-US" sz="1300" dirty="0">
                <a:solidFill>
                  <a:srgbClr val="1E2B3A"/>
                </a:solidFill>
                <a:latin typeface="Calibri" pitchFamily="34" charset="0"/>
                <a:ea typeface="Calibri" pitchFamily="34" charset="-122"/>
                <a:cs typeface="Calibri" pitchFamily="34" charset="-120"/>
              </a:rPr>
              <a:t>  as a customer</a:t>
            </a:r>
            <a:endParaRPr lang="en-US" sz="1400" dirty="0"/>
          </a:p>
        </p:txBody>
      </p:sp>
      <p:sp>
        <p:nvSpPr>
          <p:cNvPr id="34" name="Text 27"/>
          <p:cNvSpPr txBox="1"/>
          <p:nvPr/>
        </p:nvSpPr>
        <p:spPr>
          <a:xfrm>
            <a:off x="4709160" y="4992624"/>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16 months</a:t>
            </a:r>
            <a:endParaRPr lang="en-US" sz="1150" dirty="0"/>
          </a:p>
        </p:txBody>
      </p:sp>
      <p:sp>
        <p:nvSpPr>
          <p:cNvPr id="35" name="Shape 28"/>
          <p:cNvSpPr/>
          <p:nvPr/>
        </p:nvSpPr>
        <p:spPr>
          <a:xfrm>
            <a:off x="8092440" y="1600200"/>
            <a:ext cx="3547872" cy="1783080"/>
          </a:xfrm>
          <a:prstGeom prst="roundRect">
            <a:avLst>
              <a:gd name="adj" fmla="val 4103"/>
            </a:avLst>
          </a:prstGeom>
          <a:solidFill>
            <a:srgbClr val="F3F5F8"/>
          </a:solidFill>
          <a:ln w="12700">
            <a:solidFill>
              <a:srgbClr val="F3F5F8"/>
            </a:solidFill>
            <a:prstDash val="solid"/>
          </a:ln>
        </p:spPr>
        <p:txBody>
          <a:bodyPr/>
          <a:lstStyle/>
          <a:p>
            <a:endParaRPr lang="en-CA"/>
          </a:p>
        </p:txBody>
      </p:sp>
      <p:sp>
        <p:nvSpPr>
          <p:cNvPr id="36" name="Text 29"/>
          <p:cNvSpPr txBox="1"/>
          <p:nvPr/>
        </p:nvSpPr>
        <p:spPr>
          <a:xfrm>
            <a:off x="8321040" y="1719072"/>
            <a:ext cx="3108960" cy="274320"/>
          </a:xfrm>
          <a:prstGeom prst="rect">
            <a:avLst/>
          </a:prstGeom>
          <a:noFill/>
          <a:ln/>
        </p:spPr>
        <p:txBody>
          <a:bodyPr wrap="square" lIns="0" tIns="0" rIns="0" bIns="0" rtlCol="0" anchor="t"/>
          <a:lstStyle/>
          <a:p>
            <a:pPr marL="0" indent="0">
              <a:buNone/>
            </a:pPr>
            <a:r>
              <a:rPr lang="en-US" sz="1200" b="1" dirty="0">
                <a:solidFill>
                  <a:srgbClr val="C9820E"/>
                </a:solidFill>
                <a:latin typeface="Calibri" pitchFamily="34" charset="0"/>
                <a:ea typeface="Calibri" pitchFamily="34" charset="-122"/>
                <a:cs typeface="Calibri" pitchFamily="34" charset="-120"/>
              </a:rPr>
              <a:t>What we see in the data</a:t>
            </a:r>
            <a:endParaRPr lang="en-US" sz="1200" dirty="0"/>
          </a:p>
        </p:txBody>
      </p:sp>
      <p:sp>
        <p:nvSpPr>
          <p:cNvPr id="37" name="Text 30"/>
          <p:cNvSpPr txBox="1"/>
          <p:nvPr/>
        </p:nvSpPr>
        <p:spPr>
          <a:xfrm>
            <a:off x="8321040" y="2011680"/>
            <a:ext cx="3154680" cy="1325880"/>
          </a:xfrm>
          <a:prstGeom prst="rect">
            <a:avLst/>
          </a:prstGeom>
          <a:noFill/>
          <a:ln/>
        </p:spPr>
        <p:txBody>
          <a:bodyPr wrap="square" lIns="0" tIns="0" rIns="0" bIns="0" rtlCol="0" anchor="t"/>
          <a:lstStyle/>
          <a:p>
            <a:pPr marL="0" indent="0">
              <a:buNone/>
            </a:pPr>
            <a:r>
              <a:rPr lang="en-US" sz="1350" i="1" dirty="0">
                <a:solidFill>
                  <a:srgbClr val="1E2B3A"/>
                </a:solidFill>
                <a:latin typeface="Calibri" pitchFamily="34" charset="0"/>
                <a:ea typeface="Calibri" pitchFamily="34" charset="-122"/>
                <a:cs typeface="Calibri" pitchFamily="34" charset="-120"/>
              </a:rPr>
              <a:t>A typical New Starter placed a first order about 4 months ago, came back once, and has spent £342. Of the 722, 344 have ordered only once.</a:t>
            </a:r>
            <a:endParaRPr lang="en-US" sz="1350" dirty="0"/>
          </a:p>
        </p:txBody>
      </p:sp>
      <p:sp>
        <p:nvSpPr>
          <p:cNvPr id="38" name="Shape 31"/>
          <p:cNvSpPr/>
          <p:nvPr/>
        </p:nvSpPr>
        <p:spPr>
          <a:xfrm>
            <a:off x="8092440" y="3520440"/>
            <a:ext cx="3547872" cy="1920240"/>
          </a:xfrm>
          <a:prstGeom prst="roundRect">
            <a:avLst>
              <a:gd name="adj" fmla="val 3810"/>
            </a:avLst>
          </a:prstGeom>
          <a:solidFill>
            <a:srgbClr val="FFFFFF"/>
          </a:solidFill>
          <a:ln w="15875">
            <a:solidFill>
              <a:srgbClr val="C9820E"/>
            </a:solidFill>
            <a:prstDash val="solid"/>
          </a:ln>
        </p:spPr>
        <p:txBody>
          <a:bodyPr/>
          <a:lstStyle/>
          <a:p>
            <a:endParaRPr lang="en-CA"/>
          </a:p>
        </p:txBody>
      </p:sp>
      <p:sp>
        <p:nvSpPr>
          <p:cNvPr id="39" name="Text 32"/>
          <p:cNvSpPr txBox="1"/>
          <p:nvPr/>
        </p:nvSpPr>
        <p:spPr>
          <a:xfrm>
            <a:off x="8321040" y="3630168"/>
            <a:ext cx="3108960" cy="274320"/>
          </a:xfrm>
          <a:prstGeom prst="rect">
            <a:avLst/>
          </a:prstGeom>
          <a:noFill/>
          <a:ln/>
        </p:spPr>
        <p:txBody>
          <a:bodyPr wrap="square" lIns="0" tIns="0" rIns="0" bIns="0" rtlCol="0" anchor="t"/>
          <a:lstStyle/>
          <a:p>
            <a:pPr marL="0" indent="0">
              <a:buNone/>
            </a:pPr>
            <a:r>
              <a:rPr lang="en-US" sz="1200" b="1" dirty="0">
                <a:solidFill>
                  <a:srgbClr val="C9820E"/>
                </a:solidFill>
                <a:latin typeface="Calibri" pitchFamily="34" charset="0"/>
                <a:ea typeface="Calibri" pitchFamily="34" charset="-122"/>
                <a:cs typeface="Calibri" pitchFamily="34" charset="-120"/>
              </a:rPr>
              <a:t>What the CRM team does</a:t>
            </a:r>
            <a:endParaRPr lang="en-US" sz="1200" dirty="0"/>
          </a:p>
        </p:txBody>
      </p:sp>
      <p:sp>
        <p:nvSpPr>
          <p:cNvPr id="40" name="Text 33"/>
          <p:cNvSpPr txBox="1"/>
          <p:nvPr/>
        </p:nvSpPr>
        <p:spPr>
          <a:xfrm>
            <a:off x="8321040" y="3950208"/>
            <a:ext cx="3200400" cy="14630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Welcome emails at 7, 30 and 60 days</a:t>
            </a:r>
            <a:endParaRPr lang="en-US" sz="1350" dirty="0"/>
          </a:p>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Bestseller picks to build the second basket</a:t>
            </a:r>
            <a:endParaRPr lang="en-US" sz="1350" dirty="0"/>
          </a:p>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An offer tied to the third order</a:t>
            </a:r>
            <a:endParaRPr lang="en-US" sz="1350" dirty="0"/>
          </a:p>
        </p:txBody>
      </p:sp>
      <p:sp>
        <p:nvSpPr>
          <p:cNvPr id="41" name="Shape 34"/>
          <p:cNvSpPr/>
          <p:nvPr/>
        </p:nvSpPr>
        <p:spPr>
          <a:xfrm>
            <a:off x="548640" y="5623560"/>
            <a:ext cx="11094415" cy="777240"/>
          </a:xfrm>
          <a:prstGeom prst="roundRect">
            <a:avLst>
              <a:gd name="adj" fmla="val 9412"/>
            </a:avLst>
          </a:prstGeom>
          <a:solidFill>
            <a:srgbClr val="1E2B3A"/>
          </a:solidFill>
          <a:ln w="12700">
            <a:solidFill>
              <a:srgbClr val="1E2B3A"/>
            </a:solidFill>
            <a:prstDash val="solid"/>
          </a:ln>
        </p:spPr>
        <p:txBody>
          <a:bodyPr/>
          <a:lstStyle/>
          <a:p>
            <a:endParaRPr lang="en-CA"/>
          </a:p>
        </p:txBody>
      </p:sp>
      <p:sp>
        <p:nvSpPr>
          <p:cNvPr id="43" name="Text 35"/>
          <p:cNvSpPr txBox="1"/>
          <p:nvPr/>
        </p:nvSpPr>
        <p:spPr>
          <a:xfrm>
            <a:off x="710214" y="5623560"/>
            <a:ext cx="10749961" cy="777240"/>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Only 2% of spend today, but this is where future Steady Regulars come from. Over the summer, 1 in 3 became Gone Quiet instead.</a:t>
            </a:r>
            <a:endParaRPr lang="en-US" sz="1500" dirty="0"/>
          </a:p>
        </p:txBody>
      </p:sp>
      <p:sp>
        <p:nvSpPr>
          <p:cNvPr id="44"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C0404A"/>
                </a:solidFill>
                <a:latin typeface="Calibri" pitchFamily="34" charset="0"/>
                <a:ea typeface="Calibri" pitchFamily="34" charset="-122"/>
                <a:cs typeface="Calibri" pitchFamily="34" charset="-120"/>
              </a:rPr>
              <a:t>GROUP 4 OF 5  ·  FADING BIG SPENDERS</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Fading Big Spenders: a small, high-value group we can still reach</a:t>
            </a:r>
            <a:endParaRPr lang="en-US" sz="2600" dirty="0"/>
          </a:p>
        </p:txBody>
      </p:sp>
      <p:sp>
        <p:nvSpPr>
          <p:cNvPr id="4" name="Shape 2"/>
          <p:cNvSpPr/>
          <p:nvPr/>
        </p:nvSpPr>
        <p:spPr>
          <a:xfrm>
            <a:off x="548640" y="1600200"/>
            <a:ext cx="3200400" cy="3840480"/>
          </a:xfrm>
          <a:prstGeom prst="roundRect">
            <a:avLst>
              <a:gd name="adj" fmla="val 2857"/>
            </a:avLst>
          </a:prstGeom>
          <a:solidFill>
            <a:srgbClr val="F8E6E7"/>
          </a:solidFill>
          <a:ln w="12700">
            <a:solidFill>
              <a:srgbClr val="F8E6E7"/>
            </a:solidFill>
            <a:prstDash val="solid"/>
          </a:ln>
        </p:spPr>
        <p:txBody>
          <a:bodyPr/>
          <a:lstStyle/>
          <a:p>
            <a:endParaRPr lang="en-CA"/>
          </a:p>
        </p:txBody>
      </p:sp>
      <p:sp>
        <p:nvSpPr>
          <p:cNvPr id="5" name="Shape 3"/>
          <p:cNvSpPr/>
          <p:nvPr/>
        </p:nvSpPr>
        <p:spPr>
          <a:xfrm>
            <a:off x="777240" y="1810512"/>
            <a:ext cx="777240" cy="777240"/>
          </a:xfrm>
          <a:prstGeom prst="ellipse">
            <a:avLst/>
          </a:prstGeom>
          <a:solidFill>
            <a:srgbClr val="C0404A"/>
          </a:solidFill>
          <a:ln w="12700">
            <a:solidFill>
              <a:srgbClr val="C0404A"/>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71550" y="2004822"/>
            <a:ext cx="388620" cy="388620"/>
          </a:xfrm>
          <a:prstGeom prst="rect">
            <a:avLst/>
          </a:prstGeom>
        </p:spPr>
      </p:pic>
      <p:sp>
        <p:nvSpPr>
          <p:cNvPr id="7" name="Text 4"/>
          <p:cNvSpPr txBox="1"/>
          <p:nvPr/>
        </p:nvSpPr>
        <p:spPr>
          <a:xfrm>
            <a:off x="1691640" y="1810512"/>
            <a:ext cx="1920240" cy="777240"/>
          </a:xfrm>
          <a:prstGeom prst="rect">
            <a:avLst/>
          </a:prstGeom>
          <a:noFill/>
          <a:ln/>
        </p:spPr>
        <p:txBody>
          <a:bodyPr wrap="square" lIns="0" tIns="0" rIns="0" bIns="0" rtlCol="0" anchor="ctr"/>
          <a:lstStyle/>
          <a:p>
            <a:pPr marL="0" indent="0">
              <a:buNone/>
            </a:pPr>
            <a:r>
              <a:rPr lang="en-US" sz="1800" b="1" dirty="0">
                <a:solidFill>
                  <a:srgbClr val="C0404A"/>
                </a:solidFill>
                <a:latin typeface="Calibri" pitchFamily="34" charset="0"/>
                <a:ea typeface="Calibri" pitchFamily="34" charset="-122"/>
                <a:cs typeface="Calibri" pitchFamily="34" charset="-120"/>
              </a:rPr>
              <a:t>Fading Big Spenders</a:t>
            </a:r>
            <a:endParaRPr lang="en-US" sz="1800" dirty="0"/>
          </a:p>
        </p:txBody>
      </p:sp>
      <p:sp>
        <p:nvSpPr>
          <p:cNvPr id="8" name="Text 5"/>
          <p:cNvSpPr txBox="1"/>
          <p:nvPr/>
        </p:nvSpPr>
        <p:spPr>
          <a:xfrm>
            <a:off x="777240" y="2743200"/>
            <a:ext cx="2788920" cy="731520"/>
          </a:xfrm>
          <a:prstGeom prst="rect">
            <a:avLst/>
          </a:prstGeom>
          <a:noFill/>
          <a:ln/>
        </p:spPr>
        <p:txBody>
          <a:bodyPr wrap="square" lIns="0" tIns="0" rIns="0" bIns="0" rtlCol="0" anchor="t"/>
          <a:lstStyle/>
          <a:p>
            <a:pPr marL="0" indent="0">
              <a:buNone/>
            </a:pPr>
            <a:r>
              <a:rPr lang="en-US" sz="1300" dirty="0">
                <a:solidFill>
                  <a:srgbClr val="1E2B3A"/>
                </a:solidFill>
                <a:latin typeface="Calibri" pitchFamily="34" charset="0"/>
                <a:ea typeface="Calibri" pitchFamily="34" charset="-122"/>
                <a:cs typeface="Calibri" pitchFamily="34" charset="-120"/>
              </a:rPr>
              <a:t>Used to order often and spend well, but no order for about 9 months</a:t>
            </a:r>
            <a:endParaRPr lang="en-US" sz="1300" dirty="0"/>
          </a:p>
        </p:txBody>
      </p:sp>
      <p:sp>
        <p:nvSpPr>
          <p:cNvPr id="9" name="Text 6"/>
          <p:cNvSpPr txBox="1"/>
          <p:nvPr/>
        </p:nvSpPr>
        <p:spPr>
          <a:xfrm>
            <a:off x="777240" y="3474720"/>
            <a:ext cx="1371600" cy="548640"/>
          </a:xfrm>
          <a:prstGeom prst="rect">
            <a:avLst/>
          </a:prstGeom>
          <a:noFill/>
          <a:ln/>
        </p:spPr>
        <p:txBody>
          <a:bodyPr wrap="square" lIns="0" tIns="0" rIns="0" bIns="0" rtlCol="0" anchor="t"/>
          <a:lstStyle/>
          <a:p>
            <a:pPr marL="0" indent="0">
              <a:buNone/>
            </a:pPr>
            <a:r>
              <a:rPr lang="en-US" sz="3200" b="1" dirty="0">
                <a:solidFill>
                  <a:srgbClr val="C0404A"/>
                </a:solidFill>
                <a:latin typeface="Cambria" pitchFamily="34" charset="0"/>
                <a:ea typeface="Cambria" pitchFamily="34" charset="-122"/>
                <a:cs typeface="Cambria" pitchFamily="34" charset="-120"/>
              </a:rPr>
              <a:t>9%</a:t>
            </a:r>
            <a:endParaRPr lang="en-US" sz="3200" dirty="0"/>
          </a:p>
        </p:txBody>
      </p:sp>
      <p:sp>
        <p:nvSpPr>
          <p:cNvPr id="10" name="Text 7"/>
          <p:cNvSpPr txBox="1"/>
          <p:nvPr/>
        </p:nvSpPr>
        <p:spPr>
          <a:xfrm>
            <a:off x="777240" y="4023360"/>
            <a:ext cx="1371600" cy="4572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 customers</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(495)</a:t>
            </a:r>
            <a:endParaRPr lang="en-US" sz="1100" dirty="0"/>
          </a:p>
        </p:txBody>
      </p:sp>
      <p:sp>
        <p:nvSpPr>
          <p:cNvPr id="11" name="Text 8"/>
          <p:cNvSpPr txBox="1"/>
          <p:nvPr/>
        </p:nvSpPr>
        <p:spPr>
          <a:xfrm>
            <a:off x="2194560" y="3474720"/>
            <a:ext cx="1371600" cy="548640"/>
          </a:xfrm>
          <a:prstGeom prst="rect">
            <a:avLst/>
          </a:prstGeom>
          <a:noFill/>
          <a:ln/>
        </p:spPr>
        <p:txBody>
          <a:bodyPr wrap="square" lIns="0" tIns="0" rIns="0" bIns="0" rtlCol="0" anchor="t"/>
          <a:lstStyle/>
          <a:p>
            <a:pPr marL="0" indent="0">
              <a:buNone/>
            </a:pPr>
            <a:r>
              <a:rPr lang="en-US" sz="3200" b="1" dirty="0">
                <a:solidFill>
                  <a:srgbClr val="1E2B3A"/>
                </a:solidFill>
                <a:latin typeface="Cambria" pitchFamily="34" charset="0"/>
                <a:ea typeface="Cambria" pitchFamily="34" charset="-122"/>
                <a:cs typeface="Cambria" pitchFamily="34" charset="-120"/>
              </a:rPr>
              <a:t>11%</a:t>
            </a:r>
            <a:endParaRPr lang="en-US" sz="3200" dirty="0"/>
          </a:p>
        </p:txBody>
      </p:sp>
      <p:sp>
        <p:nvSpPr>
          <p:cNvPr id="12" name="Text 9"/>
          <p:cNvSpPr txBox="1"/>
          <p:nvPr/>
        </p:nvSpPr>
        <p:spPr>
          <a:xfrm>
            <a:off x="2194560" y="4023360"/>
            <a:ext cx="1371600" cy="4572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 all spend</a:t>
            </a:r>
            <a:endParaRPr lang="en-US" sz="1100" dirty="0"/>
          </a:p>
        </p:txBody>
      </p:sp>
      <p:sp>
        <p:nvSpPr>
          <p:cNvPr id="13" name="Text 10"/>
          <p:cNvSpPr txBox="1"/>
          <p:nvPr/>
        </p:nvSpPr>
        <p:spPr>
          <a:xfrm>
            <a:off x="777240" y="4572000"/>
            <a:ext cx="2788920" cy="2743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Placed no order in the next 3 months</a:t>
            </a:r>
            <a:endParaRPr lang="en-US" sz="1100" dirty="0"/>
          </a:p>
        </p:txBody>
      </p:sp>
      <p:sp>
        <p:nvSpPr>
          <p:cNvPr id="14" name="Shape 11"/>
          <p:cNvSpPr/>
          <p:nvPr/>
        </p:nvSpPr>
        <p:spPr>
          <a:xfrm>
            <a:off x="777240" y="4919472"/>
            <a:ext cx="2103120" cy="219456"/>
          </a:xfrm>
          <a:prstGeom prst="rect">
            <a:avLst/>
          </a:prstGeom>
          <a:solidFill>
            <a:srgbClr val="FFFFFF"/>
          </a:solidFill>
          <a:ln w="9525">
            <a:solidFill>
              <a:srgbClr val="D9DEE5"/>
            </a:solidFill>
            <a:prstDash val="solid"/>
          </a:ln>
        </p:spPr>
        <p:txBody>
          <a:bodyPr/>
          <a:lstStyle/>
          <a:p>
            <a:endParaRPr lang="en-CA"/>
          </a:p>
        </p:txBody>
      </p:sp>
      <p:sp>
        <p:nvSpPr>
          <p:cNvPr id="15" name="Shape 12"/>
          <p:cNvSpPr/>
          <p:nvPr/>
        </p:nvSpPr>
        <p:spPr>
          <a:xfrm>
            <a:off x="777240" y="4919472"/>
            <a:ext cx="1261872" cy="219456"/>
          </a:xfrm>
          <a:prstGeom prst="rect">
            <a:avLst/>
          </a:prstGeom>
          <a:solidFill>
            <a:srgbClr val="C0404A"/>
          </a:solidFill>
          <a:ln w="12700">
            <a:solidFill>
              <a:srgbClr val="C0404A"/>
            </a:solidFill>
            <a:prstDash val="solid"/>
          </a:ln>
        </p:spPr>
        <p:txBody>
          <a:bodyPr/>
          <a:lstStyle/>
          <a:p>
            <a:endParaRPr lang="en-CA"/>
          </a:p>
        </p:txBody>
      </p:sp>
      <p:sp>
        <p:nvSpPr>
          <p:cNvPr id="16" name="Text 13"/>
          <p:cNvSpPr txBox="1"/>
          <p:nvPr/>
        </p:nvSpPr>
        <p:spPr>
          <a:xfrm>
            <a:off x="2971800" y="4828032"/>
            <a:ext cx="640080" cy="384048"/>
          </a:xfrm>
          <a:prstGeom prst="rect">
            <a:avLst/>
          </a:prstGeom>
          <a:noFill/>
          <a:ln/>
        </p:spPr>
        <p:txBody>
          <a:bodyPr wrap="square" lIns="0" tIns="0" rIns="0" bIns="0" rtlCol="0" anchor="ctr"/>
          <a:lstStyle/>
          <a:p>
            <a:pPr marL="0" indent="0">
              <a:buNone/>
            </a:pPr>
            <a:r>
              <a:rPr lang="en-US" sz="1800" b="1" dirty="0">
                <a:solidFill>
                  <a:srgbClr val="C0404A"/>
                </a:solidFill>
                <a:latin typeface="Calibri" pitchFamily="34" charset="0"/>
                <a:ea typeface="Calibri" pitchFamily="34" charset="-122"/>
                <a:cs typeface="Calibri" pitchFamily="34" charset="-120"/>
              </a:rPr>
              <a:t>60%</a:t>
            </a:r>
            <a:endParaRPr lang="en-US" sz="1800" dirty="0"/>
          </a:p>
        </p:txBody>
      </p:sp>
      <p:sp>
        <p:nvSpPr>
          <p:cNvPr id="17" name="Text 14"/>
          <p:cNvSpPr txBox="1"/>
          <p:nvPr/>
        </p:nvSpPr>
        <p:spPr>
          <a:xfrm>
            <a:off x="777240" y="5157216"/>
            <a:ext cx="2788920" cy="237744"/>
          </a:xfrm>
          <a:prstGeom prst="rect">
            <a:avLst/>
          </a:prstGeom>
          <a:noFill/>
          <a:ln/>
        </p:spPr>
        <p:txBody>
          <a:bodyPr wrap="square" lIns="0" tIns="0" rIns="0" bIns="0" rtlCol="0" anchor="t"/>
          <a:lstStyle/>
          <a:p>
            <a:pPr marL="0" indent="0">
              <a:buNone/>
            </a:pPr>
            <a:r>
              <a:rPr lang="en-US" sz="1000" dirty="0">
                <a:solidFill>
                  <a:srgbClr val="5B6675"/>
                </a:solidFill>
                <a:latin typeface="Calibri" pitchFamily="34" charset="0"/>
                <a:ea typeface="Calibri" pitchFamily="34" charset="-122"/>
                <a:cs typeface="Calibri" pitchFamily="34" charset="-120"/>
              </a:rPr>
              <a:t>Summer period: 76%</a:t>
            </a:r>
            <a:endParaRPr lang="en-US" sz="1000" dirty="0"/>
          </a:p>
        </p:txBody>
      </p:sp>
      <p:sp>
        <p:nvSpPr>
          <p:cNvPr id="18" name="Text 15"/>
          <p:cNvSpPr txBox="1"/>
          <p:nvPr/>
        </p:nvSpPr>
        <p:spPr>
          <a:xfrm>
            <a:off x="4069080" y="1600200"/>
            <a:ext cx="374904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What makes them different</a:t>
            </a:r>
            <a:endParaRPr lang="en-US" sz="1500" dirty="0"/>
          </a:p>
        </p:txBody>
      </p:sp>
      <p:sp>
        <p:nvSpPr>
          <p:cNvPr id="19" name="Shape 16"/>
          <p:cNvSpPr/>
          <p:nvPr/>
        </p:nvSpPr>
        <p:spPr>
          <a:xfrm>
            <a:off x="4069080" y="2103120"/>
            <a:ext cx="502920" cy="502920"/>
          </a:xfrm>
          <a:prstGeom prst="ellipse">
            <a:avLst/>
          </a:prstGeom>
          <a:solidFill>
            <a:srgbClr val="F8E6E7"/>
          </a:solidFill>
          <a:ln w="12700">
            <a:solidFill>
              <a:srgbClr val="F8E6E7"/>
            </a:solidFill>
            <a:prstDash val="solid"/>
          </a:ln>
        </p:spPr>
        <p:txBody>
          <a:bodyPr/>
          <a:lstStyle/>
          <a:p>
            <a:endParaRPr lang="en-CA"/>
          </a:p>
        </p:txBody>
      </p:sp>
      <p:pic>
        <p:nvPicPr>
          <p:cNvPr id="20" name="Image 1" descr="preencoded.png"/>
          <p:cNvPicPr>
            <a:picLocks noChangeAspect="1"/>
          </p:cNvPicPr>
          <p:nvPr/>
        </p:nvPicPr>
        <p:blipFill>
          <a:blip r:embed="rId4"/>
          <a:stretch>
            <a:fillRect/>
          </a:stretch>
        </p:blipFill>
        <p:spPr>
          <a:xfrm>
            <a:off x="4194810" y="2228850"/>
            <a:ext cx="251460" cy="251460"/>
          </a:xfrm>
          <a:prstGeom prst="rect">
            <a:avLst/>
          </a:prstGeom>
        </p:spPr>
      </p:pic>
      <p:sp>
        <p:nvSpPr>
          <p:cNvPr id="21" name="Text 17"/>
          <p:cNvSpPr txBox="1"/>
          <p:nvPr/>
        </p:nvSpPr>
        <p:spPr>
          <a:xfrm>
            <a:off x="4709160" y="2057400"/>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284 days</a:t>
            </a:r>
            <a:r>
              <a:rPr lang="en-US" sz="1300" dirty="0">
                <a:solidFill>
                  <a:srgbClr val="1E2B3A"/>
                </a:solidFill>
                <a:latin typeface="Calibri" pitchFamily="34" charset="0"/>
                <a:ea typeface="Calibri" pitchFamily="34" charset="-122"/>
                <a:cs typeface="Calibri" pitchFamily="34" charset="-120"/>
              </a:rPr>
              <a:t>  since last order</a:t>
            </a:r>
            <a:endParaRPr lang="en-US" sz="1400" dirty="0"/>
          </a:p>
        </p:txBody>
      </p:sp>
      <p:sp>
        <p:nvSpPr>
          <p:cNvPr id="22" name="Text 18"/>
          <p:cNvSpPr txBox="1"/>
          <p:nvPr/>
        </p:nvSpPr>
        <p:spPr>
          <a:xfrm>
            <a:off x="4709160" y="2441448"/>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162 days</a:t>
            </a:r>
            <a:endParaRPr lang="en-US" sz="1150" dirty="0"/>
          </a:p>
        </p:txBody>
      </p:sp>
      <p:sp>
        <p:nvSpPr>
          <p:cNvPr id="23" name="Shape 19"/>
          <p:cNvSpPr/>
          <p:nvPr/>
        </p:nvSpPr>
        <p:spPr>
          <a:xfrm>
            <a:off x="4069080" y="2953512"/>
            <a:ext cx="502920" cy="502920"/>
          </a:xfrm>
          <a:prstGeom prst="ellipse">
            <a:avLst/>
          </a:prstGeom>
          <a:solidFill>
            <a:srgbClr val="F8E6E7"/>
          </a:solidFill>
          <a:ln w="12700">
            <a:solidFill>
              <a:srgbClr val="F8E6E7"/>
            </a:solidFill>
            <a:prstDash val="solid"/>
          </a:ln>
        </p:spPr>
        <p:txBody>
          <a:bodyPr/>
          <a:lstStyle/>
          <a:p>
            <a:endParaRPr lang="en-CA"/>
          </a:p>
        </p:txBody>
      </p:sp>
      <p:pic>
        <p:nvPicPr>
          <p:cNvPr id="24" name="Image 2" descr="preencoded.png"/>
          <p:cNvPicPr>
            <a:picLocks noChangeAspect="1"/>
          </p:cNvPicPr>
          <p:nvPr/>
        </p:nvPicPr>
        <p:blipFill>
          <a:blip r:embed="rId5"/>
          <a:stretch>
            <a:fillRect/>
          </a:stretch>
        </p:blipFill>
        <p:spPr>
          <a:xfrm>
            <a:off x="4194810" y="3079242"/>
            <a:ext cx="251460" cy="251460"/>
          </a:xfrm>
          <a:prstGeom prst="rect">
            <a:avLst/>
          </a:prstGeom>
        </p:spPr>
      </p:pic>
      <p:sp>
        <p:nvSpPr>
          <p:cNvPr id="25" name="Text 20"/>
          <p:cNvSpPr txBox="1"/>
          <p:nvPr/>
        </p:nvSpPr>
        <p:spPr>
          <a:xfrm>
            <a:off x="4709160" y="2907792"/>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5 orders</a:t>
            </a:r>
            <a:r>
              <a:rPr lang="en-US" sz="1300" dirty="0">
                <a:solidFill>
                  <a:srgbClr val="1E2B3A"/>
                </a:solidFill>
                <a:latin typeface="Calibri" pitchFamily="34" charset="0"/>
                <a:ea typeface="Calibri" pitchFamily="34" charset="-122"/>
                <a:cs typeface="Calibri" pitchFamily="34" charset="-120"/>
              </a:rPr>
              <a:t>  placed so far</a:t>
            </a:r>
            <a:endParaRPr lang="en-US" sz="1400" dirty="0"/>
          </a:p>
        </p:txBody>
      </p:sp>
      <p:sp>
        <p:nvSpPr>
          <p:cNvPr id="26" name="Text 21"/>
          <p:cNvSpPr txBox="1"/>
          <p:nvPr/>
        </p:nvSpPr>
        <p:spPr>
          <a:xfrm>
            <a:off x="4709160" y="3291840"/>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3</a:t>
            </a:r>
            <a:endParaRPr lang="en-US" sz="1150" dirty="0"/>
          </a:p>
        </p:txBody>
      </p:sp>
      <p:sp>
        <p:nvSpPr>
          <p:cNvPr id="27" name="Shape 22"/>
          <p:cNvSpPr/>
          <p:nvPr/>
        </p:nvSpPr>
        <p:spPr>
          <a:xfrm>
            <a:off x="4069080" y="3803904"/>
            <a:ext cx="502920" cy="502920"/>
          </a:xfrm>
          <a:prstGeom prst="ellipse">
            <a:avLst/>
          </a:prstGeom>
          <a:solidFill>
            <a:srgbClr val="F8E6E7"/>
          </a:solidFill>
          <a:ln w="12700">
            <a:solidFill>
              <a:srgbClr val="F8E6E7"/>
            </a:solidFill>
            <a:prstDash val="solid"/>
          </a:ln>
        </p:spPr>
        <p:txBody>
          <a:bodyPr/>
          <a:lstStyle/>
          <a:p>
            <a:endParaRPr lang="en-CA"/>
          </a:p>
        </p:txBody>
      </p:sp>
      <p:pic>
        <p:nvPicPr>
          <p:cNvPr id="28" name="Image 3" descr="preencoded.png"/>
          <p:cNvPicPr>
            <a:picLocks noChangeAspect="1"/>
          </p:cNvPicPr>
          <p:nvPr/>
        </p:nvPicPr>
        <p:blipFill>
          <a:blip r:embed="rId6"/>
          <a:stretch>
            <a:fillRect/>
          </a:stretch>
        </p:blipFill>
        <p:spPr>
          <a:xfrm>
            <a:off x="4194810" y="3929634"/>
            <a:ext cx="251460" cy="251460"/>
          </a:xfrm>
          <a:prstGeom prst="rect">
            <a:avLst/>
          </a:prstGeom>
        </p:spPr>
      </p:pic>
      <p:sp>
        <p:nvSpPr>
          <p:cNvPr id="29" name="Text 23"/>
          <p:cNvSpPr txBox="1"/>
          <p:nvPr/>
        </p:nvSpPr>
        <p:spPr>
          <a:xfrm>
            <a:off x="4709160" y="3758184"/>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£1,765</a:t>
            </a:r>
            <a:r>
              <a:rPr lang="en-US" sz="1300" dirty="0">
                <a:solidFill>
                  <a:srgbClr val="1E2B3A"/>
                </a:solidFill>
                <a:latin typeface="Calibri" pitchFamily="34" charset="0"/>
                <a:ea typeface="Calibri" pitchFamily="34" charset="-122"/>
                <a:cs typeface="Calibri" pitchFamily="34" charset="-120"/>
              </a:rPr>
              <a:t>  spent so far</a:t>
            </a:r>
            <a:endParaRPr lang="en-US" sz="1400" dirty="0"/>
          </a:p>
        </p:txBody>
      </p:sp>
      <p:sp>
        <p:nvSpPr>
          <p:cNvPr id="30" name="Text 24"/>
          <p:cNvSpPr txBox="1"/>
          <p:nvPr/>
        </p:nvSpPr>
        <p:spPr>
          <a:xfrm>
            <a:off x="4709160" y="4142232"/>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More than a Steady Regular (£1,496)</a:t>
            </a:r>
            <a:endParaRPr lang="en-US" sz="1150" dirty="0"/>
          </a:p>
        </p:txBody>
      </p:sp>
      <p:sp>
        <p:nvSpPr>
          <p:cNvPr id="31" name="Shape 25"/>
          <p:cNvSpPr/>
          <p:nvPr/>
        </p:nvSpPr>
        <p:spPr>
          <a:xfrm>
            <a:off x="4069080" y="4654296"/>
            <a:ext cx="502920" cy="502920"/>
          </a:xfrm>
          <a:prstGeom prst="ellipse">
            <a:avLst/>
          </a:prstGeom>
          <a:solidFill>
            <a:srgbClr val="F8E6E7"/>
          </a:solidFill>
          <a:ln w="12700">
            <a:solidFill>
              <a:srgbClr val="F8E6E7"/>
            </a:solidFill>
            <a:prstDash val="solid"/>
          </a:ln>
        </p:spPr>
        <p:txBody>
          <a:bodyPr/>
          <a:lstStyle/>
          <a:p>
            <a:endParaRPr lang="en-CA"/>
          </a:p>
        </p:txBody>
      </p:sp>
      <p:pic>
        <p:nvPicPr>
          <p:cNvPr id="32" name="Image 4" descr="preencoded.png"/>
          <p:cNvPicPr>
            <a:picLocks noChangeAspect="1"/>
          </p:cNvPicPr>
          <p:nvPr/>
        </p:nvPicPr>
        <p:blipFill>
          <a:blip r:embed="rId7"/>
          <a:stretch>
            <a:fillRect/>
          </a:stretch>
        </p:blipFill>
        <p:spPr>
          <a:xfrm>
            <a:off x="4194810" y="4780026"/>
            <a:ext cx="251460" cy="251460"/>
          </a:xfrm>
          <a:prstGeom prst="rect">
            <a:avLst/>
          </a:prstGeom>
        </p:spPr>
      </p:pic>
      <p:sp>
        <p:nvSpPr>
          <p:cNvPr id="33" name="Text 26"/>
          <p:cNvSpPr txBox="1"/>
          <p:nvPr/>
        </p:nvSpPr>
        <p:spPr>
          <a:xfrm>
            <a:off x="4709160" y="4608576"/>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£311</a:t>
            </a:r>
            <a:r>
              <a:rPr lang="en-US" sz="1300" dirty="0">
                <a:solidFill>
                  <a:srgbClr val="1E2B3A"/>
                </a:solidFill>
                <a:latin typeface="Calibri" pitchFamily="34" charset="0"/>
                <a:ea typeface="Calibri" pitchFamily="34" charset="-122"/>
                <a:cs typeface="Calibri" pitchFamily="34" charset="-120"/>
              </a:rPr>
              <a:t>  per order</a:t>
            </a:r>
            <a:endParaRPr lang="en-US" sz="1400" dirty="0"/>
          </a:p>
        </p:txBody>
      </p:sp>
      <p:sp>
        <p:nvSpPr>
          <p:cNvPr id="34" name="Text 27"/>
          <p:cNvSpPr txBox="1"/>
          <p:nvPr/>
        </p:nvSpPr>
        <p:spPr>
          <a:xfrm>
            <a:off x="4709160" y="4992624"/>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£268</a:t>
            </a:r>
            <a:endParaRPr lang="en-US" sz="1150" dirty="0"/>
          </a:p>
        </p:txBody>
      </p:sp>
      <p:sp>
        <p:nvSpPr>
          <p:cNvPr id="35" name="Shape 28"/>
          <p:cNvSpPr/>
          <p:nvPr/>
        </p:nvSpPr>
        <p:spPr>
          <a:xfrm>
            <a:off x="8092440" y="1600200"/>
            <a:ext cx="3547872" cy="1783080"/>
          </a:xfrm>
          <a:prstGeom prst="roundRect">
            <a:avLst>
              <a:gd name="adj" fmla="val 4103"/>
            </a:avLst>
          </a:prstGeom>
          <a:solidFill>
            <a:srgbClr val="F3F5F8"/>
          </a:solidFill>
          <a:ln w="12700">
            <a:solidFill>
              <a:srgbClr val="F3F5F8"/>
            </a:solidFill>
            <a:prstDash val="solid"/>
          </a:ln>
        </p:spPr>
        <p:txBody>
          <a:bodyPr/>
          <a:lstStyle/>
          <a:p>
            <a:endParaRPr lang="en-CA"/>
          </a:p>
        </p:txBody>
      </p:sp>
      <p:sp>
        <p:nvSpPr>
          <p:cNvPr id="36" name="Text 29"/>
          <p:cNvSpPr txBox="1"/>
          <p:nvPr/>
        </p:nvSpPr>
        <p:spPr>
          <a:xfrm>
            <a:off x="8321040" y="1719072"/>
            <a:ext cx="3108960" cy="274320"/>
          </a:xfrm>
          <a:prstGeom prst="rect">
            <a:avLst/>
          </a:prstGeom>
          <a:noFill/>
          <a:ln/>
        </p:spPr>
        <p:txBody>
          <a:bodyPr wrap="square" lIns="0" tIns="0" rIns="0" bIns="0" rtlCol="0" anchor="t"/>
          <a:lstStyle/>
          <a:p>
            <a:pPr marL="0" indent="0">
              <a:buNone/>
            </a:pPr>
            <a:r>
              <a:rPr lang="en-US" sz="1200" b="1" dirty="0">
                <a:solidFill>
                  <a:srgbClr val="C0404A"/>
                </a:solidFill>
                <a:latin typeface="Calibri" pitchFamily="34" charset="0"/>
                <a:ea typeface="Calibri" pitchFamily="34" charset="-122"/>
                <a:cs typeface="Calibri" pitchFamily="34" charset="-120"/>
              </a:rPr>
              <a:t>A real customer</a:t>
            </a:r>
            <a:endParaRPr lang="en-US" sz="1200" dirty="0"/>
          </a:p>
        </p:txBody>
      </p:sp>
      <p:sp>
        <p:nvSpPr>
          <p:cNvPr id="37" name="Text 30"/>
          <p:cNvSpPr txBox="1"/>
          <p:nvPr/>
        </p:nvSpPr>
        <p:spPr>
          <a:xfrm>
            <a:off x="8321040" y="2011680"/>
            <a:ext cx="3154680" cy="1325880"/>
          </a:xfrm>
          <a:prstGeom prst="rect">
            <a:avLst/>
          </a:prstGeom>
          <a:noFill/>
          <a:ln/>
        </p:spPr>
        <p:txBody>
          <a:bodyPr wrap="square" lIns="0" tIns="0" rIns="0" bIns="0" rtlCol="0" anchor="t"/>
          <a:lstStyle/>
          <a:p>
            <a:pPr marL="0" indent="0">
              <a:buNone/>
            </a:pPr>
            <a:r>
              <a:rPr lang="en-US" sz="1350" i="1" dirty="0">
                <a:solidFill>
                  <a:srgbClr val="1E2B3A"/>
                </a:solidFill>
                <a:latin typeface="Calibri" pitchFamily="34" charset="0"/>
                <a:ea typeface="Calibri" pitchFamily="34" charset="-122"/>
                <a:cs typeface="Calibri" pitchFamily="34" charset="-120"/>
              </a:rPr>
              <a:t>Customer 18087 has placed 16 orders worth £13,564. In June they were a Steady Regular. By September they had gone 198 days without an order.</a:t>
            </a:r>
            <a:endParaRPr lang="en-US" sz="1350" dirty="0"/>
          </a:p>
        </p:txBody>
      </p:sp>
      <p:sp>
        <p:nvSpPr>
          <p:cNvPr id="38" name="Shape 31"/>
          <p:cNvSpPr/>
          <p:nvPr/>
        </p:nvSpPr>
        <p:spPr>
          <a:xfrm>
            <a:off x="8092440" y="3520440"/>
            <a:ext cx="3547872" cy="1920240"/>
          </a:xfrm>
          <a:prstGeom prst="roundRect">
            <a:avLst>
              <a:gd name="adj" fmla="val 3810"/>
            </a:avLst>
          </a:prstGeom>
          <a:solidFill>
            <a:srgbClr val="FFFFFF"/>
          </a:solidFill>
          <a:ln w="15875">
            <a:solidFill>
              <a:srgbClr val="C0404A"/>
            </a:solidFill>
            <a:prstDash val="solid"/>
          </a:ln>
        </p:spPr>
        <p:txBody>
          <a:bodyPr/>
          <a:lstStyle/>
          <a:p>
            <a:endParaRPr lang="en-CA"/>
          </a:p>
        </p:txBody>
      </p:sp>
      <p:sp>
        <p:nvSpPr>
          <p:cNvPr id="39" name="Text 32"/>
          <p:cNvSpPr txBox="1"/>
          <p:nvPr/>
        </p:nvSpPr>
        <p:spPr>
          <a:xfrm>
            <a:off x="8321040" y="3630168"/>
            <a:ext cx="3108960" cy="274320"/>
          </a:xfrm>
          <a:prstGeom prst="rect">
            <a:avLst/>
          </a:prstGeom>
          <a:noFill/>
          <a:ln/>
        </p:spPr>
        <p:txBody>
          <a:bodyPr wrap="square" lIns="0" tIns="0" rIns="0" bIns="0" rtlCol="0" anchor="t"/>
          <a:lstStyle/>
          <a:p>
            <a:pPr marL="0" indent="0">
              <a:buNone/>
            </a:pPr>
            <a:r>
              <a:rPr lang="en-US" sz="1200" b="1" dirty="0">
                <a:solidFill>
                  <a:srgbClr val="C0404A"/>
                </a:solidFill>
                <a:latin typeface="Calibri" pitchFamily="34" charset="0"/>
                <a:ea typeface="Calibri" pitchFamily="34" charset="-122"/>
                <a:cs typeface="Calibri" pitchFamily="34" charset="-120"/>
              </a:rPr>
              <a:t>What the CRM team does</a:t>
            </a:r>
            <a:endParaRPr lang="en-US" sz="1200" dirty="0"/>
          </a:p>
        </p:txBody>
      </p:sp>
      <p:sp>
        <p:nvSpPr>
          <p:cNvPr id="40" name="Text 33"/>
          <p:cNvSpPr txBox="1"/>
          <p:nvPr/>
        </p:nvSpPr>
        <p:spPr>
          <a:xfrm>
            <a:off x="8321040" y="3950208"/>
            <a:ext cx="3200400" cy="14630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Personal call or email from the account team</a:t>
            </a:r>
            <a:endParaRPr lang="en-US" sz="1350" dirty="0"/>
          </a:p>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Offer based on their past favourite products</a:t>
            </a:r>
            <a:endParaRPr lang="en-US" sz="1350" dirty="0"/>
          </a:p>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Main push in Sept and Oct, when many return</a:t>
            </a:r>
            <a:endParaRPr lang="en-US" sz="1350" dirty="0"/>
          </a:p>
        </p:txBody>
      </p:sp>
      <p:sp>
        <p:nvSpPr>
          <p:cNvPr id="41" name="Shape 34"/>
          <p:cNvSpPr/>
          <p:nvPr/>
        </p:nvSpPr>
        <p:spPr>
          <a:xfrm>
            <a:off x="548640" y="5623560"/>
            <a:ext cx="11094415" cy="777240"/>
          </a:xfrm>
          <a:prstGeom prst="roundRect">
            <a:avLst>
              <a:gd name="adj" fmla="val 9412"/>
            </a:avLst>
          </a:prstGeom>
          <a:solidFill>
            <a:srgbClr val="1E2B3A"/>
          </a:solidFill>
          <a:ln w="12700">
            <a:solidFill>
              <a:srgbClr val="1E2B3A"/>
            </a:solidFill>
            <a:prstDash val="solid"/>
          </a:ln>
        </p:spPr>
        <p:txBody>
          <a:bodyPr/>
          <a:lstStyle/>
          <a:p>
            <a:endParaRPr lang="en-CA"/>
          </a:p>
        </p:txBody>
      </p:sp>
      <p:sp>
        <p:nvSpPr>
          <p:cNvPr id="43" name="Text 35"/>
          <p:cNvSpPr txBox="1"/>
          <p:nvPr/>
        </p:nvSpPr>
        <p:spPr>
          <a:xfrm>
            <a:off x="777240" y="5623560"/>
            <a:ext cx="10682935" cy="777240"/>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Only 495 customers, so personal contact is affordable. Each one who does not return costs more than a lost Steady Regular.</a:t>
            </a:r>
            <a:endParaRPr lang="en-US" sz="1500" dirty="0"/>
          </a:p>
        </p:txBody>
      </p:sp>
      <p:sp>
        <p:nvSpPr>
          <p:cNvPr id="44"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7F8691"/>
                </a:solidFill>
                <a:latin typeface="Calibri" pitchFamily="34" charset="0"/>
                <a:ea typeface="Calibri" pitchFamily="34" charset="-122"/>
                <a:cs typeface="Calibri" pitchFamily="34" charset="-120"/>
              </a:rPr>
              <a:t>GROUP 5 OF 5  ·  GONE QUIET</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Gone Quiet: 4 in 10 customers but 7% of spend, so keep contact low-cost</a:t>
            </a:r>
            <a:endParaRPr lang="en-US" sz="2600" dirty="0"/>
          </a:p>
        </p:txBody>
      </p:sp>
      <p:sp>
        <p:nvSpPr>
          <p:cNvPr id="4" name="Shape 2"/>
          <p:cNvSpPr/>
          <p:nvPr/>
        </p:nvSpPr>
        <p:spPr>
          <a:xfrm>
            <a:off x="548640" y="1600200"/>
            <a:ext cx="3200400" cy="3840480"/>
          </a:xfrm>
          <a:prstGeom prst="roundRect">
            <a:avLst>
              <a:gd name="adj" fmla="val 2857"/>
            </a:avLst>
          </a:prstGeom>
          <a:solidFill>
            <a:srgbClr val="EEEFF1"/>
          </a:solidFill>
          <a:ln w="12700">
            <a:solidFill>
              <a:srgbClr val="EEEFF1"/>
            </a:solidFill>
            <a:prstDash val="solid"/>
          </a:ln>
        </p:spPr>
        <p:txBody>
          <a:bodyPr/>
          <a:lstStyle/>
          <a:p>
            <a:endParaRPr lang="en-CA"/>
          </a:p>
        </p:txBody>
      </p:sp>
      <p:sp>
        <p:nvSpPr>
          <p:cNvPr id="5" name="Shape 3"/>
          <p:cNvSpPr/>
          <p:nvPr/>
        </p:nvSpPr>
        <p:spPr>
          <a:xfrm>
            <a:off x="777240" y="1810512"/>
            <a:ext cx="777240" cy="777240"/>
          </a:xfrm>
          <a:prstGeom prst="ellipse">
            <a:avLst/>
          </a:prstGeom>
          <a:solidFill>
            <a:srgbClr val="7F8691"/>
          </a:solidFill>
          <a:ln w="12700">
            <a:solidFill>
              <a:srgbClr val="7F8691"/>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71550" y="2004822"/>
            <a:ext cx="388620" cy="388620"/>
          </a:xfrm>
          <a:prstGeom prst="rect">
            <a:avLst/>
          </a:prstGeom>
        </p:spPr>
      </p:pic>
      <p:sp>
        <p:nvSpPr>
          <p:cNvPr id="7" name="Text 4"/>
          <p:cNvSpPr txBox="1"/>
          <p:nvPr/>
        </p:nvSpPr>
        <p:spPr>
          <a:xfrm>
            <a:off x="1691640" y="1810512"/>
            <a:ext cx="1920240" cy="777240"/>
          </a:xfrm>
          <a:prstGeom prst="rect">
            <a:avLst/>
          </a:prstGeom>
          <a:noFill/>
          <a:ln/>
        </p:spPr>
        <p:txBody>
          <a:bodyPr wrap="square" lIns="0" tIns="0" rIns="0" bIns="0" rtlCol="0" anchor="ctr"/>
          <a:lstStyle/>
          <a:p>
            <a:pPr marL="0" indent="0">
              <a:buNone/>
            </a:pPr>
            <a:r>
              <a:rPr lang="en-US" sz="1800" b="1" dirty="0">
                <a:solidFill>
                  <a:srgbClr val="7F8691"/>
                </a:solidFill>
                <a:latin typeface="Calibri" pitchFamily="34" charset="0"/>
                <a:ea typeface="Calibri" pitchFamily="34" charset="-122"/>
                <a:cs typeface="Calibri" pitchFamily="34" charset="-120"/>
              </a:rPr>
              <a:t>Gone Quiet</a:t>
            </a:r>
            <a:endParaRPr lang="en-US" sz="1800" dirty="0"/>
          </a:p>
        </p:txBody>
      </p:sp>
      <p:sp>
        <p:nvSpPr>
          <p:cNvPr id="8" name="Text 5"/>
          <p:cNvSpPr txBox="1"/>
          <p:nvPr/>
        </p:nvSpPr>
        <p:spPr>
          <a:xfrm>
            <a:off x="777240" y="2743200"/>
            <a:ext cx="2788920" cy="731520"/>
          </a:xfrm>
          <a:prstGeom prst="rect">
            <a:avLst/>
          </a:prstGeom>
          <a:noFill/>
          <a:ln/>
        </p:spPr>
        <p:txBody>
          <a:bodyPr wrap="square" lIns="0" tIns="0" rIns="0" bIns="0" rtlCol="0" anchor="t"/>
          <a:lstStyle/>
          <a:p>
            <a:pPr marL="0" indent="0">
              <a:buNone/>
            </a:pPr>
            <a:r>
              <a:rPr lang="en-US" sz="1300" dirty="0">
                <a:solidFill>
                  <a:srgbClr val="1E2B3A"/>
                </a:solidFill>
                <a:latin typeface="Calibri" pitchFamily="34" charset="0"/>
                <a:ea typeface="Calibri" pitchFamily="34" charset="-122"/>
                <a:cs typeface="Calibri" pitchFamily="34" charset="-120"/>
              </a:rPr>
              <a:t>Bought once or twice, almost a year ago</a:t>
            </a:r>
            <a:endParaRPr lang="en-US" sz="1300" dirty="0"/>
          </a:p>
        </p:txBody>
      </p:sp>
      <p:sp>
        <p:nvSpPr>
          <p:cNvPr id="9" name="Text 6"/>
          <p:cNvSpPr txBox="1"/>
          <p:nvPr/>
        </p:nvSpPr>
        <p:spPr>
          <a:xfrm>
            <a:off x="777240" y="3474720"/>
            <a:ext cx="1371600" cy="548640"/>
          </a:xfrm>
          <a:prstGeom prst="rect">
            <a:avLst/>
          </a:prstGeom>
          <a:noFill/>
          <a:ln/>
        </p:spPr>
        <p:txBody>
          <a:bodyPr wrap="square" lIns="0" tIns="0" rIns="0" bIns="0" rtlCol="0" anchor="t"/>
          <a:lstStyle/>
          <a:p>
            <a:pPr marL="0" indent="0">
              <a:buNone/>
            </a:pPr>
            <a:r>
              <a:rPr lang="en-US" sz="3200" b="1" dirty="0">
                <a:solidFill>
                  <a:srgbClr val="7F8691"/>
                </a:solidFill>
                <a:latin typeface="Cambria" pitchFamily="34" charset="0"/>
                <a:ea typeface="Cambria" pitchFamily="34" charset="-122"/>
                <a:cs typeface="Cambria" pitchFamily="34" charset="-120"/>
              </a:rPr>
              <a:t>41%</a:t>
            </a:r>
            <a:endParaRPr lang="en-US" sz="3200" dirty="0"/>
          </a:p>
        </p:txBody>
      </p:sp>
      <p:sp>
        <p:nvSpPr>
          <p:cNvPr id="10" name="Text 7"/>
          <p:cNvSpPr txBox="1"/>
          <p:nvPr/>
        </p:nvSpPr>
        <p:spPr>
          <a:xfrm>
            <a:off x="777240" y="4023360"/>
            <a:ext cx="1371600" cy="4572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 customers</a:t>
            </a:r>
            <a:endParaRPr lang="en-US" sz="1100" dirty="0"/>
          </a:p>
          <a:p>
            <a:pPr marL="0" indent="0">
              <a:buNone/>
            </a:pPr>
            <a:r>
              <a:rPr lang="en-US" sz="1100" dirty="0">
                <a:solidFill>
                  <a:srgbClr val="5B6675"/>
                </a:solidFill>
                <a:latin typeface="Calibri" pitchFamily="34" charset="0"/>
                <a:ea typeface="Calibri" pitchFamily="34" charset="-122"/>
                <a:cs typeface="Calibri" pitchFamily="34" charset="-120"/>
              </a:rPr>
              <a:t>(2,130)</a:t>
            </a:r>
            <a:endParaRPr lang="en-US" sz="1100" dirty="0"/>
          </a:p>
        </p:txBody>
      </p:sp>
      <p:sp>
        <p:nvSpPr>
          <p:cNvPr id="11" name="Text 8"/>
          <p:cNvSpPr txBox="1"/>
          <p:nvPr/>
        </p:nvSpPr>
        <p:spPr>
          <a:xfrm>
            <a:off x="2194560" y="3474720"/>
            <a:ext cx="1371600" cy="548640"/>
          </a:xfrm>
          <a:prstGeom prst="rect">
            <a:avLst/>
          </a:prstGeom>
          <a:noFill/>
          <a:ln/>
        </p:spPr>
        <p:txBody>
          <a:bodyPr wrap="square" lIns="0" tIns="0" rIns="0" bIns="0" rtlCol="0" anchor="t"/>
          <a:lstStyle/>
          <a:p>
            <a:pPr marL="0" indent="0">
              <a:buNone/>
            </a:pPr>
            <a:r>
              <a:rPr lang="en-US" sz="3200" b="1" dirty="0">
                <a:solidFill>
                  <a:srgbClr val="1E2B3A"/>
                </a:solidFill>
                <a:latin typeface="Cambria" pitchFamily="34" charset="0"/>
                <a:ea typeface="Cambria" pitchFamily="34" charset="-122"/>
                <a:cs typeface="Cambria" pitchFamily="34" charset="-120"/>
              </a:rPr>
              <a:t>7%</a:t>
            </a:r>
            <a:endParaRPr lang="en-US" sz="3200" dirty="0"/>
          </a:p>
        </p:txBody>
      </p:sp>
      <p:sp>
        <p:nvSpPr>
          <p:cNvPr id="12" name="Text 9"/>
          <p:cNvSpPr txBox="1"/>
          <p:nvPr/>
        </p:nvSpPr>
        <p:spPr>
          <a:xfrm>
            <a:off x="2194560" y="4023360"/>
            <a:ext cx="1371600" cy="4572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of all revenue</a:t>
            </a:r>
            <a:endParaRPr lang="en-US" sz="1100" dirty="0"/>
          </a:p>
        </p:txBody>
      </p:sp>
      <p:sp>
        <p:nvSpPr>
          <p:cNvPr id="13" name="Text 10"/>
          <p:cNvSpPr txBox="1"/>
          <p:nvPr/>
        </p:nvSpPr>
        <p:spPr>
          <a:xfrm>
            <a:off x="777240" y="4572000"/>
            <a:ext cx="2788920" cy="27432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Placed no order in the next 3 months</a:t>
            </a:r>
            <a:endParaRPr lang="en-US" sz="1100" dirty="0"/>
          </a:p>
        </p:txBody>
      </p:sp>
      <p:sp>
        <p:nvSpPr>
          <p:cNvPr id="14" name="Shape 11"/>
          <p:cNvSpPr/>
          <p:nvPr/>
        </p:nvSpPr>
        <p:spPr>
          <a:xfrm>
            <a:off x="777240" y="4919472"/>
            <a:ext cx="2103120" cy="219456"/>
          </a:xfrm>
          <a:prstGeom prst="rect">
            <a:avLst/>
          </a:prstGeom>
          <a:solidFill>
            <a:srgbClr val="FFFFFF"/>
          </a:solidFill>
          <a:ln w="9525">
            <a:solidFill>
              <a:srgbClr val="D9DEE5"/>
            </a:solidFill>
            <a:prstDash val="solid"/>
          </a:ln>
        </p:spPr>
        <p:txBody>
          <a:bodyPr/>
          <a:lstStyle/>
          <a:p>
            <a:endParaRPr lang="en-CA"/>
          </a:p>
        </p:txBody>
      </p:sp>
      <p:sp>
        <p:nvSpPr>
          <p:cNvPr id="15" name="Shape 12"/>
          <p:cNvSpPr/>
          <p:nvPr/>
        </p:nvSpPr>
        <p:spPr>
          <a:xfrm>
            <a:off x="777240" y="4919472"/>
            <a:ext cx="1682496" cy="219456"/>
          </a:xfrm>
          <a:prstGeom prst="rect">
            <a:avLst/>
          </a:prstGeom>
          <a:solidFill>
            <a:srgbClr val="7F8691"/>
          </a:solidFill>
          <a:ln w="12700">
            <a:solidFill>
              <a:srgbClr val="7F8691"/>
            </a:solidFill>
            <a:prstDash val="solid"/>
          </a:ln>
        </p:spPr>
        <p:txBody>
          <a:bodyPr/>
          <a:lstStyle/>
          <a:p>
            <a:endParaRPr lang="en-CA"/>
          </a:p>
        </p:txBody>
      </p:sp>
      <p:sp>
        <p:nvSpPr>
          <p:cNvPr id="16" name="Text 13"/>
          <p:cNvSpPr txBox="1"/>
          <p:nvPr/>
        </p:nvSpPr>
        <p:spPr>
          <a:xfrm>
            <a:off x="2971800" y="4828032"/>
            <a:ext cx="640080" cy="384048"/>
          </a:xfrm>
          <a:prstGeom prst="rect">
            <a:avLst/>
          </a:prstGeom>
          <a:noFill/>
          <a:ln/>
        </p:spPr>
        <p:txBody>
          <a:bodyPr wrap="square" lIns="0" tIns="0" rIns="0" bIns="0" rtlCol="0" anchor="ctr"/>
          <a:lstStyle/>
          <a:p>
            <a:pPr marL="0" indent="0">
              <a:buNone/>
            </a:pPr>
            <a:r>
              <a:rPr lang="en-US" sz="1800" b="1" dirty="0">
                <a:solidFill>
                  <a:srgbClr val="7F8691"/>
                </a:solidFill>
                <a:latin typeface="Calibri" pitchFamily="34" charset="0"/>
                <a:ea typeface="Calibri" pitchFamily="34" charset="-122"/>
                <a:cs typeface="Calibri" pitchFamily="34" charset="-120"/>
              </a:rPr>
              <a:t>80%</a:t>
            </a:r>
            <a:endParaRPr lang="en-US" sz="1800" dirty="0"/>
          </a:p>
        </p:txBody>
      </p:sp>
      <p:sp>
        <p:nvSpPr>
          <p:cNvPr id="17" name="Text 14"/>
          <p:cNvSpPr txBox="1"/>
          <p:nvPr/>
        </p:nvSpPr>
        <p:spPr>
          <a:xfrm>
            <a:off x="777240" y="5157216"/>
            <a:ext cx="2788920" cy="237744"/>
          </a:xfrm>
          <a:prstGeom prst="rect">
            <a:avLst/>
          </a:prstGeom>
          <a:noFill/>
          <a:ln/>
        </p:spPr>
        <p:txBody>
          <a:bodyPr wrap="square" lIns="0" tIns="0" rIns="0" bIns="0" rtlCol="0" anchor="t"/>
          <a:lstStyle/>
          <a:p>
            <a:pPr marL="0" indent="0">
              <a:buNone/>
            </a:pPr>
            <a:r>
              <a:rPr lang="en-US" sz="1000" dirty="0">
                <a:solidFill>
                  <a:srgbClr val="5B6675"/>
                </a:solidFill>
                <a:latin typeface="Calibri" pitchFamily="34" charset="0"/>
                <a:ea typeface="Calibri" pitchFamily="34" charset="-122"/>
                <a:cs typeface="Calibri" pitchFamily="34" charset="-120"/>
              </a:rPr>
              <a:t>Summer period: 89%</a:t>
            </a:r>
            <a:endParaRPr lang="en-US" sz="1000" dirty="0"/>
          </a:p>
        </p:txBody>
      </p:sp>
      <p:sp>
        <p:nvSpPr>
          <p:cNvPr id="18" name="Text 15"/>
          <p:cNvSpPr txBox="1"/>
          <p:nvPr/>
        </p:nvSpPr>
        <p:spPr>
          <a:xfrm>
            <a:off x="4069080" y="1600200"/>
            <a:ext cx="3749040" cy="32004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What makes them different</a:t>
            </a:r>
            <a:endParaRPr lang="en-US" sz="1500" dirty="0"/>
          </a:p>
        </p:txBody>
      </p:sp>
      <p:sp>
        <p:nvSpPr>
          <p:cNvPr id="19" name="Shape 16"/>
          <p:cNvSpPr/>
          <p:nvPr/>
        </p:nvSpPr>
        <p:spPr>
          <a:xfrm>
            <a:off x="4069080" y="2103120"/>
            <a:ext cx="502920" cy="502920"/>
          </a:xfrm>
          <a:prstGeom prst="ellipse">
            <a:avLst/>
          </a:prstGeom>
          <a:solidFill>
            <a:srgbClr val="EEEFF1"/>
          </a:solidFill>
          <a:ln w="12700">
            <a:solidFill>
              <a:srgbClr val="EEEFF1"/>
            </a:solidFill>
            <a:prstDash val="solid"/>
          </a:ln>
        </p:spPr>
        <p:txBody>
          <a:bodyPr/>
          <a:lstStyle/>
          <a:p>
            <a:endParaRPr lang="en-CA"/>
          </a:p>
        </p:txBody>
      </p:sp>
      <p:pic>
        <p:nvPicPr>
          <p:cNvPr id="20" name="Image 1" descr="preencoded.png"/>
          <p:cNvPicPr>
            <a:picLocks noChangeAspect="1"/>
          </p:cNvPicPr>
          <p:nvPr/>
        </p:nvPicPr>
        <p:blipFill>
          <a:blip r:embed="rId4"/>
          <a:stretch>
            <a:fillRect/>
          </a:stretch>
        </p:blipFill>
        <p:spPr>
          <a:xfrm>
            <a:off x="4194810" y="2228850"/>
            <a:ext cx="251460" cy="251460"/>
          </a:xfrm>
          <a:prstGeom prst="rect">
            <a:avLst/>
          </a:prstGeom>
        </p:spPr>
      </p:pic>
      <p:sp>
        <p:nvSpPr>
          <p:cNvPr id="21" name="Text 17"/>
          <p:cNvSpPr txBox="1"/>
          <p:nvPr/>
        </p:nvSpPr>
        <p:spPr>
          <a:xfrm>
            <a:off x="4709160" y="2057400"/>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336 days</a:t>
            </a:r>
            <a:r>
              <a:rPr lang="en-US" sz="1300" dirty="0">
                <a:solidFill>
                  <a:srgbClr val="1E2B3A"/>
                </a:solidFill>
                <a:latin typeface="Calibri" pitchFamily="34" charset="0"/>
                <a:ea typeface="Calibri" pitchFamily="34" charset="-122"/>
                <a:cs typeface="Calibri" pitchFamily="34" charset="-120"/>
              </a:rPr>
              <a:t>  since last order</a:t>
            </a:r>
            <a:endParaRPr lang="en-US" sz="1400" dirty="0"/>
          </a:p>
        </p:txBody>
      </p:sp>
      <p:sp>
        <p:nvSpPr>
          <p:cNvPr id="22" name="Text 18"/>
          <p:cNvSpPr txBox="1"/>
          <p:nvPr/>
        </p:nvSpPr>
        <p:spPr>
          <a:xfrm>
            <a:off x="4709160" y="2441448"/>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162 days</a:t>
            </a:r>
            <a:endParaRPr lang="en-US" sz="1150" dirty="0"/>
          </a:p>
        </p:txBody>
      </p:sp>
      <p:sp>
        <p:nvSpPr>
          <p:cNvPr id="23" name="Shape 19"/>
          <p:cNvSpPr/>
          <p:nvPr/>
        </p:nvSpPr>
        <p:spPr>
          <a:xfrm>
            <a:off x="4069080" y="2953512"/>
            <a:ext cx="502920" cy="502920"/>
          </a:xfrm>
          <a:prstGeom prst="ellipse">
            <a:avLst/>
          </a:prstGeom>
          <a:solidFill>
            <a:srgbClr val="EEEFF1"/>
          </a:solidFill>
          <a:ln w="12700">
            <a:solidFill>
              <a:srgbClr val="EEEFF1"/>
            </a:solidFill>
            <a:prstDash val="solid"/>
          </a:ln>
        </p:spPr>
        <p:txBody>
          <a:bodyPr/>
          <a:lstStyle/>
          <a:p>
            <a:endParaRPr lang="en-CA"/>
          </a:p>
        </p:txBody>
      </p:sp>
      <p:pic>
        <p:nvPicPr>
          <p:cNvPr id="24" name="Image 2" descr="preencoded.png"/>
          <p:cNvPicPr>
            <a:picLocks noChangeAspect="1"/>
          </p:cNvPicPr>
          <p:nvPr/>
        </p:nvPicPr>
        <p:blipFill>
          <a:blip r:embed="rId5"/>
          <a:stretch>
            <a:fillRect/>
          </a:stretch>
        </p:blipFill>
        <p:spPr>
          <a:xfrm>
            <a:off x="4194810" y="3079242"/>
            <a:ext cx="251460" cy="251460"/>
          </a:xfrm>
          <a:prstGeom prst="rect">
            <a:avLst/>
          </a:prstGeom>
        </p:spPr>
      </p:pic>
      <p:sp>
        <p:nvSpPr>
          <p:cNvPr id="25" name="Text 20"/>
          <p:cNvSpPr txBox="1"/>
          <p:nvPr/>
        </p:nvSpPr>
        <p:spPr>
          <a:xfrm>
            <a:off x="4709160" y="2907792"/>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1 order</a:t>
            </a:r>
            <a:r>
              <a:rPr lang="en-US" sz="1300" dirty="0">
                <a:solidFill>
                  <a:srgbClr val="1E2B3A"/>
                </a:solidFill>
                <a:latin typeface="Calibri" pitchFamily="34" charset="0"/>
                <a:ea typeface="Calibri" pitchFamily="34" charset="-122"/>
                <a:cs typeface="Calibri" pitchFamily="34" charset="-120"/>
              </a:rPr>
              <a:t>  placed so far</a:t>
            </a:r>
            <a:endParaRPr lang="en-US" sz="1400" dirty="0"/>
          </a:p>
        </p:txBody>
      </p:sp>
      <p:sp>
        <p:nvSpPr>
          <p:cNvPr id="26" name="Text 21"/>
          <p:cNvSpPr txBox="1"/>
          <p:nvPr/>
        </p:nvSpPr>
        <p:spPr>
          <a:xfrm>
            <a:off x="4709160" y="3291840"/>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3</a:t>
            </a:r>
            <a:endParaRPr lang="en-US" sz="1150" dirty="0"/>
          </a:p>
        </p:txBody>
      </p:sp>
      <p:sp>
        <p:nvSpPr>
          <p:cNvPr id="27" name="Shape 22"/>
          <p:cNvSpPr/>
          <p:nvPr/>
        </p:nvSpPr>
        <p:spPr>
          <a:xfrm>
            <a:off x="4069080" y="3803904"/>
            <a:ext cx="502920" cy="502920"/>
          </a:xfrm>
          <a:prstGeom prst="ellipse">
            <a:avLst/>
          </a:prstGeom>
          <a:solidFill>
            <a:srgbClr val="EEEFF1"/>
          </a:solidFill>
          <a:ln w="12700">
            <a:solidFill>
              <a:srgbClr val="EEEFF1"/>
            </a:solidFill>
            <a:prstDash val="solid"/>
          </a:ln>
        </p:spPr>
        <p:txBody>
          <a:bodyPr/>
          <a:lstStyle/>
          <a:p>
            <a:endParaRPr lang="en-CA"/>
          </a:p>
        </p:txBody>
      </p:sp>
      <p:pic>
        <p:nvPicPr>
          <p:cNvPr id="28" name="Image 3" descr="preencoded.png"/>
          <p:cNvPicPr>
            <a:picLocks noChangeAspect="1"/>
          </p:cNvPicPr>
          <p:nvPr/>
        </p:nvPicPr>
        <p:blipFill>
          <a:blip r:embed="rId6"/>
          <a:stretch>
            <a:fillRect/>
          </a:stretch>
        </p:blipFill>
        <p:spPr>
          <a:xfrm>
            <a:off x="4194810" y="3929634"/>
            <a:ext cx="251460" cy="251460"/>
          </a:xfrm>
          <a:prstGeom prst="rect">
            <a:avLst/>
          </a:prstGeom>
        </p:spPr>
      </p:pic>
      <p:sp>
        <p:nvSpPr>
          <p:cNvPr id="29" name="Text 23"/>
          <p:cNvSpPr txBox="1"/>
          <p:nvPr/>
        </p:nvSpPr>
        <p:spPr>
          <a:xfrm>
            <a:off x="4709160" y="3758184"/>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£328</a:t>
            </a:r>
            <a:r>
              <a:rPr lang="en-US" sz="1300" dirty="0">
                <a:solidFill>
                  <a:srgbClr val="1E2B3A"/>
                </a:solidFill>
                <a:latin typeface="Calibri" pitchFamily="34" charset="0"/>
                <a:ea typeface="Calibri" pitchFamily="34" charset="-122"/>
                <a:cs typeface="Calibri" pitchFamily="34" charset="-120"/>
              </a:rPr>
              <a:t>  spent so far</a:t>
            </a:r>
            <a:endParaRPr lang="en-US" sz="1400" dirty="0"/>
          </a:p>
        </p:txBody>
      </p:sp>
      <p:sp>
        <p:nvSpPr>
          <p:cNvPr id="30" name="Text 24"/>
          <p:cNvSpPr txBox="1"/>
          <p:nvPr/>
        </p:nvSpPr>
        <p:spPr>
          <a:xfrm>
            <a:off x="4709160" y="4142232"/>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Typical customer: £759</a:t>
            </a:r>
            <a:endParaRPr lang="en-US" sz="1150" dirty="0"/>
          </a:p>
        </p:txBody>
      </p:sp>
      <p:sp>
        <p:nvSpPr>
          <p:cNvPr id="31" name="Shape 25"/>
          <p:cNvSpPr/>
          <p:nvPr/>
        </p:nvSpPr>
        <p:spPr>
          <a:xfrm>
            <a:off x="4069080" y="4654296"/>
            <a:ext cx="502920" cy="502920"/>
          </a:xfrm>
          <a:prstGeom prst="ellipse">
            <a:avLst/>
          </a:prstGeom>
          <a:solidFill>
            <a:srgbClr val="EEEFF1"/>
          </a:solidFill>
          <a:ln w="12700">
            <a:solidFill>
              <a:srgbClr val="EEEFF1"/>
            </a:solidFill>
            <a:prstDash val="solid"/>
          </a:ln>
        </p:spPr>
        <p:txBody>
          <a:bodyPr/>
          <a:lstStyle/>
          <a:p>
            <a:endParaRPr lang="en-CA"/>
          </a:p>
        </p:txBody>
      </p:sp>
      <p:pic>
        <p:nvPicPr>
          <p:cNvPr id="32" name="Image 4" descr="preencoded.png"/>
          <p:cNvPicPr>
            <a:picLocks noChangeAspect="1"/>
          </p:cNvPicPr>
          <p:nvPr/>
        </p:nvPicPr>
        <p:blipFill>
          <a:blip r:embed="rId7"/>
          <a:stretch>
            <a:fillRect/>
          </a:stretch>
        </p:blipFill>
        <p:spPr>
          <a:xfrm>
            <a:off x="4194810" y="4780026"/>
            <a:ext cx="251460" cy="251460"/>
          </a:xfrm>
          <a:prstGeom prst="rect">
            <a:avLst/>
          </a:prstGeom>
        </p:spPr>
      </p:pic>
      <p:sp>
        <p:nvSpPr>
          <p:cNvPr id="33" name="Text 26"/>
          <p:cNvSpPr txBox="1"/>
          <p:nvPr/>
        </p:nvSpPr>
        <p:spPr>
          <a:xfrm>
            <a:off x="4709160" y="4608576"/>
            <a:ext cx="3154680" cy="384048"/>
          </a:xfrm>
          <a:prstGeom prst="rect">
            <a:avLst/>
          </a:prstGeom>
          <a:noFill/>
          <a:ln/>
        </p:spPr>
        <p:txBody>
          <a:bodyPr wrap="square" lIns="0" tIns="0" rIns="0" bIns="0" rtlCol="0" anchor="ctr"/>
          <a:lstStyle/>
          <a:p>
            <a:pPr marL="0" indent="0">
              <a:buNone/>
            </a:pPr>
            <a:r>
              <a:rPr lang="en-US" sz="2000" b="1" dirty="0">
                <a:solidFill>
                  <a:srgbClr val="1E2B3A"/>
                </a:solidFill>
                <a:latin typeface="Calibri" pitchFamily="34" charset="0"/>
                <a:ea typeface="Calibri" pitchFamily="34" charset="-122"/>
                <a:cs typeface="Calibri" pitchFamily="34" charset="-120"/>
              </a:rPr>
              <a:t>58%</a:t>
            </a:r>
            <a:r>
              <a:rPr lang="en-US" sz="1300" dirty="0">
                <a:solidFill>
                  <a:srgbClr val="1E2B3A"/>
                </a:solidFill>
                <a:latin typeface="Calibri" pitchFamily="34" charset="0"/>
                <a:ea typeface="Calibri" pitchFamily="34" charset="-122"/>
                <a:cs typeface="Calibri" pitchFamily="34" charset="-120"/>
              </a:rPr>
              <a:t>  bought only once</a:t>
            </a:r>
            <a:endParaRPr lang="en-US" sz="1400" dirty="0"/>
          </a:p>
        </p:txBody>
      </p:sp>
      <p:sp>
        <p:nvSpPr>
          <p:cNvPr id="34" name="Text 27"/>
          <p:cNvSpPr txBox="1"/>
          <p:nvPr/>
        </p:nvSpPr>
        <p:spPr>
          <a:xfrm>
            <a:off x="4709160" y="4992624"/>
            <a:ext cx="3154680" cy="274320"/>
          </a:xfrm>
          <a:prstGeom prst="rect">
            <a:avLst/>
          </a:prstGeom>
          <a:noFill/>
          <a:ln/>
        </p:spPr>
        <p:txBody>
          <a:bodyPr wrap="square" lIns="0" tIns="0" rIns="0" bIns="0" rtlCol="0" anchor="t"/>
          <a:lstStyle/>
          <a:p>
            <a:pPr marL="0" indent="0">
              <a:buNone/>
            </a:pPr>
            <a:r>
              <a:rPr lang="en-US" sz="1150" dirty="0">
                <a:solidFill>
                  <a:srgbClr val="5B6675"/>
                </a:solidFill>
                <a:latin typeface="Calibri" pitchFamily="34" charset="0"/>
                <a:ea typeface="Calibri" pitchFamily="34" charset="-122"/>
                <a:cs typeface="Calibri" pitchFamily="34" charset="-120"/>
              </a:rPr>
              <a:t>All customers: 30%</a:t>
            </a:r>
            <a:endParaRPr lang="en-US" sz="1150" dirty="0"/>
          </a:p>
        </p:txBody>
      </p:sp>
      <p:sp>
        <p:nvSpPr>
          <p:cNvPr id="35" name="Shape 28"/>
          <p:cNvSpPr/>
          <p:nvPr/>
        </p:nvSpPr>
        <p:spPr>
          <a:xfrm>
            <a:off x="8092440" y="1600200"/>
            <a:ext cx="3547872" cy="1783080"/>
          </a:xfrm>
          <a:prstGeom prst="roundRect">
            <a:avLst>
              <a:gd name="adj" fmla="val 4103"/>
            </a:avLst>
          </a:prstGeom>
          <a:solidFill>
            <a:srgbClr val="F3F5F8"/>
          </a:solidFill>
          <a:ln w="12700">
            <a:solidFill>
              <a:srgbClr val="F3F5F8"/>
            </a:solidFill>
            <a:prstDash val="solid"/>
          </a:ln>
        </p:spPr>
        <p:txBody>
          <a:bodyPr/>
          <a:lstStyle/>
          <a:p>
            <a:endParaRPr lang="en-CA"/>
          </a:p>
        </p:txBody>
      </p:sp>
      <p:sp>
        <p:nvSpPr>
          <p:cNvPr id="36" name="Text 29"/>
          <p:cNvSpPr txBox="1"/>
          <p:nvPr/>
        </p:nvSpPr>
        <p:spPr>
          <a:xfrm>
            <a:off x="8321040" y="1719072"/>
            <a:ext cx="3108960" cy="274320"/>
          </a:xfrm>
          <a:prstGeom prst="rect">
            <a:avLst/>
          </a:prstGeom>
          <a:noFill/>
          <a:ln/>
        </p:spPr>
        <p:txBody>
          <a:bodyPr wrap="square" lIns="0" tIns="0" rIns="0" bIns="0" rtlCol="0" anchor="t"/>
          <a:lstStyle/>
          <a:p>
            <a:pPr marL="0" indent="0">
              <a:buNone/>
            </a:pPr>
            <a:r>
              <a:rPr lang="en-US" sz="1200" b="1" dirty="0">
                <a:solidFill>
                  <a:srgbClr val="7F8691"/>
                </a:solidFill>
                <a:latin typeface="Calibri" pitchFamily="34" charset="0"/>
                <a:ea typeface="Calibri" pitchFamily="34" charset="-122"/>
                <a:cs typeface="Calibri" pitchFamily="34" charset="-120"/>
              </a:rPr>
              <a:t>A real customer</a:t>
            </a:r>
            <a:endParaRPr lang="en-US" sz="1200" dirty="0"/>
          </a:p>
        </p:txBody>
      </p:sp>
      <p:sp>
        <p:nvSpPr>
          <p:cNvPr id="37" name="Text 30"/>
          <p:cNvSpPr txBox="1"/>
          <p:nvPr/>
        </p:nvSpPr>
        <p:spPr>
          <a:xfrm>
            <a:off x="8321040" y="2011680"/>
            <a:ext cx="3154680" cy="1325880"/>
          </a:xfrm>
          <a:prstGeom prst="rect">
            <a:avLst/>
          </a:prstGeom>
          <a:noFill/>
          <a:ln/>
        </p:spPr>
        <p:txBody>
          <a:bodyPr wrap="square" lIns="0" tIns="0" rIns="0" bIns="0" rtlCol="0" anchor="t"/>
          <a:lstStyle/>
          <a:p>
            <a:pPr marL="0" indent="0">
              <a:buNone/>
            </a:pPr>
            <a:r>
              <a:rPr lang="en-US" sz="1350" i="1" dirty="0">
                <a:solidFill>
                  <a:srgbClr val="1E2B3A"/>
                </a:solidFill>
                <a:latin typeface="Calibri" pitchFamily="34" charset="0"/>
                <a:ea typeface="Calibri" pitchFamily="34" charset="-122"/>
                <a:cs typeface="Calibri" pitchFamily="34" charset="-120"/>
              </a:rPr>
              <a:t>Customer 15362 placed 2 orders worth £613 in total. Their last order was 356 days before the snapshot, and they did not order in the next 3 months either.</a:t>
            </a:r>
            <a:endParaRPr lang="en-US" sz="1350" dirty="0"/>
          </a:p>
        </p:txBody>
      </p:sp>
      <p:sp>
        <p:nvSpPr>
          <p:cNvPr id="38" name="Shape 31"/>
          <p:cNvSpPr/>
          <p:nvPr/>
        </p:nvSpPr>
        <p:spPr>
          <a:xfrm>
            <a:off x="8092440" y="3520440"/>
            <a:ext cx="3547872" cy="1920240"/>
          </a:xfrm>
          <a:prstGeom prst="roundRect">
            <a:avLst>
              <a:gd name="adj" fmla="val 3810"/>
            </a:avLst>
          </a:prstGeom>
          <a:solidFill>
            <a:srgbClr val="FFFFFF"/>
          </a:solidFill>
          <a:ln w="15875">
            <a:solidFill>
              <a:srgbClr val="7F8691"/>
            </a:solidFill>
            <a:prstDash val="solid"/>
          </a:ln>
        </p:spPr>
        <p:txBody>
          <a:bodyPr/>
          <a:lstStyle/>
          <a:p>
            <a:endParaRPr lang="en-CA"/>
          </a:p>
        </p:txBody>
      </p:sp>
      <p:sp>
        <p:nvSpPr>
          <p:cNvPr id="39" name="Text 32"/>
          <p:cNvSpPr txBox="1"/>
          <p:nvPr/>
        </p:nvSpPr>
        <p:spPr>
          <a:xfrm>
            <a:off x="8321040" y="3630168"/>
            <a:ext cx="3108960" cy="274320"/>
          </a:xfrm>
          <a:prstGeom prst="rect">
            <a:avLst/>
          </a:prstGeom>
          <a:noFill/>
          <a:ln/>
        </p:spPr>
        <p:txBody>
          <a:bodyPr wrap="square" lIns="0" tIns="0" rIns="0" bIns="0" rtlCol="0" anchor="t"/>
          <a:lstStyle/>
          <a:p>
            <a:pPr marL="0" indent="0">
              <a:buNone/>
            </a:pPr>
            <a:r>
              <a:rPr lang="en-US" sz="1200" b="1" dirty="0">
                <a:solidFill>
                  <a:srgbClr val="7F8691"/>
                </a:solidFill>
                <a:latin typeface="Calibri" pitchFamily="34" charset="0"/>
                <a:ea typeface="Calibri" pitchFamily="34" charset="-122"/>
                <a:cs typeface="Calibri" pitchFamily="34" charset="-120"/>
              </a:rPr>
              <a:t>What the CRM team does</a:t>
            </a:r>
            <a:endParaRPr lang="en-US" sz="1200" dirty="0"/>
          </a:p>
        </p:txBody>
      </p:sp>
      <p:sp>
        <p:nvSpPr>
          <p:cNvPr id="40" name="Text 33"/>
          <p:cNvSpPr txBox="1"/>
          <p:nvPr/>
        </p:nvSpPr>
        <p:spPr>
          <a:xfrm>
            <a:off x="8321040" y="3950208"/>
            <a:ext cx="3200400" cy="14630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Low-cost bulk email only</a:t>
            </a:r>
            <a:endParaRPr lang="en-US" sz="1350" dirty="0"/>
          </a:p>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One seasonal message before Christmas</a:t>
            </a:r>
            <a:endParaRPr lang="en-US" sz="1350" dirty="0"/>
          </a:p>
          <a:p>
            <a:pPr marL="342900" indent="-342900">
              <a:spcAft>
                <a:spcPts val="500"/>
              </a:spcAft>
              <a:buSzPct val="100000"/>
              <a:buChar char="•"/>
            </a:pPr>
            <a:r>
              <a:rPr lang="en-US" sz="1350" dirty="0">
                <a:solidFill>
                  <a:srgbClr val="1E2B3A"/>
                </a:solidFill>
                <a:latin typeface="Calibri" pitchFamily="34" charset="0"/>
                <a:ea typeface="Calibri" pitchFamily="34" charset="-122"/>
                <a:cs typeface="Calibri" pitchFamily="34" charset="-120"/>
              </a:rPr>
              <a:t>Drop from paid campaigns if there is no response</a:t>
            </a:r>
            <a:endParaRPr lang="en-US" sz="1350" dirty="0"/>
          </a:p>
        </p:txBody>
      </p:sp>
      <p:sp>
        <p:nvSpPr>
          <p:cNvPr id="41" name="Shape 34"/>
          <p:cNvSpPr/>
          <p:nvPr/>
        </p:nvSpPr>
        <p:spPr>
          <a:xfrm>
            <a:off x="548640" y="5623560"/>
            <a:ext cx="11094415" cy="777240"/>
          </a:xfrm>
          <a:prstGeom prst="roundRect">
            <a:avLst>
              <a:gd name="adj" fmla="val 9412"/>
            </a:avLst>
          </a:prstGeom>
          <a:solidFill>
            <a:srgbClr val="1E2B3A"/>
          </a:solidFill>
          <a:ln w="12700">
            <a:solidFill>
              <a:srgbClr val="1E2B3A"/>
            </a:solidFill>
            <a:prstDash val="solid"/>
          </a:ln>
        </p:spPr>
        <p:txBody>
          <a:bodyPr/>
          <a:lstStyle/>
          <a:p>
            <a:endParaRPr lang="en-CA"/>
          </a:p>
        </p:txBody>
      </p:sp>
      <p:sp>
        <p:nvSpPr>
          <p:cNvPr id="43" name="Text 35"/>
          <p:cNvSpPr txBox="1"/>
          <p:nvPr/>
        </p:nvSpPr>
        <p:spPr>
          <a:xfrm>
            <a:off x="777240" y="5623560"/>
            <a:ext cx="10682935" cy="777240"/>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Only 1 in 5 came back even before Christmas. Keep contact cheap and move budget to the groups above.</a:t>
            </a:r>
            <a:endParaRPr lang="en-US" sz="1500" dirty="0"/>
          </a:p>
        </p:txBody>
      </p:sp>
      <p:sp>
        <p:nvSpPr>
          <p:cNvPr id="44"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THE WARNING SIGN</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The longer since the last order, the less likely a customer comes back</a:t>
            </a:r>
            <a:endParaRPr lang="en-US" sz="2600" dirty="0"/>
          </a:p>
        </p:txBody>
      </p:sp>
      <p:graphicFrame>
        <p:nvGraphicFramePr>
          <p:cNvPr id="4" name="Chart 0"/>
          <p:cNvGraphicFramePr/>
          <p:nvPr/>
        </p:nvGraphicFramePr>
        <p:xfrm>
          <a:off x="548640" y="1600200"/>
          <a:ext cx="78638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686800" y="1783080"/>
            <a:ext cx="2953512" cy="1645920"/>
          </a:xfrm>
          <a:prstGeom prst="roundRect">
            <a:avLst>
              <a:gd name="adj" fmla="val 5556"/>
            </a:avLst>
          </a:prstGeom>
          <a:solidFill>
            <a:srgbClr val="F3F5F8"/>
          </a:solidFill>
          <a:ln w="12700">
            <a:solidFill>
              <a:srgbClr val="F3F5F8"/>
            </a:solidFill>
            <a:prstDash val="solid"/>
          </a:ln>
        </p:spPr>
        <p:txBody>
          <a:bodyPr/>
          <a:lstStyle/>
          <a:p>
            <a:endParaRPr lang="en-CA"/>
          </a:p>
        </p:txBody>
      </p:sp>
      <p:sp>
        <p:nvSpPr>
          <p:cNvPr id="6" name="Text 3"/>
          <p:cNvSpPr txBox="1"/>
          <p:nvPr/>
        </p:nvSpPr>
        <p:spPr>
          <a:xfrm>
            <a:off x="8887968" y="1920240"/>
            <a:ext cx="2651760" cy="50292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60 days</a:t>
            </a:r>
            <a:endParaRPr lang="en-US" sz="2600" dirty="0"/>
          </a:p>
        </p:txBody>
      </p:sp>
      <p:sp>
        <p:nvSpPr>
          <p:cNvPr id="7" name="Text 4"/>
          <p:cNvSpPr txBox="1"/>
          <p:nvPr/>
        </p:nvSpPr>
        <p:spPr>
          <a:xfrm>
            <a:off x="8887968" y="2441448"/>
            <a:ext cx="2606040" cy="91440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In summer, customers past this point are more likely to leave than return (62% did not order).</a:t>
            </a:r>
            <a:endParaRPr lang="en-US" sz="1250" dirty="0"/>
          </a:p>
        </p:txBody>
      </p:sp>
      <p:sp>
        <p:nvSpPr>
          <p:cNvPr id="8" name="Shape 5"/>
          <p:cNvSpPr/>
          <p:nvPr/>
        </p:nvSpPr>
        <p:spPr>
          <a:xfrm>
            <a:off x="8686800" y="3611880"/>
            <a:ext cx="2953512" cy="1645920"/>
          </a:xfrm>
          <a:prstGeom prst="roundRect">
            <a:avLst>
              <a:gd name="adj" fmla="val 5556"/>
            </a:avLst>
          </a:prstGeom>
          <a:solidFill>
            <a:srgbClr val="F3F5F8"/>
          </a:solidFill>
          <a:ln w="12700">
            <a:solidFill>
              <a:srgbClr val="F3F5F8"/>
            </a:solidFill>
            <a:prstDash val="solid"/>
          </a:ln>
        </p:spPr>
        <p:txBody>
          <a:bodyPr/>
          <a:lstStyle/>
          <a:p>
            <a:endParaRPr lang="en-CA"/>
          </a:p>
        </p:txBody>
      </p:sp>
      <p:sp>
        <p:nvSpPr>
          <p:cNvPr id="9" name="Text 6"/>
          <p:cNvSpPr txBox="1"/>
          <p:nvPr/>
        </p:nvSpPr>
        <p:spPr>
          <a:xfrm>
            <a:off x="8887968" y="3749040"/>
            <a:ext cx="2651760" cy="502920"/>
          </a:xfrm>
          <a:prstGeom prst="rect">
            <a:avLst/>
          </a:prstGeom>
          <a:noFill/>
          <a:ln/>
        </p:spPr>
        <p:txBody>
          <a:bodyPr wrap="square" lIns="0" tIns="0" rIns="0" bIns="0" rtlCol="0" anchor="t"/>
          <a:lstStyle/>
          <a:p>
            <a:pPr marL="0" indent="0">
              <a:buNone/>
            </a:pPr>
            <a:r>
              <a:rPr lang="en-US" sz="2600" b="1" dirty="0">
                <a:solidFill>
                  <a:srgbClr val="9A7BB0"/>
                </a:solidFill>
                <a:latin typeface="Cambria" pitchFamily="34" charset="0"/>
                <a:ea typeface="Cambria" pitchFamily="34" charset="-122"/>
                <a:cs typeface="Cambria" pitchFamily="34" charset="-120"/>
              </a:rPr>
              <a:t>120 days</a:t>
            </a:r>
            <a:endParaRPr lang="en-US" sz="2600" dirty="0"/>
          </a:p>
        </p:txBody>
      </p:sp>
      <p:sp>
        <p:nvSpPr>
          <p:cNvPr id="10" name="Text 7"/>
          <p:cNvSpPr txBox="1"/>
          <p:nvPr/>
        </p:nvSpPr>
        <p:spPr>
          <a:xfrm>
            <a:off x="8887968" y="4270248"/>
            <a:ext cx="2606040" cy="914400"/>
          </a:xfrm>
          <a:prstGeom prst="rect">
            <a:avLst/>
          </a:prstGeom>
          <a:noFill/>
          <a:ln/>
        </p:spPr>
        <p:txBody>
          <a:bodyPr wrap="square" lIns="0" tIns="0" rIns="0" bIns="0" rtlCol="0" anchor="t"/>
          <a:lstStyle/>
          <a:p>
            <a:pPr marL="0" indent="0">
              <a:buNone/>
            </a:pPr>
            <a:r>
              <a:rPr lang="en-US" sz="1250" dirty="0">
                <a:solidFill>
                  <a:srgbClr val="1E2B3A"/>
                </a:solidFill>
                <a:latin typeface="Calibri" pitchFamily="34" charset="0"/>
                <a:ea typeface="Calibri" pitchFamily="34" charset="-122"/>
                <a:cs typeface="Calibri" pitchFamily="34" charset="-120"/>
              </a:rPr>
              <a:t>In autumn, the same point comes later (62% did not order after 120 days).</a:t>
            </a:r>
            <a:endParaRPr lang="en-US" sz="1250" dirty="0"/>
          </a:p>
        </p:txBody>
      </p:sp>
      <p:sp>
        <p:nvSpPr>
          <p:cNvPr id="11" name="Shape 8"/>
          <p:cNvSpPr/>
          <p:nvPr/>
        </p:nvSpPr>
        <p:spPr>
          <a:xfrm>
            <a:off x="548640" y="5669280"/>
            <a:ext cx="11094415"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3" name="Text 9"/>
          <p:cNvSpPr txBox="1"/>
          <p:nvPr/>
        </p:nvSpPr>
        <p:spPr>
          <a:xfrm>
            <a:off x="736848" y="5669280"/>
            <a:ext cx="10723328"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Set two CRM reminders, contact customers at 60 days without an order from January to August, and by 120 days at the latest from September to December.</a:t>
            </a:r>
            <a:endParaRPr lang="en-US" sz="15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THE TURNING POINT</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The third order is when customers start to stay</a:t>
            </a:r>
            <a:endParaRPr lang="en-US" sz="2600" dirty="0"/>
          </a:p>
        </p:txBody>
      </p:sp>
      <p:graphicFrame>
        <p:nvGraphicFramePr>
          <p:cNvPr id="4" name="Chart 0"/>
          <p:cNvGraphicFramePr/>
          <p:nvPr/>
        </p:nvGraphicFramePr>
        <p:xfrm>
          <a:off x="548640" y="1600200"/>
          <a:ext cx="67665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680960" y="1691640"/>
            <a:ext cx="3931920" cy="457200"/>
          </a:xfrm>
          <a:prstGeom prst="rect">
            <a:avLst/>
          </a:prstGeom>
          <a:noFill/>
          <a:ln/>
        </p:spPr>
        <p:txBody>
          <a:bodyPr wrap="square" lIns="0" tIns="0" rIns="0" bIns="0" rtlCol="0" anchor="t"/>
          <a:lstStyle/>
          <a:p>
            <a:r>
              <a:rPr lang="en-US" sz="2000" b="1" dirty="0">
                <a:solidFill>
                  <a:srgbClr val="1E2B3A"/>
                </a:solidFill>
                <a:latin typeface="Cambria" pitchFamily="34" charset="0"/>
                <a:ea typeface="Cambria" pitchFamily="34" charset="-122"/>
                <a:cs typeface="Cambria" pitchFamily="34" charset="-120"/>
              </a:rPr>
              <a:t>− by second order, drops</a:t>
            </a:r>
            <a:r>
              <a:rPr lang="en-US" sz="2000" dirty="0">
                <a:solidFill>
                  <a:srgbClr val="5B6675"/>
                </a:solidFill>
                <a:latin typeface="Calibri" pitchFamily="34" charset="0"/>
                <a:ea typeface="Calibri" pitchFamily="34" charset="-122"/>
                <a:cs typeface="Calibri" pitchFamily="34" charset="-120"/>
              </a:rPr>
              <a:t> </a:t>
            </a:r>
            <a:r>
              <a:rPr lang="en-US" sz="2000" b="1" dirty="0">
                <a:solidFill>
                  <a:srgbClr val="1E2B3A"/>
                </a:solidFill>
                <a:latin typeface="Cambria" pitchFamily="34" charset="0"/>
                <a:ea typeface="Cambria" pitchFamily="34" charset="-122"/>
                <a:cs typeface="Cambria" pitchFamily="34" charset="-120"/>
              </a:rPr>
              <a:t>12 %</a:t>
            </a:r>
            <a:r>
              <a:rPr lang="en-US" sz="2400" b="1" dirty="0">
                <a:solidFill>
                  <a:srgbClr val="1E2B3A"/>
                </a:solidFill>
                <a:latin typeface="Cambria" pitchFamily="34" charset="0"/>
                <a:ea typeface="Cambria" pitchFamily="34" charset="-122"/>
                <a:cs typeface="Cambria" pitchFamily="34" charset="-120"/>
              </a:rPr>
              <a:t> </a:t>
            </a:r>
            <a:endParaRPr lang="en-US" sz="2400" dirty="0"/>
          </a:p>
        </p:txBody>
      </p:sp>
      <p:sp>
        <p:nvSpPr>
          <p:cNvPr id="6" name="Text 3"/>
          <p:cNvSpPr txBox="1"/>
          <p:nvPr/>
        </p:nvSpPr>
        <p:spPr>
          <a:xfrm>
            <a:off x="7680960" y="2148840"/>
            <a:ext cx="3931920" cy="685800"/>
          </a:xfrm>
          <a:prstGeom prst="rect">
            <a:avLst/>
          </a:prstGeom>
          <a:noFill/>
          <a:ln/>
        </p:spPr>
        <p:txBody>
          <a:bodyPr wrap="square" lIns="0" tIns="0" rIns="0" bIns="0" rtlCol="0" anchor="t"/>
          <a:lstStyle/>
          <a:p>
            <a:pPr marL="0" indent="0">
              <a:buNone/>
            </a:pPr>
            <a:r>
              <a:rPr lang="en-US" sz="1350" dirty="0">
                <a:solidFill>
                  <a:srgbClr val="5B6675"/>
                </a:solidFill>
                <a:latin typeface="Calibri" pitchFamily="34" charset="0"/>
                <a:ea typeface="Calibri" pitchFamily="34" charset="-122"/>
                <a:cs typeface="Calibri" pitchFamily="34" charset="-120"/>
              </a:rPr>
              <a:t>The chance of leaving drops a little (80% to 67%).</a:t>
            </a:r>
            <a:endParaRPr lang="en-US" sz="1350" dirty="0"/>
          </a:p>
        </p:txBody>
      </p:sp>
      <p:sp>
        <p:nvSpPr>
          <p:cNvPr id="7" name="Text 4"/>
          <p:cNvSpPr txBox="1"/>
          <p:nvPr/>
        </p:nvSpPr>
        <p:spPr>
          <a:xfrm>
            <a:off x="7680960" y="2971800"/>
            <a:ext cx="3931920" cy="457200"/>
          </a:xfrm>
          <a:prstGeom prst="rect">
            <a:avLst/>
          </a:prstGeom>
          <a:noFill/>
          <a:ln/>
        </p:spPr>
        <p:txBody>
          <a:bodyPr wrap="square" lIns="0" tIns="0" rIns="0" bIns="0" rtlCol="0" anchor="t"/>
          <a:lstStyle/>
          <a:p>
            <a:pPr marL="0" indent="0">
              <a:buNone/>
            </a:pPr>
            <a:r>
              <a:rPr lang="en-US" sz="2000" b="1" dirty="0">
                <a:solidFill>
                  <a:srgbClr val="1E2B3A"/>
                </a:solidFill>
                <a:latin typeface="Cambria" pitchFamily="34" charset="0"/>
                <a:ea typeface="Cambria" pitchFamily="34" charset="-122"/>
                <a:cs typeface="Cambria" pitchFamily="34" charset="-120"/>
              </a:rPr>
              <a:t>− by third order, drops 27%</a:t>
            </a:r>
            <a:endParaRPr lang="en-US" sz="2000" dirty="0"/>
          </a:p>
        </p:txBody>
      </p:sp>
      <p:sp>
        <p:nvSpPr>
          <p:cNvPr id="8" name="Text 5"/>
          <p:cNvSpPr txBox="1"/>
          <p:nvPr/>
        </p:nvSpPr>
        <p:spPr>
          <a:xfrm>
            <a:off x="7680960" y="3429000"/>
            <a:ext cx="3931920" cy="685800"/>
          </a:xfrm>
          <a:prstGeom prst="rect">
            <a:avLst/>
          </a:prstGeom>
          <a:noFill/>
          <a:ln/>
        </p:spPr>
        <p:txBody>
          <a:bodyPr wrap="square" lIns="0" tIns="0" rIns="0" bIns="0" rtlCol="0" anchor="t"/>
          <a:lstStyle/>
          <a:p>
            <a:pPr marL="0" indent="0">
              <a:buNone/>
            </a:pPr>
            <a:r>
              <a:rPr lang="en-US" sz="1350" dirty="0">
                <a:solidFill>
                  <a:srgbClr val="5B6675"/>
                </a:solidFill>
                <a:latin typeface="Calibri" pitchFamily="34" charset="0"/>
                <a:ea typeface="Calibri" pitchFamily="34" charset="-122"/>
                <a:cs typeface="Calibri" pitchFamily="34" charset="-120"/>
              </a:rPr>
              <a:t>The chance of leaving drops much more (67% to 40%).</a:t>
            </a:r>
            <a:endParaRPr lang="en-US" sz="1350" dirty="0"/>
          </a:p>
        </p:txBody>
      </p:sp>
      <p:sp>
        <p:nvSpPr>
          <p:cNvPr id="9" name="Text 6"/>
          <p:cNvSpPr txBox="1"/>
          <p:nvPr/>
        </p:nvSpPr>
        <p:spPr>
          <a:xfrm>
            <a:off x="7680960" y="4251960"/>
            <a:ext cx="3931920" cy="457200"/>
          </a:xfrm>
          <a:prstGeom prst="rect">
            <a:avLst/>
          </a:prstGeom>
          <a:noFill/>
          <a:ln/>
        </p:spPr>
        <p:txBody>
          <a:bodyPr wrap="square" lIns="0" tIns="0" rIns="0" bIns="0" rtlCol="0" anchor="t"/>
          <a:lstStyle/>
          <a:p>
            <a:pPr marL="0" indent="0">
              <a:buNone/>
            </a:pPr>
            <a:r>
              <a:rPr lang="en-US" sz="2000" b="1" dirty="0">
                <a:solidFill>
                  <a:srgbClr val="1F7A5C"/>
                </a:solidFill>
                <a:latin typeface="Cambria" pitchFamily="34" charset="0"/>
                <a:ea typeface="Cambria" pitchFamily="34" charset="-122"/>
                <a:cs typeface="Cambria" pitchFamily="34" charset="-120"/>
              </a:rPr>
              <a:t>£1,778</a:t>
            </a:r>
            <a:endParaRPr lang="en-US" sz="2000" dirty="0"/>
          </a:p>
        </p:txBody>
      </p:sp>
      <p:sp>
        <p:nvSpPr>
          <p:cNvPr id="10" name="Text 7"/>
          <p:cNvSpPr txBox="1"/>
          <p:nvPr/>
        </p:nvSpPr>
        <p:spPr>
          <a:xfrm>
            <a:off x="7680960" y="4709160"/>
            <a:ext cx="3931920" cy="685800"/>
          </a:xfrm>
          <a:prstGeom prst="rect">
            <a:avLst/>
          </a:prstGeom>
          <a:noFill/>
          <a:ln/>
        </p:spPr>
        <p:txBody>
          <a:bodyPr wrap="square" lIns="0" tIns="0" rIns="0" bIns="0" rtlCol="0" anchor="t"/>
          <a:lstStyle/>
          <a:p>
            <a:pPr marL="0" indent="0">
              <a:buNone/>
            </a:pPr>
            <a:r>
              <a:rPr lang="en-US" sz="1350" dirty="0">
                <a:solidFill>
                  <a:srgbClr val="5B6675"/>
                </a:solidFill>
                <a:latin typeface="Calibri" pitchFamily="34" charset="0"/>
                <a:ea typeface="Calibri" pitchFamily="34" charset="-122"/>
                <a:cs typeface="Calibri" pitchFamily="34" charset="-120"/>
              </a:rPr>
              <a:t>Typical spend of a customer with 3+ orders, against £228 for a one-time buyer.</a:t>
            </a:r>
            <a:endParaRPr lang="en-US" sz="1350" dirty="0"/>
          </a:p>
        </p:txBody>
      </p:sp>
      <p:sp>
        <p:nvSpPr>
          <p:cNvPr id="11" name="Shape 8"/>
          <p:cNvSpPr/>
          <p:nvPr/>
        </p:nvSpPr>
        <p:spPr>
          <a:xfrm>
            <a:off x="548640" y="5669280"/>
            <a:ext cx="11094415"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3" name="Text 9"/>
          <p:cNvSpPr txBox="1"/>
          <p:nvPr/>
        </p:nvSpPr>
        <p:spPr>
          <a:xfrm>
            <a:off x="754602" y="5669280"/>
            <a:ext cx="10705573"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Build the New Starter journey around one goal: the third order. A welcome email alone is not enough; the second order is only halfway.</a:t>
            </a:r>
            <a:endParaRPr lang="en-US" sz="15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TIMING MATTERS</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Summer is when customers drift away; the run-up to Christmas brings many back</a:t>
            </a:r>
            <a:endParaRPr lang="en-US" sz="2600" dirty="0"/>
          </a:p>
        </p:txBody>
      </p:sp>
      <p:graphicFrame>
        <p:nvGraphicFramePr>
          <p:cNvPr id="4" name="Chart 0"/>
          <p:cNvGraphicFramePr/>
          <p:nvPr/>
        </p:nvGraphicFramePr>
        <p:xfrm>
          <a:off x="548640" y="1600200"/>
          <a:ext cx="78638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686800" y="1783080"/>
            <a:ext cx="2953512" cy="2834640"/>
          </a:xfrm>
          <a:prstGeom prst="roundRect">
            <a:avLst>
              <a:gd name="adj" fmla="val 3226"/>
            </a:avLst>
          </a:prstGeom>
          <a:solidFill>
            <a:srgbClr val="F3F5F8"/>
          </a:solidFill>
          <a:ln w="12700">
            <a:solidFill>
              <a:srgbClr val="F3F5F8"/>
            </a:solidFill>
            <a:prstDash val="solid"/>
          </a:ln>
        </p:spPr>
        <p:txBody>
          <a:bodyPr/>
          <a:lstStyle/>
          <a:p>
            <a:endParaRPr lang="en-CA"/>
          </a:p>
        </p:txBody>
      </p:sp>
      <p:sp>
        <p:nvSpPr>
          <p:cNvPr id="6" name="Text 3"/>
          <p:cNvSpPr txBox="1"/>
          <p:nvPr/>
        </p:nvSpPr>
        <p:spPr>
          <a:xfrm>
            <a:off x="8887968" y="1965960"/>
            <a:ext cx="2606040" cy="2560320"/>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Every group</a:t>
            </a:r>
            <a:endParaRPr lang="en-US" sz="1350" dirty="0"/>
          </a:p>
          <a:p>
            <a:pPr marL="0" indent="0">
              <a:buNone/>
            </a:pPr>
            <a:r>
              <a:rPr lang="en-US" sz="1350" dirty="0">
                <a:solidFill>
                  <a:srgbClr val="1E2B3A"/>
                </a:solidFill>
                <a:latin typeface="Calibri" pitchFamily="34" charset="0"/>
                <a:ea typeface="Calibri" pitchFamily="34" charset="-122"/>
                <a:cs typeface="Calibri" pitchFamily="34" charset="-120"/>
              </a:rPr>
              <a:t>is more likely to stop ordering in summer.</a:t>
            </a:r>
            <a:endParaRPr lang="en-US" sz="1350" dirty="0"/>
          </a:p>
          <a:p>
            <a:pPr marL="0" indent="0">
              <a:buNone/>
            </a:pPr>
            <a:r>
              <a:rPr lang="en-US" sz="800" dirty="0">
                <a:solidFill>
                  <a:srgbClr val="1E2B3A"/>
                </a:solidFill>
                <a:latin typeface="Calibri" pitchFamily="34" charset="0"/>
                <a:ea typeface="Calibri" pitchFamily="34" charset="-122"/>
                <a:cs typeface="Calibri" pitchFamily="34" charset="-120"/>
              </a:rPr>
              <a:t> </a:t>
            </a:r>
            <a:endParaRPr lang="en-US" sz="1350" dirty="0"/>
          </a:p>
          <a:p>
            <a:pPr marL="0" indent="0">
              <a:buNone/>
            </a:pPr>
            <a:r>
              <a:rPr lang="en-US" sz="1350" b="1" dirty="0">
                <a:solidFill>
                  <a:srgbClr val="1E2B3A"/>
                </a:solidFill>
                <a:latin typeface="Calibri" pitchFamily="34" charset="0"/>
                <a:ea typeface="Calibri" pitchFamily="34" charset="-122"/>
                <a:cs typeface="Calibri" pitchFamily="34" charset="-120"/>
              </a:rPr>
              <a:t>Biggest gap: </a:t>
            </a:r>
            <a:r>
              <a:rPr lang="en-US" sz="1350" dirty="0">
                <a:solidFill>
                  <a:srgbClr val="1E2B3A"/>
                </a:solidFill>
                <a:latin typeface="Calibri" pitchFamily="34" charset="0"/>
                <a:ea typeface="Calibri" pitchFamily="34" charset="-122"/>
                <a:cs typeface="Calibri" pitchFamily="34" charset="-120"/>
              </a:rPr>
              <a:t>New Starters and Fading Big Spenders, about 15 points each.</a:t>
            </a:r>
            <a:endParaRPr lang="en-US" sz="1350" dirty="0"/>
          </a:p>
          <a:p>
            <a:pPr marL="0" indent="0">
              <a:buNone/>
            </a:pPr>
            <a:r>
              <a:rPr lang="en-US" sz="800" dirty="0">
                <a:solidFill>
                  <a:srgbClr val="1E2B3A"/>
                </a:solidFill>
                <a:latin typeface="Calibri" pitchFamily="34" charset="0"/>
                <a:ea typeface="Calibri" pitchFamily="34" charset="-122"/>
                <a:cs typeface="Calibri" pitchFamily="34" charset="-120"/>
              </a:rPr>
              <a:t> </a:t>
            </a:r>
            <a:endParaRPr lang="en-US" sz="1350" dirty="0"/>
          </a:p>
          <a:p>
            <a:pPr marL="0" indent="0">
              <a:buNone/>
            </a:pPr>
            <a:r>
              <a:rPr lang="en-US" sz="1350" b="1" dirty="0">
                <a:solidFill>
                  <a:srgbClr val="1E2B3A"/>
                </a:solidFill>
                <a:latin typeface="Calibri" pitchFamily="34" charset="0"/>
                <a:ea typeface="Calibri" pitchFamily="34" charset="-122"/>
                <a:cs typeface="Calibri" pitchFamily="34" charset="-120"/>
              </a:rPr>
              <a:t>972 customers </a:t>
            </a:r>
            <a:r>
              <a:rPr lang="en-US" sz="1350" dirty="0">
                <a:solidFill>
                  <a:srgbClr val="1E2B3A"/>
                </a:solidFill>
                <a:latin typeface="Calibri" pitchFamily="34" charset="0"/>
                <a:ea typeface="Calibri" pitchFamily="34" charset="-122"/>
                <a:cs typeface="Calibri" pitchFamily="34" charset="-120"/>
              </a:rPr>
              <a:t>went quiet in summer but came back before Christmas.</a:t>
            </a:r>
            <a:endParaRPr lang="en-US" sz="1350" dirty="0"/>
          </a:p>
        </p:txBody>
      </p:sp>
      <p:sp>
        <p:nvSpPr>
          <p:cNvPr id="7" name="Shape 4"/>
          <p:cNvSpPr/>
          <p:nvPr/>
        </p:nvSpPr>
        <p:spPr>
          <a:xfrm>
            <a:off x="548640" y="5669280"/>
            <a:ext cx="11094415"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9" name="Text 5"/>
          <p:cNvSpPr txBox="1"/>
          <p:nvPr/>
        </p:nvSpPr>
        <p:spPr>
          <a:xfrm>
            <a:off x="772358" y="5669280"/>
            <a:ext cx="10687818"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Run retention in June to August, when customers slip. Save the main win-back offers for September and October, when they are ready to buy.</a:t>
            </a:r>
            <a:endParaRPr lang="en-US" sz="15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GROUPS CHANGE</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Customers move between groups within three months</a:t>
            </a:r>
            <a:endParaRPr lang="en-US" sz="2600" dirty="0"/>
          </a:p>
        </p:txBody>
      </p:sp>
      <p:graphicFrame>
        <p:nvGraphicFramePr>
          <p:cNvPr id="4" name="Chart 0"/>
          <p:cNvGraphicFramePr/>
          <p:nvPr/>
        </p:nvGraphicFramePr>
        <p:xfrm>
          <a:off x="548640" y="1554480"/>
          <a:ext cx="813816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8961120" y="1691640"/>
            <a:ext cx="2651760" cy="457200"/>
          </a:xfrm>
          <a:prstGeom prst="rect">
            <a:avLst/>
          </a:prstGeom>
          <a:noFill/>
          <a:ln/>
        </p:spPr>
        <p:txBody>
          <a:bodyPr wrap="square" lIns="0" tIns="0" rIns="0" bIns="0" rtlCol="0" anchor="t"/>
          <a:lstStyle/>
          <a:p>
            <a:pPr marL="0" indent="0">
              <a:buNone/>
            </a:pPr>
            <a:r>
              <a:rPr lang="en-US" sz="2400" b="1" dirty="0">
                <a:solidFill>
                  <a:srgbClr val="2E6FB0"/>
                </a:solidFill>
                <a:latin typeface="Cambria" pitchFamily="34" charset="0"/>
                <a:ea typeface="Cambria" pitchFamily="34" charset="-122"/>
                <a:cs typeface="Cambria" pitchFamily="34" charset="-120"/>
              </a:rPr>
              <a:t>1 in 4</a:t>
            </a:r>
            <a:endParaRPr lang="en-US" sz="2400" dirty="0"/>
          </a:p>
        </p:txBody>
      </p:sp>
      <p:sp>
        <p:nvSpPr>
          <p:cNvPr id="6" name="Text 3"/>
          <p:cNvSpPr txBox="1"/>
          <p:nvPr/>
        </p:nvSpPr>
        <p:spPr>
          <a:xfrm>
            <a:off x="8961120" y="2148840"/>
            <a:ext cx="2679192" cy="68580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Steady Regulars moved up to Top Customers</a:t>
            </a:r>
            <a:endParaRPr lang="en-US" sz="1300" dirty="0"/>
          </a:p>
        </p:txBody>
      </p:sp>
      <p:sp>
        <p:nvSpPr>
          <p:cNvPr id="7" name="Text 4"/>
          <p:cNvSpPr txBox="1"/>
          <p:nvPr/>
        </p:nvSpPr>
        <p:spPr>
          <a:xfrm>
            <a:off x="8961120" y="2971800"/>
            <a:ext cx="2651760" cy="457200"/>
          </a:xfrm>
          <a:prstGeom prst="rect">
            <a:avLst/>
          </a:prstGeom>
          <a:noFill/>
          <a:ln/>
        </p:spPr>
        <p:txBody>
          <a:bodyPr wrap="square" lIns="0" tIns="0" rIns="0" bIns="0" rtlCol="0" anchor="t"/>
          <a:lstStyle/>
          <a:p>
            <a:pPr marL="0" indent="0">
              <a:buNone/>
            </a:pPr>
            <a:r>
              <a:rPr lang="en-US" sz="2400" b="1" dirty="0">
                <a:solidFill>
                  <a:srgbClr val="C0404A"/>
                </a:solidFill>
                <a:latin typeface="Cambria" pitchFamily="34" charset="0"/>
                <a:ea typeface="Cambria" pitchFamily="34" charset="-122"/>
                <a:cs typeface="Cambria" pitchFamily="34" charset="-120"/>
              </a:rPr>
              <a:t>1 in 5</a:t>
            </a:r>
            <a:endParaRPr lang="en-US" sz="2400" dirty="0"/>
          </a:p>
        </p:txBody>
      </p:sp>
      <p:sp>
        <p:nvSpPr>
          <p:cNvPr id="8" name="Text 5"/>
          <p:cNvSpPr txBox="1"/>
          <p:nvPr/>
        </p:nvSpPr>
        <p:spPr>
          <a:xfrm>
            <a:off x="8961120" y="3429000"/>
            <a:ext cx="2679192" cy="68580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Steady Regulars slipped to Fading Big Spenders or Gone Quiet</a:t>
            </a:r>
            <a:endParaRPr lang="en-US" sz="1300" dirty="0"/>
          </a:p>
        </p:txBody>
      </p:sp>
      <p:sp>
        <p:nvSpPr>
          <p:cNvPr id="9" name="Text 6"/>
          <p:cNvSpPr txBox="1"/>
          <p:nvPr/>
        </p:nvSpPr>
        <p:spPr>
          <a:xfrm>
            <a:off x="8961120" y="4251960"/>
            <a:ext cx="2651760" cy="457200"/>
          </a:xfrm>
          <a:prstGeom prst="rect">
            <a:avLst/>
          </a:prstGeom>
          <a:noFill/>
          <a:ln/>
        </p:spPr>
        <p:txBody>
          <a:bodyPr wrap="square" lIns="0" tIns="0" rIns="0" bIns="0" rtlCol="0" anchor="t"/>
          <a:lstStyle/>
          <a:p>
            <a:pPr marL="0" indent="0">
              <a:buNone/>
            </a:pPr>
            <a:r>
              <a:rPr lang="en-US" sz="2400" b="1" dirty="0">
                <a:solidFill>
                  <a:srgbClr val="C9820E"/>
                </a:solidFill>
                <a:latin typeface="Cambria" pitchFamily="34" charset="0"/>
                <a:ea typeface="Cambria" pitchFamily="34" charset="-122"/>
                <a:cs typeface="Cambria" pitchFamily="34" charset="-120"/>
              </a:rPr>
              <a:t>1 in 3</a:t>
            </a:r>
            <a:endParaRPr lang="en-US" sz="2400" dirty="0"/>
          </a:p>
        </p:txBody>
      </p:sp>
      <p:sp>
        <p:nvSpPr>
          <p:cNvPr id="10" name="Text 7"/>
          <p:cNvSpPr txBox="1"/>
          <p:nvPr/>
        </p:nvSpPr>
        <p:spPr>
          <a:xfrm>
            <a:off x="8961120" y="4709160"/>
            <a:ext cx="2679192" cy="685800"/>
          </a:xfrm>
          <a:prstGeom prst="rect">
            <a:avLst/>
          </a:prstGeom>
          <a:noFill/>
          <a:ln/>
        </p:spPr>
        <p:txBody>
          <a:bodyPr wrap="square" lIns="0" tIns="0" rIns="0" bIns="0" rtlCol="0" anchor="t"/>
          <a:lstStyle/>
          <a:p>
            <a:pPr marL="0" indent="0">
              <a:buNone/>
            </a:pPr>
            <a:r>
              <a:rPr lang="en-US" sz="1300" dirty="0">
                <a:solidFill>
                  <a:srgbClr val="5B6675"/>
                </a:solidFill>
                <a:latin typeface="Calibri" pitchFamily="34" charset="0"/>
                <a:ea typeface="Calibri" pitchFamily="34" charset="-122"/>
                <a:cs typeface="Calibri" pitchFamily="34" charset="-120"/>
              </a:rPr>
              <a:t>New Starters became Gone Quiet</a:t>
            </a:r>
            <a:endParaRPr lang="en-US" sz="1300" dirty="0"/>
          </a:p>
        </p:txBody>
      </p:sp>
      <p:sp>
        <p:nvSpPr>
          <p:cNvPr id="11" name="Shape 8"/>
          <p:cNvSpPr/>
          <p:nvPr/>
        </p:nvSpPr>
        <p:spPr>
          <a:xfrm>
            <a:off x="548640" y="5669280"/>
            <a:ext cx="11094415"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3" name="Text 9"/>
          <p:cNvSpPr txBox="1"/>
          <p:nvPr/>
        </p:nvSpPr>
        <p:spPr>
          <a:xfrm>
            <a:off x="727970" y="5669280"/>
            <a:ext cx="10732206"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A customer list from three months ago will send the wrong message to many customers. The groups must be refreshed regularly.</a:t>
            </a:r>
            <a:endParaRPr lang="en-US" sz="15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WHAT TO DO</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One clear goal, offer, channel and timing for each group</a:t>
            </a:r>
            <a:endParaRPr lang="en-US" sz="2600" dirty="0"/>
          </a:p>
        </p:txBody>
      </p:sp>
      <p:sp>
        <p:nvSpPr>
          <p:cNvPr id="4" name="Shape 2"/>
          <p:cNvSpPr/>
          <p:nvPr/>
        </p:nvSpPr>
        <p:spPr>
          <a:xfrm>
            <a:off x="548640" y="1600200"/>
            <a:ext cx="2057949" cy="4206240"/>
          </a:xfrm>
          <a:prstGeom prst="roundRect">
            <a:avLst>
              <a:gd name="adj" fmla="val 3555"/>
            </a:avLst>
          </a:prstGeom>
          <a:solidFill>
            <a:srgbClr val="E6F2ED"/>
          </a:solidFill>
          <a:ln w="12700">
            <a:solidFill>
              <a:srgbClr val="E6F2ED"/>
            </a:solidFill>
            <a:prstDash val="solid"/>
          </a:ln>
        </p:spPr>
        <p:txBody>
          <a:bodyPr/>
          <a:lstStyle/>
          <a:p>
            <a:endParaRPr lang="en-CA"/>
          </a:p>
        </p:txBody>
      </p:sp>
      <p:sp>
        <p:nvSpPr>
          <p:cNvPr id="5" name="Shape 3"/>
          <p:cNvSpPr/>
          <p:nvPr/>
        </p:nvSpPr>
        <p:spPr>
          <a:xfrm>
            <a:off x="548640" y="1600200"/>
            <a:ext cx="2057949" cy="594360"/>
          </a:xfrm>
          <a:prstGeom prst="roundRect">
            <a:avLst>
              <a:gd name="adj" fmla="val 12308"/>
            </a:avLst>
          </a:prstGeom>
          <a:solidFill>
            <a:srgbClr val="1F7A5C"/>
          </a:solidFill>
          <a:ln w="12700">
            <a:solidFill>
              <a:srgbClr val="1F7A5C"/>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685800" y="1755648"/>
            <a:ext cx="274320" cy="274320"/>
          </a:xfrm>
          <a:prstGeom prst="rect">
            <a:avLst/>
          </a:prstGeom>
        </p:spPr>
      </p:pic>
      <p:sp>
        <p:nvSpPr>
          <p:cNvPr id="7" name="Text 4"/>
          <p:cNvSpPr txBox="1"/>
          <p:nvPr/>
        </p:nvSpPr>
        <p:spPr>
          <a:xfrm>
            <a:off x="1051560" y="1600200"/>
            <a:ext cx="1463589"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Top Customers</a:t>
            </a:r>
            <a:endParaRPr lang="en-US" sz="1300" dirty="0"/>
          </a:p>
        </p:txBody>
      </p:sp>
      <p:sp>
        <p:nvSpPr>
          <p:cNvPr id="8" name="Text 5"/>
          <p:cNvSpPr txBox="1"/>
          <p:nvPr/>
        </p:nvSpPr>
        <p:spPr>
          <a:xfrm>
            <a:off x="713232" y="2331720"/>
            <a:ext cx="1783629" cy="228600"/>
          </a:xfrm>
          <a:prstGeom prst="rect">
            <a:avLst/>
          </a:prstGeom>
          <a:noFill/>
          <a:ln/>
        </p:spPr>
        <p:txBody>
          <a:bodyPr wrap="square" lIns="0" tIns="0" rIns="0" bIns="0" rtlCol="0" anchor="t"/>
          <a:lstStyle/>
          <a:p>
            <a:pPr marL="0" indent="0">
              <a:buNone/>
            </a:pPr>
            <a:r>
              <a:rPr lang="en-US" sz="950" b="1" kern="0" spc="100" dirty="0">
                <a:solidFill>
                  <a:srgbClr val="1F7A5C"/>
                </a:solidFill>
                <a:latin typeface="Calibri" pitchFamily="34" charset="0"/>
                <a:ea typeface="Calibri" pitchFamily="34" charset="-122"/>
                <a:cs typeface="Calibri" pitchFamily="34" charset="-120"/>
              </a:rPr>
              <a:t>GOAL</a:t>
            </a:r>
            <a:endParaRPr lang="en-US" sz="950" dirty="0"/>
          </a:p>
        </p:txBody>
      </p:sp>
      <p:sp>
        <p:nvSpPr>
          <p:cNvPr id="9" name="Text 6"/>
          <p:cNvSpPr txBox="1"/>
          <p:nvPr/>
        </p:nvSpPr>
        <p:spPr>
          <a:xfrm>
            <a:off x="713232" y="2569464"/>
            <a:ext cx="1783629" cy="566928"/>
          </a:xfrm>
          <a:prstGeom prst="rect">
            <a:avLst/>
          </a:prstGeom>
          <a:noFill/>
          <a:ln/>
        </p:spPr>
        <p:txBody>
          <a:bodyPr wrap="square" lIns="0" tIns="0" rIns="0" bIns="0" rtlCol="0" anchor="t"/>
          <a:lstStyle/>
          <a:p>
            <a:pPr marL="0" indent="0">
              <a:buNone/>
            </a:pPr>
            <a:r>
              <a:rPr lang="en-US" sz="1200" b="1" dirty="0">
                <a:solidFill>
                  <a:srgbClr val="1E2B3A"/>
                </a:solidFill>
                <a:latin typeface="Calibri" pitchFamily="34" charset="0"/>
                <a:ea typeface="Calibri" pitchFamily="34" charset="-122"/>
                <a:cs typeface="Calibri" pitchFamily="34" charset="-120"/>
              </a:rPr>
              <a:t>Keep them</a:t>
            </a:r>
            <a:endParaRPr lang="en-US" sz="1200" dirty="0"/>
          </a:p>
        </p:txBody>
      </p:sp>
      <p:sp>
        <p:nvSpPr>
          <p:cNvPr id="10" name="Text 7"/>
          <p:cNvSpPr txBox="1"/>
          <p:nvPr/>
        </p:nvSpPr>
        <p:spPr>
          <a:xfrm>
            <a:off x="713232" y="3200400"/>
            <a:ext cx="1783629" cy="228600"/>
          </a:xfrm>
          <a:prstGeom prst="rect">
            <a:avLst/>
          </a:prstGeom>
          <a:noFill/>
          <a:ln/>
        </p:spPr>
        <p:txBody>
          <a:bodyPr wrap="square" lIns="0" tIns="0" rIns="0" bIns="0" rtlCol="0" anchor="t"/>
          <a:lstStyle/>
          <a:p>
            <a:pPr marL="0" indent="0">
              <a:buNone/>
            </a:pPr>
            <a:r>
              <a:rPr lang="en-US" sz="950" b="1" kern="0" spc="100" dirty="0">
                <a:solidFill>
                  <a:srgbClr val="1F7A5C"/>
                </a:solidFill>
                <a:latin typeface="Calibri" pitchFamily="34" charset="0"/>
                <a:ea typeface="Calibri" pitchFamily="34" charset="-122"/>
                <a:cs typeface="Calibri" pitchFamily="34" charset="-120"/>
              </a:rPr>
              <a:t>OFFER</a:t>
            </a:r>
            <a:endParaRPr lang="en-US" sz="950" dirty="0"/>
          </a:p>
        </p:txBody>
      </p:sp>
      <p:sp>
        <p:nvSpPr>
          <p:cNvPr id="11" name="Text 8"/>
          <p:cNvSpPr txBox="1"/>
          <p:nvPr/>
        </p:nvSpPr>
        <p:spPr>
          <a:xfrm>
            <a:off x="713232" y="343814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Early access, thank-you notes, account contact</a:t>
            </a:r>
            <a:endParaRPr lang="en-US" sz="1200" dirty="0"/>
          </a:p>
        </p:txBody>
      </p:sp>
      <p:sp>
        <p:nvSpPr>
          <p:cNvPr id="12" name="Text 9"/>
          <p:cNvSpPr txBox="1"/>
          <p:nvPr/>
        </p:nvSpPr>
        <p:spPr>
          <a:xfrm>
            <a:off x="713232" y="4069080"/>
            <a:ext cx="1783629" cy="228600"/>
          </a:xfrm>
          <a:prstGeom prst="rect">
            <a:avLst/>
          </a:prstGeom>
          <a:noFill/>
          <a:ln/>
        </p:spPr>
        <p:txBody>
          <a:bodyPr wrap="square" lIns="0" tIns="0" rIns="0" bIns="0" rtlCol="0" anchor="t"/>
          <a:lstStyle/>
          <a:p>
            <a:pPr marL="0" indent="0">
              <a:buNone/>
            </a:pPr>
            <a:r>
              <a:rPr lang="en-US" sz="950" b="1" kern="0" spc="100" dirty="0">
                <a:solidFill>
                  <a:srgbClr val="1F7A5C"/>
                </a:solidFill>
                <a:latin typeface="Calibri" pitchFamily="34" charset="0"/>
                <a:ea typeface="Calibri" pitchFamily="34" charset="-122"/>
                <a:cs typeface="Calibri" pitchFamily="34" charset="-120"/>
              </a:rPr>
              <a:t>CHANNEL</a:t>
            </a:r>
            <a:endParaRPr lang="en-US" sz="950" dirty="0"/>
          </a:p>
        </p:txBody>
      </p:sp>
      <p:sp>
        <p:nvSpPr>
          <p:cNvPr id="13" name="Text 10"/>
          <p:cNvSpPr txBox="1"/>
          <p:nvPr/>
        </p:nvSpPr>
        <p:spPr>
          <a:xfrm>
            <a:off x="713232" y="430682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Account manager and email</a:t>
            </a:r>
            <a:endParaRPr lang="en-US" sz="1200" dirty="0"/>
          </a:p>
        </p:txBody>
      </p:sp>
      <p:sp>
        <p:nvSpPr>
          <p:cNvPr id="14" name="Text 11"/>
          <p:cNvSpPr txBox="1"/>
          <p:nvPr/>
        </p:nvSpPr>
        <p:spPr>
          <a:xfrm>
            <a:off x="713232" y="4937760"/>
            <a:ext cx="1783629" cy="228600"/>
          </a:xfrm>
          <a:prstGeom prst="rect">
            <a:avLst/>
          </a:prstGeom>
          <a:noFill/>
          <a:ln/>
        </p:spPr>
        <p:txBody>
          <a:bodyPr wrap="square" lIns="0" tIns="0" rIns="0" bIns="0" rtlCol="0" anchor="t"/>
          <a:lstStyle/>
          <a:p>
            <a:pPr marL="0" indent="0">
              <a:buNone/>
            </a:pPr>
            <a:r>
              <a:rPr lang="en-US" sz="950" b="1" kern="0" spc="100" dirty="0">
                <a:solidFill>
                  <a:srgbClr val="1F7A5C"/>
                </a:solidFill>
                <a:latin typeface="Calibri" pitchFamily="34" charset="0"/>
                <a:ea typeface="Calibri" pitchFamily="34" charset="-122"/>
                <a:cs typeface="Calibri" pitchFamily="34" charset="-120"/>
              </a:rPr>
              <a:t>WHEN</a:t>
            </a:r>
            <a:endParaRPr lang="en-US" sz="950" dirty="0"/>
          </a:p>
        </p:txBody>
      </p:sp>
      <p:sp>
        <p:nvSpPr>
          <p:cNvPr id="15" name="Text 12"/>
          <p:cNvSpPr txBox="1"/>
          <p:nvPr/>
        </p:nvSpPr>
        <p:spPr>
          <a:xfrm>
            <a:off x="713232" y="517550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Ongoing; check anyone past 30 days</a:t>
            </a:r>
            <a:endParaRPr lang="en-US" sz="1200" dirty="0"/>
          </a:p>
        </p:txBody>
      </p:sp>
      <p:sp>
        <p:nvSpPr>
          <p:cNvPr id="16" name="Shape 13"/>
          <p:cNvSpPr/>
          <p:nvPr/>
        </p:nvSpPr>
        <p:spPr>
          <a:xfrm>
            <a:off x="2807757" y="1600200"/>
            <a:ext cx="2057949" cy="4206240"/>
          </a:xfrm>
          <a:prstGeom prst="roundRect">
            <a:avLst>
              <a:gd name="adj" fmla="val 3555"/>
            </a:avLst>
          </a:prstGeom>
          <a:solidFill>
            <a:srgbClr val="E7EFF8"/>
          </a:solidFill>
          <a:ln w="12700">
            <a:solidFill>
              <a:srgbClr val="E7EFF8"/>
            </a:solidFill>
            <a:prstDash val="solid"/>
          </a:ln>
        </p:spPr>
        <p:txBody>
          <a:bodyPr/>
          <a:lstStyle/>
          <a:p>
            <a:endParaRPr lang="en-CA"/>
          </a:p>
        </p:txBody>
      </p:sp>
      <p:sp>
        <p:nvSpPr>
          <p:cNvPr id="17" name="Shape 14"/>
          <p:cNvSpPr/>
          <p:nvPr/>
        </p:nvSpPr>
        <p:spPr>
          <a:xfrm>
            <a:off x="2807757" y="1600200"/>
            <a:ext cx="2057949" cy="594360"/>
          </a:xfrm>
          <a:prstGeom prst="roundRect">
            <a:avLst>
              <a:gd name="adj" fmla="val 12308"/>
            </a:avLst>
          </a:prstGeom>
          <a:solidFill>
            <a:srgbClr val="2E6FB0"/>
          </a:solidFill>
          <a:ln w="12700">
            <a:solidFill>
              <a:srgbClr val="2E6FB0"/>
            </a:solidFill>
            <a:prstDash val="solid"/>
          </a:ln>
        </p:spPr>
        <p:txBody>
          <a:bodyPr/>
          <a:lstStyle/>
          <a:p>
            <a:endParaRPr lang="en-CA"/>
          </a:p>
        </p:txBody>
      </p:sp>
      <p:pic>
        <p:nvPicPr>
          <p:cNvPr id="18" name="Image 1" descr="preencoded.png"/>
          <p:cNvPicPr>
            <a:picLocks noChangeAspect="1"/>
          </p:cNvPicPr>
          <p:nvPr/>
        </p:nvPicPr>
        <p:blipFill>
          <a:blip r:embed="rId4"/>
          <a:stretch>
            <a:fillRect/>
          </a:stretch>
        </p:blipFill>
        <p:spPr>
          <a:xfrm>
            <a:off x="2944917" y="1755648"/>
            <a:ext cx="274320" cy="274320"/>
          </a:xfrm>
          <a:prstGeom prst="rect">
            <a:avLst/>
          </a:prstGeom>
        </p:spPr>
      </p:pic>
      <p:sp>
        <p:nvSpPr>
          <p:cNvPr id="19" name="Text 15"/>
          <p:cNvSpPr txBox="1"/>
          <p:nvPr/>
        </p:nvSpPr>
        <p:spPr>
          <a:xfrm>
            <a:off x="3310677" y="1600200"/>
            <a:ext cx="1463589"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Steady Regulars</a:t>
            </a:r>
            <a:endParaRPr lang="en-US" sz="1300" dirty="0"/>
          </a:p>
        </p:txBody>
      </p:sp>
      <p:sp>
        <p:nvSpPr>
          <p:cNvPr id="20" name="Text 16"/>
          <p:cNvSpPr txBox="1"/>
          <p:nvPr/>
        </p:nvSpPr>
        <p:spPr>
          <a:xfrm>
            <a:off x="2972349" y="2331720"/>
            <a:ext cx="1783629" cy="228600"/>
          </a:xfrm>
          <a:prstGeom prst="rect">
            <a:avLst/>
          </a:prstGeom>
          <a:noFill/>
          <a:ln/>
        </p:spPr>
        <p:txBody>
          <a:bodyPr wrap="square" lIns="0" tIns="0" rIns="0" bIns="0" rtlCol="0" anchor="t"/>
          <a:lstStyle/>
          <a:p>
            <a:pPr marL="0" indent="0">
              <a:buNone/>
            </a:pPr>
            <a:r>
              <a:rPr lang="en-US" sz="950" b="1" kern="0" spc="100" dirty="0">
                <a:solidFill>
                  <a:srgbClr val="2E6FB0"/>
                </a:solidFill>
                <a:latin typeface="Calibri" pitchFamily="34" charset="0"/>
                <a:ea typeface="Calibri" pitchFamily="34" charset="-122"/>
                <a:cs typeface="Calibri" pitchFamily="34" charset="-120"/>
              </a:rPr>
              <a:t>GOAL</a:t>
            </a:r>
            <a:endParaRPr lang="en-US" sz="950" dirty="0"/>
          </a:p>
        </p:txBody>
      </p:sp>
      <p:sp>
        <p:nvSpPr>
          <p:cNvPr id="21" name="Text 17"/>
          <p:cNvSpPr txBox="1"/>
          <p:nvPr/>
        </p:nvSpPr>
        <p:spPr>
          <a:xfrm>
            <a:off x="2972349" y="2569464"/>
            <a:ext cx="1783629" cy="566928"/>
          </a:xfrm>
          <a:prstGeom prst="rect">
            <a:avLst/>
          </a:prstGeom>
          <a:noFill/>
          <a:ln/>
        </p:spPr>
        <p:txBody>
          <a:bodyPr wrap="square" lIns="0" tIns="0" rIns="0" bIns="0" rtlCol="0" anchor="t"/>
          <a:lstStyle/>
          <a:p>
            <a:pPr marL="0" indent="0">
              <a:buNone/>
            </a:pPr>
            <a:r>
              <a:rPr lang="en-US" sz="1200" b="1" dirty="0">
                <a:solidFill>
                  <a:srgbClr val="1E2B3A"/>
                </a:solidFill>
                <a:latin typeface="Calibri" pitchFamily="34" charset="0"/>
                <a:ea typeface="Calibri" pitchFamily="34" charset="-122"/>
                <a:cs typeface="Calibri" pitchFamily="34" charset="-120"/>
              </a:rPr>
              <a:t>Move them up to Top</a:t>
            </a:r>
            <a:endParaRPr lang="en-US" sz="1200" dirty="0"/>
          </a:p>
        </p:txBody>
      </p:sp>
      <p:sp>
        <p:nvSpPr>
          <p:cNvPr id="22" name="Text 18"/>
          <p:cNvSpPr txBox="1"/>
          <p:nvPr/>
        </p:nvSpPr>
        <p:spPr>
          <a:xfrm>
            <a:off x="2972349" y="3200400"/>
            <a:ext cx="1783629" cy="228600"/>
          </a:xfrm>
          <a:prstGeom prst="rect">
            <a:avLst/>
          </a:prstGeom>
          <a:noFill/>
          <a:ln/>
        </p:spPr>
        <p:txBody>
          <a:bodyPr wrap="square" lIns="0" tIns="0" rIns="0" bIns="0" rtlCol="0" anchor="t"/>
          <a:lstStyle/>
          <a:p>
            <a:pPr marL="0" indent="0">
              <a:buNone/>
            </a:pPr>
            <a:r>
              <a:rPr lang="en-US" sz="950" b="1" kern="0" spc="100" dirty="0">
                <a:solidFill>
                  <a:srgbClr val="2E6FB0"/>
                </a:solidFill>
                <a:latin typeface="Calibri" pitchFamily="34" charset="0"/>
                <a:ea typeface="Calibri" pitchFamily="34" charset="-122"/>
                <a:cs typeface="Calibri" pitchFamily="34" charset="-120"/>
              </a:rPr>
              <a:t>OFFER</a:t>
            </a:r>
            <a:endParaRPr lang="en-US" sz="950" dirty="0"/>
          </a:p>
        </p:txBody>
      </p:sp>
      <p:sp>
        <p:nvSpPr>
          <p:cNvPr id="23" name="Text 19"/>
          <p:cNvSpPr txBox="1"/>
          <p:nvPr/>
        </p:nvSpPr>
        <p:spPr>
          <a:xfrm>
            <a:off x="2972349" y="343814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Picks based on past orders, reward for ordering more</a:t>
            </a:r>
            <a:endParaRPr lang="en-US" sz="1200" dirty="0"/>
          </a:p>
        </p:txBody>
      </p:sp>
      <p:sp>
        <p:nvSpPr>
          <p:cNvPr id="24" name="Text 20"/>
          <p:cNvSpPr txBox="1"/>
          <p:nvPr/>
        </p:nvSpPr>
        <p:spPr>
          <a:xfrm>
            <a:off x="2972349" y="4069080"/>
            <a:ext cx="1783629" cy="228600"/>
          </a:xfrm>
          <a:prstGeom prst="rect">
            <a:avLst/>
          </a:prstGeom>
          <a:noFill/>
          <a:ln/>
        </p:spPr>
        <p:txBody>
          <a:bodyPr wrap="square" lIns="0" tIns="0" rIns="0" bIns="0" rtlCol="0" anchor="t"/>
          <a:lstStyle/>
          <a:p>
            <a:pPr marL="0" indent="0">
              <a:buNone/>
            </a:pPr>
            <a:r>
              <a:rPr lang="en-US" sz="950" b="1" kern="0" spc="100" dirty="0">
                <a:solidFill>
                  <a:srgbClr val="2E6FB0"/>
                </a:solidFill>
                <a:latin typeface="Calibri" pitchFamily="34" charset="0"/>
                <a:ea typeface="Calibri" pitchFamily="34" charset="-122"/>
                <a:cs typeface="Calibri" pitchFamily="34" charset="-120"/>
              </a:rPr>
              <a:t>CHANNEL</a:t>
            </a:r>
            <a:endParaRPr lang="en-US" sz="950" dirty="0"/>
          </a:p>
        </p:txBody>
      </p:sp>
      <p:sp>
        <p:nvSpPr>
          <p:cNvPr id="25" name="Text 21"/>
          <p:cNvSpPr txBox="1"/>
          <p:nvPr/>
        </p:nvSpPr>
        <p:spPr>
          <a:xfrm>
            <a:off x="2972349" y="430682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Email, account contact for larger buyers</a:t>
            </a:r>
            <a:endParaRPr lang="en-US" sz="1200" dirty="0"/>
          </a:p>
        </p:txBody>
      </p:sp>
      <p:sp>
        <p:nvSpPr>
          <p:cNvPr id="26" name="Text 22"/>
          <p:cNvSpPr txBox="1"/>
          <p:nvPr/>
        </p:nvSpPr>
        <p:spPr>
          <a:xfrm>
            <a:off x="2972349" y="4937760"/>
            <a:ext cx="1783629" cy="228600"/>
          </a:xfrm>
          <a:prstGeom prst="rect">
            <a:avLst/>
          </a:prstGeom>
          <a:noFill/>
          <a:ln/>
        </p:spPr>
        <p:txBody>
          <a:bodyPr wrap="square" lIns="0" tIns="0" rIns="0" bIns="0" rtlCol="0" anchor="t"/>
          <a:lstStyle/>
          <a:p>
            <a:pPr marL="0" indent="0">
              <a:buNone/>
            </a:pPr>
            <a:r>
              <a:rPr lang="en-US" sz="950" b="1" kern="0" spc="100" dirty="0">
                <a:solidFill>
                  <a:srgbClr val="2E6FB0"/>
                </a:solidFill>
                <a:latin typeface="Calibri" pitchFamily="34" charset="0"/>
                <a:ea typeface="Calibri" pitchFamily="34" charset="-122"/>
                <a:cs typeface="Calibri" pitchFamily="34" charset="-120"/>
              </a:rPr>
              <a:t>WHEN</a:t>
            </a:r>
            <a:endParaRPr lang="en-US" sz="950" dirty="0"/>
          </a:p>
        </p:txBody>
      </p:sp>
      <p:sp>
        <p:nvSpPr>
          <p:cNvPr id="27" name="Text 23"/>
          <p:cNvSpPr txBox="1"/>
          <p:nvPr/>
        </p:nvSpPr>
        <p:spPr>
          <a:xfrm>
            <a:off x="2972349" y="517550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Trigger at 60 days with no order</a:t>
            </a:r>
            <a:endParaRPr lang="en-US" sz="1200" dirty="0"/>
          </a:p>
        </p:txBody>
      </p:sp>
      <p:sp>
        <p:nvSpPr>
          <p:cNvPr id="28" name="Shape 24"/>
          <p:cNvSpPr/>
          <p:nvPr/>
        </p:nvSpPr>
        <p:spPr>
          <a:xfrm>
            <a:off x="5066873" y="1600200"/>
            <a:ext cx="2057949" cy="4206240"/>
          </a:xfrm>
          <a:prstGeom prst="roundRect">
            <a:avLst>
              <a:gd name="adj" fmla="val 3555"/>
            </a:avLst>
          </a:prstGeom>
          <a:solidFill>
            <a:srgbClr val="FBF1E0"/>
          </a:solidFill>
          <a:ln w="12700">
            <a:solidFill>
              <a:srgbClr val="FBF1E0"/>
            </a:solidFill>
            <a:prstDash val="solid"/>
          </a:ln>
        </p:spPr>
        <p:txBody>
          <a:bodyPr/>
          <a:lstStyle/>
          <a:p>
            <a:endParaRPr lang="en-CA"/>
          </a:p>
        </p:txBody>
      </p:sp>
      <p:sp>
        <p:nvSpPr>
          <p:cNvPr id="29" name="Shape 25"/>
          <p:cNvSpPr/>
          <p:nvPr/>
        </p:nvSpPr>
        <p:spPr>
          <a:xfrm>
            <a:off x="5066873" y="1600200"/>
            <a:ext cx="2057949" cy="594360"/>
          </a:xfrm>
          <a:prstGeom prst="roundRect">
            <a:avLst>
              <a:gd name="adj" fmla="val 12308"/>
            </a:avLst>
          </a:prstGeom>
          <a:solidFill>
            <a:srgbClr val="C9820E"/>
          </a:solidFill>
          <a:ln w="12700">
            <a:solidFill>
              <a:srgbClr val="C9820E"/>
            </a:solidFill>
            <a:prstDash val="solid"/>
          </a:ln>
        </p:spPr>
        <p:txBody>
          <a:bodyPr/>
          <a:lstStyle/>
          <a:p>
            <a:endParaRPr lang="en-CA"/>
          </a:p>
        </p:txBody>
      </p:sp>
      <p:pic>
        <p:nvPicPr>
          <p:cNvPr id="30" name="Image 2" descr="preencoded.png"/>
          <p:cNvPicPr>
            <a:picLocks noChangeAspect="1"/>
          </p:cNvPicPr>
          <p:nvPr/>
        </p:nvPicPr>
        <p:blipFill>
          <a:blip r:embed="rId5"/>
          <a:stretch>
            <a:fillRect/>
          </a:stretch>
        </p:blipFill>
        <p:spPr>
          <a:xfrm>
            <a:off x="5204033" y="1755648"/>
            <a:ext cx="274320" cy="274320"/>
          </a:xfrm>
          <a:prstGeom prst="rect">
            <a:avLst/>
          </a:prstGeom>
        </p:spPr>
      </p:pic>
      <p:sp>
        <p:nvSpPr>
          <p:cNvPr id="31" name="Text 26"/>
          <p:cNvSpPr txBox="1"/>
          <p:nvPr/>
        </p:nvSpPr>
        <p:spPr>
          <a:xfrm>
            <a:off x="5569793" y="1600200"/>
            <a:ext cx="1463589"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New Starters</a:t>
            </a:r>
            <a:endParaRPr lang="en-US" sz="1300" dirty="0"/>
          </a:p>
        </p:txBody>
      </p:sp>
      <p:sp>
        <p:nvSpPr>
          <p:cNvPr id="32" name="Text 27"/>
          <p:cNvSpPr txBox="1"/>
          <p:nvPr/>
        </p:nvSpPr>
        <p:spPr>
          <a:xfrm>
            <a:off x="5231465" y="2331720"/>
            <a:ext cx="1783629" cy="228600"/>
          </a:xfrm>
          <a:prstGeom prst="rect">
            <a:avLst/>
          </a:prstGeom>
          <a:noFill/>
          <a:ln/>
        </p:spPr>
        <p:txBody>
          <a:bodyPr wrap="square" lIns="0" tIns="0" rIns="0" bIns="0" rtlCol="0" anchor="t"/>
          <a:lstStyle/>
          <a:p>
            <a:pPr marL="0" indent="0">
              <a:buNone/>
            </a:pPr>
            <a:r>
              <a:rPr lang="en-US" sz="950" b="1" kern="0" spc="100" dirty="0">
                <a:solidFill>
                  <a:srgbClr val="C9820E"/>
                </a:solidFill>
                <a:latin typeface="Calibri" pitchFamily="34" charset="0"/>
                <a:ea typeface="Calibri" pitchFamily="34" charset="-122"/>
                <a:cs typeface="Calibri" pitchFamily="34" charset="-120"/>
              </a:rPr>
              <a:t>GOAL</a:t>
            </a:r>
            <a:endParaRPr lang="en-US" sz="950" dirty="0"/>
          </a:p>
        </p:txBody>
      </p:sp>
      <p:sp>
        <p:nvSpPr>
          <p:cNvPr id="33" name="Text 28"/>
          <p:cNvSpPr txBox="1"/>
          <p:nvPr/>
        </p:nvSpPr>
        <p:spPr>
          <a:xfrm>
            <a:off x="5231465" y="2569464"/>
            <a:ext cx="1783629" cy="566928"/>
          </a:xfrm>
          <a:prstGeom prst="rect">
            <a:avLst/>
          </a:prstGeom>
          <a:noFill/>
          <a:ln/>
        </p:spPr>
        <p:txBody>
          <a:bodyPr wrap="square" lIns="0" tIns="0" rIns="0" bIns="0" rtlCol="0" anchor="t"/>
          <a:lstStyle/>
          <a:p>
            <a:pPr marL="0" indent="0">
              <a:buNone/>
            </a:pPr>
            <a:r>
              <a:rPr lang="en-US" sz="1200" b="1" dirty="0">
                <a:solidFill>
                  <a:srgbClr val="1E2B3A"/>
                </a:solidFill>
                <a:latin typeface="Calibri" pitchFamily="34" charset="0"/>
                <a:ea typeface="Calibri" pitchFamily="34" charset="-122"/>
                <a:cs typeface="Calibri" pitchFamily="34" charset="-120"/>
              </a:rPr>
              <a:t>Get orders 2 and 3</a:t>
            </a:r>
            <a:endParaRPr lang="en-US" sz="1200" dirty="0"/>
          </a:p>
        </p:txBody>
      </p:sp>
      <p:sp>
        <p:nvSpPr>
          <p:cNvPr id="34" name="Text 29"/>
          <p:cNvSpPr txBox="1"/>
          <p:nvPr/>
        </p:nvSpPr>
        <p:spPr>
          <a:xfrm>
            <a:off x="5231465" y="3200400"/>
            <a:ext cx="1783629" cy="228600"/>
          </a:xfrm>
          <a:prstGeom prst="rect">
            <a:avLst/>
          </a:prstGeom>
          <a:noFill/>
          <a:ln/>
        </p:spPr>
        <p:txBody>
          <a:bodyPr wrap="square" lIns="0" tIns="0" rIns="0" bIns="0" rtlCol="0" anchor="t"/>
          <a:lstStyle/>
          <a:p>
            <a:pPr marL="0" indent="0">
              <a:buNone/>
            </a:pPr>
            <a:r>
              <a:rPr lang="en-US" sz="950" b="1" kern="0" spc="100" dirty="0">
                <a:solidFill>
                  <a:srgbClr val="C9820E"/>
                </a:solidFill>
                <a:latin typeface="Calibri" pitchFamily="34" charset="0"/>
                <a:ea typeface="Calibri" pitchFamily="34" charset="-122"/>
                <a:cs typeface="Calibri" pitchFamily="34" charset="-120"/>
              </a:rPr>
              <a:t>OFFER</a:t>
            </a:r>
            <a:endParaRPr lang="en-US" sz="950" dirty="0"/>
          </a:p>
        </p:txBody>
      </p:sp>
      <p:sp>
        <p:nvSpPr>
          <p:cNvPr id="35" name="Text 30"/>
          <p:cNvSpPr txBox="1"/>
          <p:nvPr/>
        </p:nvSpPr>
        <p:spPr>
          <a:xfrm>
            <a:off x="5231465" y="343814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Welcome series, bestseller picks, third-order offer</a:t>
            </a:r>
            <a:endParaRPr lang="en-US" sz="1200" dirty="0"/>
          </a:p>
        </p:txBody>
      </p:sp>
      <p:sp>
        <p:nvSpPr>
          <p:cNvPr id="36" name="Text 31"/>
          <p:cNvSpPr txBox="1"/>
          <p:nvPr/>
        </p:nvSpPr>
        <p:spPr>
          <a:xfrm>
            <a:off x="5231465" y="4069080"/>
            <a:ext cx="1783629" cy="228600"/>
          </a:xfrm>
          <a:prstGeom prst="rect">
            <a:avLst/>
          </a:prstGeom>
          <a:noFill/>
          <a:ln/>
        </p:spPr>
        <p:txBody>
          <a:bodyPr wrap="square" lIns="0" tIns="0" rIns="0" bIns="0" rtlCol="0" anchor="t"/>
          <a:lstStyle/>
          <a:p>
            <a:pPr marL="0" indent="0">
              <a:buNone/>
            </a:pPr>
            <a:r>
              <a:rPr lang="en-US" sz="950" b="1" kern="0" spc="100" dirty="0">
                <a:solidFill>
                  <a:srgbClr val="C9820E"/>
                </a:solidFill>
                <a:latin typeface="Calibri" pitchFamily="34" charset="0"/>
                <a:ea typeface="Calibri" pitchFamily="34" charset="-122"/>
                <a:cs typeface="Calibri" pitchFamily="34" charset="-120"/>
              </a:rPr>
              <a:t>CHANNEL</a:t>
            </a:r>
            <a:endParaRPr lang="en-US" sz="950" dirty="0"/>
          </a:p>
        </p:txBody>
      </p:sp>
      <p:sp>
        <p:nvSpPr>
          <p:cNvPr id="37" name="Text 32"/>
          <p:cNvSpPr txBox="1"/>
          <p:nvPr/>
        </p:nvSpPr>
        <p:spPr>
          <a:xfrm>
            <a:off x="5231465" y="430682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Automated email series</a:t>
            </a:r>
            <a:endParaRPr lang="en-US" sz="1200" dirty="0"/>
          </a:p>
        </p:txBody>
      </p:sp>
      <p:sp>
        <p:nvSpPr>
          <p:cNvPr id="38" name="Text 33"/>
          <p:cNvSpPr txBox="1"/>
          <p:nvPr/>
        </p:nvSpPr>
        <p:spPr>
          <a:xfrm>
            <a:off x="5231465" y="4937760"/>
            <a:ext cx="1783629" cy="228600"/>
          </a:xfrm>
          <a:prstGeom prst="rect">
            <a:avLst/>
          </a:prstGeom>
          <a:noFill/>
          <a:ln/>
        </p:spPr>
        <p:txBody>
          <a:bodyPr wrap="square" lIns="0" tIns="0" rIns="0" bIns="0" rtlCol="0" anchor="t"/>
          <a:lstStyle/>
          <a:p>
            <a:pPr marL="0" indent="0">
              <a:buNone/>
            </a:pPr>
            <a:r>
              <a:rPr lang="en-US" sz="950" b="1" kern="0" spc="100" dirty="0">
                <a:solidFill>
                  <a:srgbClr val="C9820E"/>
                </a:solidFill>
                <a:latin typeface="Calibri" pitchFamily="34" charset="0"/>
                <a:ea typeface="Calibri" pitchFamily="34" charset="-122"/>
                <a:cs typeface="Calibri" pitchFamily="34" charset="-120"/>
              </a:rPr>
              <a:t>WHEN</a:t>
            </a:r>
            <a:endParaRPr lang="en-US" sz="950" dirty="0"/>
          </a:p>
        </p:txBody>
      </p:sp>
      <p:sp>
        <p:nvSpPr>
          <p:cNvPr id="39" name="Text 34"/>
          <p:cNvSpPr txBox="1"/>
          <p:nvPr/>
        </p:nvSpPr>
        <p:spPr>
          <a:xfrm>
            <a:off x="5231465" y="517550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7, 30 and 60 days after first order</a:t>
            </a:r>
            <a:endParaRPr lang="en-US" sz="1200" dirty="0"/>
          </a:p>
        </p:txBody>
      </p:sp>
      <p:sp>
        <p:nvSpPr>
          <p:cNvPr id="40" name="Shape 35"/>
          <p:cNvSpPr/>
          <p:nvPr/>
        </p:nvSpPr>
        <p:spPr>
          <a:xfrm>
            <a:off x="7325990" y="1600200"/>
            <a:ext cx="2057949" cy="4206240"/>
          </a:xfrm>
          <a:prstGeom prst="roundRect">
            <a:avLst>
              <a:gd name="adj" fmla="val 3555"/>
            </a:avLst>
          </a:prstGeom>
          <a:solidFill>
            <a:srgbClr val="F8E6E7"/>
          </a:solidFill>
          <a:ln w="12700">
            <a:solidFill>
              <a:srgbClr val="F8E6E7"/>
            </a:solidFill>
            <a:prstDash val="solid"/>
          </a:ln>
        </p:spPr>
        <p:txBody>
          <a:bodyPr/>
          <a:lstStyle/>
          <a:p>
            <a:endParaRPr lang="en-CA"/>
          </a:p>
        </p:txBody>
      </p:sp>
      <p:sp>
        <p:nvSpPr>
          <p:cNvPr id="41" name="Shape 36"/>
          <p:cNvSpPr/>
          <p:nvPr/>
        </p:nvSpPr>
        <p:spPr>
          <a:xfrm>
            <a:off x="7325990" y="1600200"/>
            <a:ext cx="2057949" cy="594360"/>
          </a:xfrm>
          <a:prstGeom prst="roundRect">
            <a:avLst>
              <a:gd name="adj" fmla="val 12308"/>
            </a:avLst>
          </a:prstGeom>
          <a:solidFill>
            <a:srgbClr val="C0404A"/>
          </a:solidFill>
          <a:ln w="12700">
            <a:solidFill>
              <a:srgbClr val="C0404A"/>
            </a:solidFill>
            <a:prstDash val="solid"/>
          </a:ln>
        </p:spPr>
        <p:txBody>
          <a:bodyPr/>
          <a:lstStyle/>
          <a:p>
            <a:endParaRPr lang="en-CA"/>
          </a:p>
        </p:txBody>
      </p:sp>
      <p:pic>
        <p:nvPicPr>
          <p:cNvPr id="42" name="Image 3" descr="preencoded.png"/>
          <p:cNvPicPr>
            <a:picLocks noChangeAspect="1"/>
          </p:cNvPicPr>
          <p:nvPr/>
        </p:nvPicPr>
        <p:blipFill>
          <a:blip r:embed="rId6"/>
          <a:stretch>
            <a:fillRect/>
          </a:stretch>
        </p:blipFill>
        <p:spPr>
          <a:xfrm>
            <a:off x="7463150" y="1755648"/>
            <a:ext cx="274320" cy="274320"/>
          </a:xfrm>
          <a:prstGeom prst="rect">
            <a:avLst/>
          </a:prstGeom>
        </p:spPr>
      </p:pic>
      <p:sp>
        <p:nvSpPr>
          <p:cNvPr id="43" name="Text 37"/>
          <p:cNvSpPr txBox="1"/>
          <p:nvPr/>
        </p:nvSpPr>
        <p:spPr>
          <a:xfrm>
            <a:off x="7828910" y="1600200"/>
            <a:ext cx="1463589"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Fading Big Spenders</a:t>
            </a:r>
            <a:endParaRPr lang="en-US" sz="1300" dirty="0"/>
          </a:p>
        </p:txBody>
      </p:sp>
      <p:sp>
        <p:nvSpPr>
          <p:cNvPr id="44" name="Text 38"/>
          <p:cNvSpPr txBox="1"/>
          <p:nvPr/>
        </p:nvSpPr>
        <p:spPr>
          <a:xfrm>
            <a:off x="7490582" y="2331720"/>
            <a:ext cx="1783629" cy="228600"/>
          </a:xfrm>
          <a:prstGeom prst="rect">
            <a:avLst/>
          </a:prstGeom>
          <a:noFill/>
          <a:ln/>
        </p:spPr>
        <p:txBody>
          <a:bodyPr wrap="square" lIns="0" tIns="0" rIns="0" bIns="0" rtlCol="0" anchor="t"/>
          <a:lstStyle/>
          <a:p>
            <a:pPr marL="0" indent="0">
              <a:buNone/>
            </a:pPr>
            <a:r>
              <a:rPr lang="en-US" sz="950" b="1" kern="0" spc="100" dirty="0">
                <a:solidFill>
                  <a:srgbClr val="C0404A"/>
                </a:solidFill>
                <a:latin typeface="Calibri" pitchFamily="34" charset="0"/>
                <a:ea typeface="Calibri" pitchFamily="34" charset="-122"/>
                <a:cs typeface="Calibri" pitchFamily="34" charset="-120"/>
              </a:rPr>
              <a:t>GOAL</a:t>
            </a:r>
            <a:endParaRPr lang="en-US" sz="950" dirty="0"/>
          </a:p>
        </p:txBody>
      </p:sp>
      <p:sp>
        <p:nvSpPr>
          <p:cNvPr id="45" name="Text 39"/>
          <p:cNvSpPr txBox="1"/>
          <p:nvPr/>
        </p:nvSpPr>
        <p:spPr>
          <a:xfrm>
            <a:off x="7490582" y="2569464"/>
            <a:ext cx="1783629" cy="566928"/>
          </a:xfrm>
          <a:prstGeom prst="rect">
            <a:avLst/>
          </a:prstGeom>
          <a:noFill/>
          <a:ln/>
        </p:spPr>
        <p:txBody>
          <a:bodyPr wrap="square" lIns="0" tIns="0" rIns="0" bIns="0" rtlCol="0" anchor="t"/>
          <a:lstStyle/>
          <a:p>
            <a:pPr marL="0" indent="0">
              <a:buNone/>
            </a:pPr>
            <a:r>
              <a:rPr lang="en-US" sz="1200" b="1" dirty="0">
                <a:solidFill>
                  <a:srgbClr val="1E2B3A"/>
                </a:solidFill>
                <a:latin typeface="Calibri" pitchFamily="34" charset="0"/>
                <a:ea typeface="Calibri" pitchFamily="34" charset="-122"/>
                <a:cs typeface="Calibri" pitchFamily="34" charset="-120"/>
              </a:rPr>
              <a:t>Win them back</a:t>
            </a:r>
            <a:endParaRPr lang="en-US" sz="1200" dirty="0"/>
          </a:p>
        </p:txBody>
      </p:sp>
      <p:sp>
        <p:nvSpPr>
          <p:cNvPr id="46" name="Text 40"/>
          <p:cNvSpPr txBox="1"/>
          <p:nvPr/>
        </p:nvSpPr>
        <p:spPr>
          <a:xfrm>
            <a:off x="7490582" y="3200400"/>
            <a:ext cx="1783629" cy="228600"/>
          </a:xfrm>
          <a:prstGeom prst="rect">
            <a:avLst/>
          </a:prstGeom>
          <a:noFill/>
          <a:ln/>
        </p:spPr>
        <p:txBody>
          <a:bodyPr wrap="square" lIns="0" tIns="0" rIns="0" bIns="0" rtlCol="0" anchor="t"/>
          <a:lstStyle/>
          <a:p>
            <a:pPr marL="0" indent="0">
              <a:buNone/>
            </a:pPr>
            <a:r>
              <a:rPr lang="en-US" sz="950" b="1" kern="0" spc="100" dirty="0">
                <a:solidFill>
                  <a:srgbClr val="C0404A"/>
                </a:solidFill>
                <a:latin typeface="Calibri" pitchFamily="34" charset="0"/>
                <a:ea typeface="Calibri" pitchFamily="34" charset="-122"/>
                <a:cs typeface="Calibri" pitchFamily="34" charset="-120"/>
              </a:rPr>
              <a:t>OFFER</a:t>
            </a:r>
            <a:endParaRPr lang="en-US" sz="950" dirty="0"/>
          </a:p>
        </p:txBody>
      </p:sp>
      <p:sp>
        <p:nvSpPr>
          <p:cNvPr id="47" name="Text 41"/>
          <p:cNvSpPr txBox="1"/>
          <p:nvPr/>
        </p:nvSpPr>
        <p:spPr>
          <a:xfrm>
            <a:off x="7490582" y="343814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Personal offer on past favourite products</a:t>
            </a:r>
            <a:endParaRPr lang="en-US" sz="1200" dirty="0"/>
          </a:p>
        </p:txBody>
      </p:sp>
      <p:sp>
        <p:nvSpPr>
          <p:cNvPr id="48" name="Text 42"/>
          <p:cNvSpPr txBox="1"/>
          <p:nvPr/>
        </p:nvSpPr>
        <p:spPr>
          <a:xfrm>
            <a:off x="7490582" y="4069080"/>
            <a:ext cx="1783629" cy="228600"/>
          </a:xfrm>
          <a:prstGeom prst="rect">
            <a:avLst/>
          </a:prstGeom>
          <a:noFill/>
          <a:ln/>
        </p:spPr>
        <p:txBody>
          <a:bodyPr wrap="square" lIns="0" tIns="0" rIns="0" bIns="0" rtlCol="0" anchor="t"/>
          <a:lstStyle/>
          <a:p>
            <a:pPr marL="0" indent="0">
              <a:buNone/>
            </a:pPr>
            <a:r>
              <a:rPr lang="en-US" sz="950" b="1" kern="0" spc="100" dirty="0">
                <a:solidFill>
                  <a:srgbClr val="C0404A"/>
                </a:solidFill>
                <a:latin typeface="Calibri" pitchFamily="34" charset="0"/>
                <a:ea typeface="Calibri" pitchFamily="34" charset="-122"/>
                <a:cs typeface="Calibri" pitchFamily="34" charset="-120"/>
              </a:rPr>
              <a:t>CHANNEL</a:t>
            </a:r>
            <a:endParaRPr lang="en-US" sz="950" dirty="0"/>
          </a:p>
        </p:txBody>
      </p:sp>
      <p:sp>
        <p:nvSpPr>
          <p:cNvPr id="49" name="Text 43"/>
          <p:cNvSpPr txBox="1"/>
          <p:nvPr/>
        </p:nvSpPr>
        <p:spPr>
          <a:xfrm>
            <a:off x="7490582" y="430682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Phone call and personal email</a:t>
            </a:r>
            <a:endParaRPr lang="en-US" sz="1200" dirty="0"/>
          </a:p>
        </p:txBody>
      </p:sp>
      <p:sp>
        <p:nvSpPr>
          <p:cNvPr id="50" name="Text 44"/>
          <p:cNvSpPr txBox="1"/>
          <p:nvPr/>
        </p:nvSpPr>
        <p:spPr>
          <a:xfrm>
            <a:off x="7490582" y="4937760"/>
            <a:ext cx="1783629" cy="228600"/>
          </a:xfrm>
          <a:prstGeom prst="rect">
            <a:avLst/>
          </a:prstGeom>
          <a:noFill/>
          <a:ln/>
        </p:spPr>
        <p:txBody>
          <a:bodyPr wrap="square" lIns="0" tIns="0" rIns="0" bIns="0" rtlCol="0" anchor="t"/>
          <a:lstStyle/>
          <a:p>
            <a:pPr marL="0" indent="0">
              <a:buNone/>
            </a:pPr>
            <a:r>
              <a:rPr lang="en-US" sz="950" b="1" kern="0" spc="100" dirty="0">
                <a:solidFill>
                  <a:srgbClr val="C0404A"/>
                </a:solidFill>
                <a:latin typeface="Calibri" pitchFamily="34" charset="0"/>
                <a:ea typeface="Calibri" pitchFamily="34" charset="-122"/>
                <a:cs typeface="Calibri" pitchFamily="34" charset="-120"/>
              </a:rPr>
              <a:t>WHEN</a:t>
            </a:r>
            <a:endParaRPr lang="en-US" sz="950" dirty="0"/>
          </a:p>
        </p:txBody>
      </p:sp>
      <p:sp>
        <p:nvSpPr>
          <p:cNvPr id="51" name="Text 45"/>
          <p:cNvSpPr txBox="1"/>
          <p:nvPr/>
        </p:nvSpPr>
        <p:spPr>
          <a:xfrm>
            <a:off x="7490582" y="517550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Now; main push Sept–Oct</a:t>
            </a:r>
            <a:endParaRPr lang="en-US" sz="1200" dirty="0"/>
          </a:p>
        </p:txBody>
      </p:sp>
      <p:sp>
        <p:nvSpPr>
          <p:cNvPr id="52" name="Shape 46"/>
          <p:cNvSpPr/>
          <p:nvPr/>
        </p:nvSpPr>
        <p:spPr>
          <a:xfrm>
            <a:off x="9585107" y="1600200"/>
            <a:ext cx="2057949" cy="4206240"/>
          </a:xfrm>
          <a:prstGeom prst="roundRect">
            <a:avLst>
              <a:gd name="adj" fmla="val 3555"/>
            </a:avLst>
          </a:prstGeom>
          <a:solidFill>
            <a:srgbClr val="EEEFF1"/>
          </a:solidFill>
          <a:ln w="12700">
            <a:solidFill>
              <a:srgbClr val="EEEFF1"/>
            </a:solidFill>
            <a:prstDash val="solid"/>
          </a:ln>
        </p:spPr>
        <p:txBody>
          <a:bodyPr/>
          <a:lstStyle/>
          <a:p>
            <a:endParaRPr lang="en-CA"/>
          </a:p>
        </p:txBody>
      </p:sp>
      <p:sp>
        <p:nvSpPr>
          <p:cNvPr id="53" name="Shape 47"/>
          <p:cNvSpPr/>
          <p:nvPr/>
        </p:nvSpPr>
        <p:spPr>
          <a:xfrm>
            <a:off x="9585107" y="1600200"/>
            <a:ext cx="2057949" cy="594360"/>
          </a:xfrm>
          <a:prstGeom prst="roundRect">
            <a:avLst>
              <a:gd name="adj" fmla="val 12308"/>
            </a:avLst>
          </a:prstGeom>
          <a:solidFill>
            <a:srgbClr val="7F8691"/>
          </a:solidFill>
          <a:ln w="12700">
            <a:solidFill>
              <a:srgbClr val="7F8691"/>
            </a:solidFill>
            <a:prstDash val="solid"/>
          </a:ln>
        </p:spPr>
        <p:txBody>
          <a:bodyPr/>
          <a:lstStyle/>
          <a:p>
            <a:endParaRPr lang="en-CA"/>
          </a:p>
        </p:txBody>
      </p:sp>
      <p:pic>
        <p:nvPicPr>
          <p:cNvPr id="54" name="Image 4" descr="preencoded.png"/>
          <p:cNvPicPr>
            <a:picLocks noChangeAspect="1"/>
          </p:cNvPicPr>
          <p:nvPr/>
        </p:nvPicPr>
        <p:blipFill>
          <a:blip r:embed="rId7"/>
          <a:stretch>
            <a:fillRect/>
          </a:stretch>
        </p:blipFill>
        <p:spPr>
          <a:xfrm>
            <a:off x="9722267" y="1755648"/>
            <a:ext cx="274320" cy="274320"/>
          </a:xfrm>
          <a:prstGeom prst="rect">
            <a:avLst/>
          </a:prstGeom>
        </p:spPr>
      </p:pic>
      <p:sp>
        <p:nvSpPr>
          <p:cNvPr id="55" name="Text 48"/>
          <p:cNvSpPr txBox="1"/>
          <p:nvPr/>
        </p:nvSpPr>
        <p:spPr>
          <a:xfrm>
            <a:off x="10088027" y="1600200"/>
            <a:ext cx="1463589"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Gone Quiet</a:t>
            </a:r>
            <a:endParaRPr lang="en-US" sz="1300" dirty="0"/>
          </a:p>
        </p:txBody>
      </p:sp>
      <p:sp>
        <p:nvSpPr>
          <p:cNvPr id="56" name="Text 49"/>
          <p:cNvSpPr txBox="1"/>
          <p:nvPr/>
        </p:nvSpPr>
        <p:spPr>
          <a:xfrm>
            <a:off x="9749699" y="2331720"/>
            <a:ext cx="1783629" cy="228600"/>
          </a:xfrm>
          <a:prstGeom prst="rect">
            <a:avLst/>
          </a:prstGeom>
          <a:noFill/>
          <a:ln/>
        </p:spPr>
        <p:txBody>
          <a:bodyPr wrap="square" lIns="0" tIns="0" rIns="0" bIns="0" rtlCol="0" anchor="t"/>
          <a:lstStyle/>
          <a:p>
            <a:pPr marL="0" indent="0">
              <a:buNone/>
            </a:pPr>
            <a:r>
              <a:rPr lang="en-US" sz="950" b="1" kern="0" spc="100" dirty="0">
                <a:solidFill>
                  <a:srgbClr val="7F8691"/>
                </a:solidFill>
                <a:latin typeface="Calibri" pitchFamily="34" charset="0"/>
                <a:ea typeface="Calibri" pitchFamily="34" charset="-122"/>
                <a:cs typeface="Calibri" pitchFamily="34" charset="-120"/>
              </a:rPr>
              <a:t>GOAL</a:t>
            </a:r>
            <a:endParaRPr lang="en-US" sz="950" dirty="0"/>
          </a:p>
        </p:txBody>
      </p:sp>
      <p:sp>
        <p:nvSpPr>
          <p:cNvPr id="57" name="Text 50"/>
          <p:cNvSpPr txBox="1"/>
          <p:nvPr/>
        </p:nvSpPr>
        <p:spPr>
          <a:xfrm>
            <a:off x="9749699" y="2569464"/>
            <a:ext cx="1783629" cy="566928"/>
          </a:xfrm>
          <a:prstGeom prst="rect">
            <a:avLst/>
          </a:prstGeom>
          <a:noFill/>
          <a:ln/>
        </p:spPr>
        <p:txBody>
          <a:bodyPr wrap="square" lIns="0" tIns="0" rIns="0" bIns="0" rtlCol="0" anchor="t"/>
          <a:lstStyle/>
          <a:p>
            <a:pPr marL="0" indent="0">
              <a:buNone/>
            </a:pPr>
            <a:r>
              <a:rPr lang="en-US" sz="1200" b="1" dirty="0">
                <a:solidFill>
                  <a:srgbClr val="1E2B3A"/>
                </a:solidFill>
                <a:latin typeface="Calibri" pitchFamily="34" charset="0"/>
                <a:ea typeface="Calibri" pitchFamily="34" charset="-122"/>
                <a:cs typeface="Calibri" pitchFamily="34" charset="-120"/>
              </a:rPr>
              <a:t>Low-cost reminder</a:t>
            </a:r>
            <a:endParaRPr lang="en-US" sz="1200" dirty="0"/>
          </a:p>
        </p:txBody>
      </p:sp>
      <p:sp>
        <p:nvSpPr>
          <p:cNvPr id="58" name="Text 51"/>
          <p:cNvSpPr txBox="1"/>
          <p:nvPr/>
        </p:nvSpPr>
        <p:spPr>
          <a:xfrm>
            <a:off x="9749699" y="3200400"/>
            <a:ext cx="1783629" cy="228600"/>
          </a:xfrm>
          <a:prstGeom prst="rect">
            <a:avLst/>
          </a:prstGeom>
          <a:noFill/>
          <a:ln/>
        </p:spPr>
        <p:txBody>
          <a:bodyPr wrap="square" lIns="0" tIns="0" rIns="0" bIns="0" rtlCol="0" anchor="t"/>
          <a:lstStyle/>
          <a:p>
            <a:pPr marL="0" indent="0">
              <a:buNone/>
            </a:pPr>
            <a:r>
              <a:rPr lang="en-US" sz="950" b="1" kern="0" spc="100" dirty="0">
                <a:solidFill>
                  <a:srgbClr val="7F8691"/>
                </a:solidFill>
                <a:latin typeface="Calibri" pitchFamily="34" charset="0"/>
                <a:ea typeface="Calibri" pitchFamily="34" charset="-122"/>
                <a:cs typeface="Calibri" pitchFamily="34" charset="-120"/>
              </a:rPr>
              <a:t>OFFER</a:t>
            </a:r>
            <a:endParaRPr lang="en-US" sz="950" dirty="0"/>
          </a:p>
        </p:txBody>
      </p:sp>
      <p:sp>
        <p:nvSpPr>
          <p:cNvPr id="59" name="Text 52"/>
          <p:cNvSpPr txBox="1"/>
          <p:nvPr/>
        </p:nvSpPr>
        <p:spPr>
          <a:xfrm>
            <a:off x="9749699" y="343814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Seasonal catalogue or collection email</a:t>
            </a:r>
            <a:endParaRPr lang="en-US" sz="1200" dirty="0"/>
          </a:p>
        </p:txBody>
      </p:sp>
      <p:sp>
        <p:nvSpPr>
          <p:cNvPr id="60" name="Text 53"/>
          <p:cNvSpPr txBox="1"/>
          <p:nvPr/>
        </p:nvSpPr>
        <p:spPr>
          <a:xfrm>
            <a:off x="9749699" y="4069080"/>
            <a:ext cx="1783629" cy="228600"/>
          </a:xfrm>
          <a:prstGeom prst="rect">
            <a:avLst/>
          </a:prstGeom>
          <a:noFill/>
          <a:ln/>
        </p:spPr>
        <p:txBody>
          <a:bodyPr wrap="square" lIns="0" tIns="0" rIns="0" bIns="0" rtlCol="0" anchor="t"/>
          <a:lstStyle/>
          <a:p>
            <a:pPr marL="0" indent="0">
              <a:buNone/>
            </a:pPr>
            <a:r>
              <a:rPr lang="en-US" sz="950" b="1" kern="0" spc="100" dirty="0">
                <a:solidFill>
                  <a:srgbClr val="7F8691"/>
                </a:solidFill>
                <a:latin typeface="Calibri" pitchFamily="34" charset="0"/>
                <a:ea typeface="Calibri" pitchFamily="34" charset="-122"/>
                <a:cs typeface="Calibri" pitchFamily="34" charset="-120"/>
              </a:rPr>
              <a:t>CHANNEL</a:t>
            </a:r>
            <a:endParaRPr lang="en-US" sz="950" dirty="0"/>
          </a:p>
        </p:txBody>
      </p:sp>
      <p:sp>
        <p:nvSpPr>
          <p:cNvPr id="61" name="Text 54"/>
          <p:cNvSpPr txBox="1"/>
          <p:nvPr/>
        </p:nvSpPr>
        <p:spPr>
          <a:xfrm>
            <a:off x="9749699" y="430682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Bulk email only</a:t>
            </a:r>
            <a:endParaRPr lang="en-US" sz="1200" dirty="0"/>
          </a:p>
        </p:txBody>
      </p:sp>
      <p:sp>
        <p:nvSpPr>
          <p:cNvPr id="62" name="Text 55"/>
          <p:cNvSpPr txBox="1"/>
          <p:nvPr/>
        </p:nvSpPr>
        <p:spPr>
          <a:xfrm>
            <a:off x="9749699" y="4937760"/>
            <a:ext cx="1783629" cy="228600"/>
          </a:xfrm>
          <a:prstGeom prst="rect">
            <a:avLst/>
          </a:prstGeom>
          <a:noFill/>
          <a:ln/>
        </p:spPr>
        <p:txBody>
          <a:bodyPr wrap="square" lIns="0" tIns="0" rIns="0" bIns="0" rtlCol="0" anchor="t"/>
          <a:lstStyle/>
          <a:p>
            <a:pPr marL="0" indent="0">
              <a:buNone/>
            </a:pPr>
            <a:r>
              <a:rPr lang="en-US" sz="950" b="1" kern="0" spc="100" dirty="0">
                <a:solidFill>
                  <a:srgbClr val="7F8691"/>
                </a:solidFill>
                <a:latin typeface="Calibri" pitchFamily="34" charset="0"/>
                <a:ea typeface="Calibri" pitchFamily="34" charset="-122"/>
                <a:cs typeface="Calibri" pitchFamily="34" charset="-120"/>
              </a:rPr>
              <a:t>WHEN</a:t>
            </a:r>
            <a:endParaRPr lang="en-US" sz="950" dirty="0"/>
          </a:p>
        </p:txBody>
      </p:sp>
      <p:sp>
        <p:nvSpPr>
          <p:cNvPr id="63" name="Text 56"/>
          <p:cNvSpPr txBox="1"/>
          <p:nvPr/>
        </p:nvSpPr>
        <p:spPr>
          <a:xfrm>
            <a:off x="9749699" y="5175504"/>
            <a:ext cx="1783629" cy="566928"/>
          </a:xfrm>
          <a:prstGeom prst="rect">
            <a:avLst/>
          </a:prstGeom>
          <a:noFill/>
          <a:ln/>
        </p:spPr>
        <p:txBody>
          <a:bodyPr wrap="square" lIns="0" tIns="0" rIns="0" bIns="0" rtlCol="0" anchor="t"/>
          <a:lstStyle/>
          <a:p>
            <a:pPr marL="0" indent="0">
              <a:buNone/>
            </a:pPr>
            <a:r>
              <a:rPr lang="en-US" sz="1200" dirty="0">
                <a:solidFill>
                  <a:srgbClr val="1E2B3A"/>
                </a:solidFill>
                <a:latin typeface="Calibri" pitchFamily="34" charset="0"/>
                <a:ea typeface="Calibri" pitchFamily="34" charset="-122"/>
                <a:cs typeface="Calibri" pitchFamily="34" charset="-120"/>
              </a:rPr>
              <a:t>Once, before Christmas</a:t>
            </a:r>
            <a:endParaRPr lang="en-US" sz="1200" dirty="0"/>
          </a:p>
        </p:txBody>
      </p:sp>
      <p:sp>
        <p:nvSpPr>
          <p:cNvPr id="6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WHERE TO START</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Start with Top Customers and Steady Regulars: they hold most of the value</a:t>
            </a:r>
            <a:endParaRPr lang="en-US" sz="2600" dirty="0"/>
          </a:p>
        </p:txBody>
      </p:sp>
      <p:graphicFrame>
        <p:nvGraphicFramePr>
          <p:cNvPr id="4" name="Chart 0"/>
          <p:cNvGraphicFramePr/>
          <p:nvPr>
            <p:extLst>
              <p:ext uri="{D42A27DB-BD31-4B8C-83A1-F6EECF244321}">
                <p14:modId xmlns:p14="http://schemas.microsoft.com/office/powerpoint/2010/main" val="1257447479"/>
              </p:ext>
            </p:extLst>
          </p:nvPr>
        </p:nvGraphicFramePr>
        <p:xfrm>
          <a:off x="548640" y="1554480"/>
          <a:ext cx="69494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818120" y="1645920"/>
            <a:ext cx="3822192" cy="3794760"/>
          </a:xfrm>
          <a:prstGeom prst="roundRect">
            <a:avLst>
              <a:gd name="adj" fmla="val 2410"/>
            </a:avLst>
          </a:prstGeom>
          <a:solidFill>
            <a:srgbClr val="F3F5F8"/>
          </a:solidFill>
          <a:ln w="12700">
            <a:solidFill>
              <a:srgbClr val="F3F5F8"/>
            </a:solidFill>
            <a:prstDash val="solid"/>
          </a:ln>
        </p:spPr>
        <p:txBody>
          <a:bodyPr/>
          <a:lstStyle/>
          <a:p>
            <a:endParaRPr lang="en-CA"/>
          </a:p>
        </p:txBody>
      </p:sp>
      <p:sp>
        <p:nvSpPr>
          <p:cNvPr id="6" name="Text 3"/>
          <p:cNvSpPr txBox="1"/>
          <p:nvPr/>
        </p:nvSpPr>
        <p:spPr>
          <a:xfrm>
            <a:off x="8046720" y="1783080"/>
            <a:ext cx="3383280" cy="320040"/>
          </a:xfrm>
          <a:prstGeom prst="rect">
            <a:avLst/>
          </a:prstGeom>
          <a:noFill/>
          <a:ln/>
        </p:spPr>
        <p:txBody>
          <a:bodyPr wrap="square" lIns="0" tIns="0" rIns="0" bIns="0" rtlCol="0" anchor="t"/>
          <a:lstStyle/>
          <a:p>
            <a:pPr marL="0" indent="0">
              <a:buNone/>
            </a:pPr>
            <a:r>
              <a:rPr lang="en-US" sz="1300" b="1" dirty="0">
                <a:solidFill>
                  <a:srgbClr val="1E2B3A"/>
                </a:solidFill>
                <a:latin typeface="Calibri" pitchFamily="34" charset="0"/>
                <a:ea typeface="Calibri" pitchFamily="34" charset="-122"/>
                <a:cs typeface="Calibri" pitchFamily="34" charset="-120"/>
              </a:rPr>
              <a:t>How we estimated this</a:t>
            </a:r>
            <a:endParaRPr lang="en-US" sz="1300" dirty="0"/>
          </a:p>
        </p:txBody>
      </p:sp>
      <p:sp>
        <p:nvSpPr>
          <p:cNvPr id="7" name="Text 4"/>
          <p:cNvSpPr txBox="1"/>
          <p:nvPr/>
        </p:nvSpPr>
        <p:spPr>
          <a:xfrm>
            <a:off x="8046720" y="2148840"/>
            <a:ext cx="3474720" cy="27432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E2B3A"/>
                </a:solidFill>
                <a:latin typeface="Calibri" pitchFamily="34" charset="0"/>
                <a:ea typeface="Calibri" pitchFamily="34" charset="-122"/>
                <a:cs typeface="Calibri" pitchFamily="34" charset="-120"/>
              </a:rPr>
              <a:t>Top: keep 1 in 4 of the 126 who stopped × £4,429</a:t>
            </a:r>
            <a:endParaRPr lang="en-US" sz="1150" dirty="0"/>
          </a:p>
          <a:p>
            <a:pPr marL="342900" indent="-342900">
              <a:spcAft>
                <a:spcPts val="600"/>
              </a:spcAft>
              <a:buSzPct val="100000"/>
              <a:buChar char="•"/>
            </a:pPr>
            <a:r>
              <a:rPr lang="en-US" sz="1150" dirty="0">
                <a:solidFill>
                  <a:srgbClr val="1E2B3A"/>
                </a:solidFill>
                <a:latin typeface="Calibri" pitchFamily="34" charset="0"/>
                <a:ea typeface="Calibri" pitchFamily="34" charset="-122"/>
                <a:cs typeface="Calibri" pitchFamily="34" charset="-120"/>
              </a:rPr>
              <a:t>Steady: keep 1 in 5 of the 444 who stopped × £1,496</a:t>
            </a:r>
            <a:endParaRPr lang="en-US" sz="1150" dirty="0"/>
          </a:p>
          <a:p>
            <a:pPr marL="342900" indent="-342900">
              <a:spcAft>
                <a:spcPts val="600"/>
              </a:spcAft>
              <a:buSzPct val="100000"/>
              <a:buChar char="•"/>
            </a:pPr>
            <a:r>
              <a:rPr lang="en-US" sz="1150" dirty="0">
                <a:solidFill>
                  <a:srgbClr val="1E2B3A"/>
                </a:solidFill>
                <a:latin typeface="Calibri" pitchFamily="34" charset="0"/>
                <a:ea typeface="Calibri" pitchFamily="34" charset="-122"/>
                <a:cs typeface="Calibri" pitchFamily="34" charset="-120"/>
              </a:rPr>
              <a:t>New: 1 in 10 of 722 become repeat buyers × £1,436 extra</a:t>
            </a:r>
            <a:endParaRPr lang="en-US" sz="1150" dirty="0"/>
          </a:p>
          <a:p>
            <a:pPr marL="342900" indent="-342900">
              <a:spcAft>
                <a:spcPts val="600"/>
              </a:spcAft>
              <a:buSzPct val="100000"/>
              <a:buChar char="•"/>
            </a:pPr>
            <a:r>
              <a:rPr lang="en-US" sz="1150" dirty="0">
                <a:solidFill>
                  <a:srgbClr val="1E2B3A"/>
                </a:solidFill>
                <a:latin typeface="Calibri" pitchFamily="34" charset="0"/>
                <a:ea typeface="Calibri" pitchFamily="34" charset="-122"/>
                <a:cs typeface="Calibri" pitchFamily="34" charset="-120"/>
              </a:rPr>
              <a:t>Fading: win back 1 in 10 of the 299 who stopped × £1,765</a:t>
            </a:r>
            <a:endParaRPr lang="en-US" sz="1150" dirty="0"/>
          </a:p>
          <a:p>
            <a:pPr marL="342900" indent="-342900">
              <a:spcAft>
                <a:spcPts val="600"/>
              </a:spcAft>
              <a:buSzPct val="100000"/>
              <a:buChar char="•"/>
            </a:pPr>
            <a:r>
              <a:rPr lang="en-US" sz="1150" dirty="0">
                <a:solidFill>
                  <a:srgbClr val="1E2B3A"/>
                </a:solidFill>
                <a:latin typeface="Calibri" pitchFamily="34" charset="0"/>
                <a:ea typeface="Calibri" pitchFamily="34" charset="-122"/>
                <a:cs typeface="Calibri" pitchFamily="34" charset="-120"/>
              </a:rPr>
              <a:t>Gone Quiet: win back 1 in 20 of the 1,702 who stopped × £328</a:t>
            </a:r>
            <a:endParaRPr lang="en-US" sz="1150" dirty="0"/>
          </a:p>
        </p:txBody>
      </p:sp>
      <p:sp>
        <p:nvSpPr>
          <p:cNvPr id="8" name="Text 5"/>
          <p:cNvSpPr txBox="1"/>
          <p:nvPr/>
        </p:nvSpPr>
        <p:spPr>
          <a:xfrm>
            <a:off x="8046720" y="4937760"/>
            <a:ext cx="3474720" cy="411480"/>
          </a:xfrm>
          <a:prstGeom prst="rect">
            <a:avLst/>
          </a:prstGeom>
          <a:noFill/>
          <a:ln/>
        </p:spPr>
        <p:txBody>
          <a:bodyPr wrap="square" lIns="0" tIns="0" rIns="0" bIns="0" rtlCol="0" anchor="t"/>
          <a:lstStyle/>
          <a:p>
            <a:pPr marL="0" indent="0">
              <a:buNone/>
            </a:pPr>
            <a:r>
              <a:rPr lang="en-US" sz="1100" i="1" dirty="0">
                <a:solidFill>
                  <a:srgbClr val="5B6675"/>
                </a:solidFill>
                <a:latin typeface="Calibri" pitchFamily="34" charset="0"/>
                <a:ea typeface="Calibri" pitchFamily="34" charset="-122"/>
                <a:cs typeface="Calibri" pitchFamily="34" charset="-120"/>
              </a:rPr>
              <a:t>Response rates are assumptions to test, not predictions.</a:t>
            </a:r>
            <a:endParaRPr lang="en-US" sz="1100" dirty="0"/>
          </a:p>
        </p:txBody>
      </p:sp>
      <p:sp>
        <p:nvSpPr>
          <p:cNvPr id="9" name="Shape 6"/>
          <p:cNvSpPr/>
          <p:nvPr/>
        </p:nvSpPr>
        <p:spPr>
          <a:xfrm>
            <a:off x="548640" y="5669280"/>
            <a:ext cx="11094415" cy="749808"/>
          </a:xfrm>
          <a:prstGeom prst="roundRect">
            <a:avLst>
              <a:gd name="adj" fmla="val 9756"/>
            </a:avLst>
          </a:prstGeom>
          <a:solidFill>
            <a:srgbClr val="1E2B3A"/>
          </a:solidFill>
          <a:ln w="12700">
            <a:solidFill>
              <a:srgbClr val="1E2B3A"/>
            </a:solidFill>
            <a:prstDash val="solid"/>
          </a:ln>
        </p:spPr>
        <p:txBody>
          <a:bodyPr/>
          <a:lstStyle/>
          <a:p>
            <a:endParaRPr lang="en-CA"/>
          </a:p>
        </p:txBody>
      </p:sp>
      <p:sp>
        <p:nvSpPr>
          <p:cNvPr id="11" name="Text 7"/>
          <p:cNvSpPr txBox="1"/>
          <p:nvPr/>
        </p:nvSpPr>
        <p:spPr>
          <a:xfrm>
            <a:off x="736848" y="5669280"/>
            <a:ext cx="10723328" cy="749808"/>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Together about £460k. The first two actions give about 60% of it, and both groups are customers we already know well.</a:t>
            </a:r>
            <a:endParaRPr lang="en-US" sz="15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PUTTING IT INTO THE CRM</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Four changes make the groups part of everyday CRM work</a:t>
            </a:r>
            <a:endParaRPr lang="en-US" sz="2600" dirty="0"/>
          </a:p>
        </p:txBody>
      </p:sp>
      <p:sp>
        <p:nvSpPr>
          <p:cNvPr id="4" name="Shape 2"/>
          <p:cNvSpPr/>
          <p:nvPr/>
        </p:nvSpPr>
        <p:spPr>
          <a:xfrm>
            <a:off x="548640" y="1645920"/>
            <a:ext cx="3246120" cy="1783080"/>
          </a:xfrm>
          <a:prstGeom prst="roundRect">
            <a:avLst>
              <a:gd name="adj" fmla="val 5128"/>
            </a:avLst>
          </a:prstGeom>
          <a:solidFill>
            <a:srgbClr val="F3F5F8"/>
          </a:solidFill>
          <a:ln w="12700">
            <a:solidFill>
              <a:srgbClr val="F3F5F8"/>
            </a:solidFill>
            <a:prstDash val="solid"/>
          </a:ln>
        </p:spPr>
        <p:txBody>
          <a:bodyPr/>
          <a:lstStyle/>
          <a:p>
            <a:endParaRPr lang="en-CA"/>
          </a:p>
        </p:txBody>
      </p:sp>
      <p:sp>
        <p:nvSpPr>
          <p:cNvPr id="5" name="Shape 3"/>
          <p:cNvSpPr/>
          <p:nvPr/>
        </p:nvSpPr>
        <p:spPr>
          <a:xfrm>
            <a:off x="777240" y="1874520"/>
            <a:ext cx="548640" cy="548640"/>
          </a:xfrm>
          <a:prstGeom prst="ellipse">
            <a:avLst/>
          </a:prstGeom>
          <a:solidFill>
            <a:srgbClr val="1E2B3A"/>
          </a:solidFill>
          <a:ln w="12700">
            <a:solidFill>
              <a:srgbClr val="1E2B3A"/>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14400" y="2011680"/>
            <a:ext cx="274320" cy="274320"/>
          </a:xfrm>
          <a:prstGeom prst="rect">
            <a:avLst/>
          </a:prstGeom>
        </p:spPr>
      </p:pic>
      <p:sp>
        <p:nvSpPr>
          <p:cNvPr id="7" name="Text 4"/>
          <p:cNvSpPr txBox="1"/>
          <p:nvPr/>
        </p:nvSpPr>
        <p:spPr>
          <a:xfrm>
            <a:off x="1463040" y="1901952"/>
            <a:ext cx="2194560" cy="502920"/>
          </a:xfrm>
          <a:prstGeom prst="rect">
            <a:avLst/>
          </a:prstGeom>
          <a:noFill/>
          <a:ln/>
        </p:spPr>
        <p:txBody>
          <a:bodyPr wrap="square" lIns="0" tIns="0" rIns="0" bIns="0" rtlCol="0" anchor="ctr"/>
          <a:lstStyle/>
          <a:p>
            <a:pPr marL="0" indent="0">
              <a:buNone/>
            </a:pPr>
            <a:r>
              <a:rPr lang="en-US" sz="1500" b="1" dirty="0">
                <a:solidFill>
                  <a:srgbClr val="1E2B3A"/>
                </a:solidFill>
                <a:latin typeface="Calibri" pitchFamily="34" charset="0"/>
                <a:ea typeface="Calibri" pitchFamily="34" charset="-122"/>
                <a:cs typeface="Calibri" pitchFamily="34" charset="-120"/>
              </a:rPr>
              <a:t>Add four fields</a:t>
            </a:r>
            <a:endParaRPr lang="en-US" sz="1500" dirty="0"/>
          </a:p>
        </p:txBody>
      </p:sp>
      <p:sp>
        <p:nvSpPr>
          <p:cNvPr id="8" name="Text 5"/>
          <p:cNvSpPr txBox="1"/>
          <p:nvPr/>
        </p:nvSpPr>
        <p:spPr>
          <a:xfrm>
            <a:off x="777240" y="2514600"/>
            <a:ext cx="2834640" cy="86868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Customer group, customer score (5 to 20), days since last order, number of orders.</a:t>
            </a:r>
            <a:endParaRPr lang="en-US" sz="1400" dirty="0"/>
          </a:p>
        </p:txBody>
      </p:sp>
      <p:sp>
        <p:nvSpPr>
          <p:cNvPr id="9" name="Shape 6"/>
          <p:cNvSpPr/>
          <p:nvPr/>
        </p:nvSpPr>
        <p:spPr>
          <a:xfrm>
            <a:off x="4069080" y="1645920"/>
            <a:ext cx="3246120" cy="1783080"/>
          </a:xfrm>
          <a:prstGeom prst="roundRect">
            <a:avLst>
              <a:gd name="adj" fmla="val 5128"/>
            </a:avLst>
          </a:prstGeom>
          <a:solidFill>
            <a:srgbClr val="F3F5F8"/>
          </a:solidFill>
          <a:ln w="12700">
            <a:solidFill>
              <a:srgbClr val="F3F5F8"/>
            </a:solidFill>
            <a:prstDash val="solid"/>
          </a:ln>
        </p:spPr>
        <p:txBody>
          <a:bodyPr/>
          <a:lstStyle/>
          <a:p>
            <a:endParaRPr lang="en-CA"/>
          </a:p>
        </p:txBody>
      </p:sp>
      <p:sp>
        <p:nvSpPr>
          <p:cNvPr id="10" name="Shape 7"/>
          <p:cNvSpPr/>
          <p:nvPr/>
        </p:nvSpPr>
        <p:spPr>
          <a:xfrm>
            <a:off x="4297680" y="1874520"/>
            <a:ext cx="548640" cy="548640"/>
          </a:xfrm>
          <a:prstGeom prst="ellipse">
            <a:avLst/>
          </a:prstGeom>
          <a:solidFill>
            <a:srgbClr val="1E2B3A"/>
          </a:solidFill>
          <a:ln w="12700">
            <a:solidFill>
              <a:srgbClr val="1E2B3A"/>
            </a:solidFill>
            <a:prstDash val="solid"/>
          </a:ln>
        </p:spPr>
        <p:txBody>
          <a:bodyPr/>
          <a:lstStyle/>
          <a:p>
            <a:endParaRPr lang="en-CA"/>
          </a:p>
        </p:txBody>
      </p:sp>
      <p:pic>
        <p:nvPicPr>
          <p:cNvPr id="11" name="Image 1" descr="preencoded.png"/>
          <p:cNvPicPr>
            <a:picLocks noChangeAspect="1"/>
          </p:cNvPicPr>
          <p:nvPr/>
        </p:nvPicPr>
        <p:blipFill>
          <a:blip r:embed="rId4"/>
          <a:stretch>
            <a:fillRect/>
          </a:stretch>
        </p:blipFill>
        <p:spPr>
          <a:xfrm>
            <a:off x="4434840" y="2011680"/>
            <a:ext cx="274320" cy="274320"/>
          </a:xfrm>
          <a:prstGeom prst="rect">
            <a:avLst/>
          </a:prstGeom>
        </p:spPr>
      </p:pic>
      <p:sp>
        <p:nvSpPr>
          <p:cNvPr id="12" name="Text 8"/>
          <p:cNvSpPr txBox="1"/>
          <p:nvPr/>
        </p:nvSpPr>
        <p:spPr>
          <a:xfrm>
            <a:off x="4983480" y="1901952"/>
            <a:ext cx="2194560" cy="502920"/>
          </a:xfrm>
          <a:prstGeom prst="rect">
            <a:avLst/>
          </a:prstGeom>
          <a:noFill/>
          <a:ln/>
        </p:spPr>
        <p:txBody>
          <a:bodyPr wrap="square" lIns="0" tIns="0" rIns="0" bIns="0" rtlCol="0" anchor="ctr"/>
          <a:lstStyle/>
          <a:p>
            <a:pPr marL="0" indent="0">
              <a:buNone/>
            </a:pPr>
            <a:r>
              <a:rPr lang="en-US" sz="1500" b="1" dirty="0">
                <a:solidFill>
                  <a:srgbClr val="1E2B3A"/>
                </a:solidFill>
                <a:latin typeface="Calibri" pitchFamily="34" charset="0"/>
                <a:ea typeface="Calibri" pitchFamily="34" charset="-122"/>
                <a:cs typeface="Calibri" pitchFamily="34" charset="-120"/>
              </a:rPr>
              <a:t>Build five saved lists</a:t>
            </a:r>
            <a:endParaRPr lang="en-US" sz="1500" dirty="0"/>
          </a:p>
        </p:txBody>
      </p:sp>
      <p:sp>
        <p:nvSpPr>
          <p:cNvPr id="13" name="Text 9"/>
          <p:cNvSpPr txBox="1"/>
          <p:nvPr/>
        </p:nvSpPr>
        <p:spPr>
          <a:xfrm>
            <a:off x="4297680" y="2514600"/>
            <a:ext cx="2834640" cy="86868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One list per group, so every campaign starts from the right audience.</a:t>
            </a:r>
            <a:endParaRPr lang="en-US" sz="1400" dirty="0"/>
          </a:p>
        </p:txBody>
      </p:sp>
      <p:sp>
        <p:nvSpPr>
          <p:cNvPr id="14" name="Shape 10"/>
          <p:cNvSpPr/>
          <p:nvPr/>
        </p:nvSpPr>
        <p:spPr>
          <a:xfrm>
            <a:off x="548640" y="3703320"/>
            <a:ext cx="3246120" cy="1783080"/>
          </a:xfrm>
          <a:prstGeom prst="roundRect">
            <a:avLst>
              <a:gd name="adj" fmla="val 5128"/>
            </a:avLst>
          </a:prstGeom>
          <a:solidFill>
            <a:srgbClr val="F3F5F8"/>
          </a:solidFill>
          <a:ln w="12700">
            <a:solidFill>
              <a:srgbClr val="F3F5F8"/>
            </a:solidFill>
            <a:prstDash val="solid"/>
          </a:ln>
        </p:spPr>
        <p:txBody>
          <a:bodyPr/>
          <a:lstStyle/>
          <a:p>
            <a:endParaRPr lang="en-CA"/>
          </a:p>
        </p:txBody>
      </p:sp>
      <p:sp>
        <p:nvSpPr>
          <p:cNvPr id="15" name="Shape 11"/>
          <p:cNvSpPr/>
          <p:nvPr/>
        </p:nvSpPr>
        <p:spPr>
          <a:xfrm>
            <a:off x="777240" y="3931920"/>
            <a:ext cx="548640" cy="548640"/>
          </a:xfrm>
          <a:prstGeom prst="ellipse">
            <a:avLst/>
          </a:prstGeom>
          <a:solidFill>
            <a:srgbClr val="1E2B3A"/>
          </a:solidFill>
          <a:ln w="12700">
            <a:solidFill>
              <a:srgbClr val="1E2B3A"/>
            </a:solidFill>
            <a:prstDash val="solid"/>
          </a:ln>
        </p:spPr>
        <p:txBody>
          <a:bodyPr/>
          <a:lstStyle/>
          <a:p>
            <a:endParaRPr lang="en-CA"/>
          </a:p>
        </p:txBody>
      </p:sp>
      <p:pic>
        <p:nvPicPr>
          <p:cNvPr id="16" name="Image 2" descr="preencoded.png"/>
          <p:cNvPicPr>
            <a:picLocks noChangeAspect="1"/>
          </p:cNvPicPr>
          <p:nvPr/>
        </p:nvPicPr>
        <p:blipFill>
          <a:blip r:embed="rId5"/>
          <a:stretch>
            <a:fillRect/>
          </a:stretch>
        </p:blipFill>
        <p:spPr>
          <a:xfrm>
            <a:off x="914400" y="4069080"/>
            <a:ext cx="274320" cy="274320"/>
          </a:xfrm>
          <a:prstGeom prst="rect">
            <a:avLst/>
          </a:prstGeom>
        </p:spPr>
      </p:pic>
      <p:sp>
        <p:nvSpPr>
          <p:cNvPr id="17" name="Text 12"/>
          <p:cNvSpPr txBox="1"/>
          <p:nvPr/>
        </p:nvSpPr>
        <p:spPr>
          <a:xfrm>
            <a:off x="1463040" y="3959352"/>
            <a:ext cx="2194560" cy="502920"/>
          </a:xfrm>
          <a:prstGeom prst="rect">
            <a:avLst/>
          </a:prstGeom>
          <a:noFill/>
          <a:ln/>
        </p:spPr>
        <p:txBody>
          <a:bodyPr wrap="square" lIns="0" tIns="0" rIns="0" bIns="0" rtlCol="0" anchor="ctr"/>
          <a:lstStyle/>
          <a:p>
            <a:pPr marL="0" indent="0">
              <a:buNone/>
            </a:pPr>
            <a:r>
              <a:rPr lang="en-US" sz="1500" b="1" dirty="0">
                <a:solidFill>
                  <a:srgbClr val="1E2B3A"/>
                </a:solidFill>
                <a:latin typeface="Calibri" pitchFamily="34" charset="0"/>
                <a:ea typeface="Calibri" pitchFamily="34" charset="-122"/>
                <a:cs typeface="Calibri" pitchFamily="34" charset="-120"/>
              </a:rPr>
              <a:t>Set a few triggers</a:t>
            </a:r>
            <a:endParaRPr lang="en-US" sz="1500" dirty="0"/>
          </a:p>
        </p:txBody>
      </p:sp>
      <p:sp>
        <p:nvSpPr>
          <p:cNvPr id="18" name="Text 13"/>
          <p:cNvSpPr txBox="1"/>
          <p:nvPr/>
        </p:nvSpPr>
        <p:spPr>
          <a:xfrm>
            <a:off x="777240" y="4572000"/>
            <a:ext cx="2834640" cy="86868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60 or 120 days with no order, 7 days after a first order, and any move down a group.</a:t>
            </a:r>
            <a:endParaRPr lang="en-US" sz="1400" dirty="0"/>
          </a:p>
        </p:txBody>
      </p:sp>
      <p:sp>
        <p:nvSpPr>
          <p:cNvPr id="19" name="Shape 14"/>
          <p:cNvSpPr/>
          <p:nvPr/>
        </p:nvSpPr>
        <p:spPr>
          <a:xfrm>
            <a:off x="4069080" y="3703320"/>
            <a:ext cx="3246120" cy="1783080"/>
          </a:xfrm>
          <a:prstGeom prst="roundRect">
            <a:avLst>
              <a:gd name="adj" fmla="val 5128"/>
            </a:avLst>
          </a:prstGeom>
          <a:solidFill>
            <a:srgbClr val="F3F5F8"/>
          </a:solidFill>
          <a:ln w="12700">
            <a:solidFill>
              <a:srgbClr val="F3F5F8"/>
            </a:solidFill>
            <a:prstDash val="solid"/>
          </a:ln>
        </p:spPr>
        <p:txBody>
          <a:bodyPr/>
          <a:lstStyle/>
          <a:p>
            <a:endParaRPr lang="en-CA"/>
          </a:p>
        </p:txBody>
      </p:sp>
      <p:sp>
        <p:nvSpPr>
          <p:cNvPr id="20" name="Shape 15"/>
          <p:cNvSpPr/>
          <p:nvPr/>
        </p:nvSpPr>
        <p:spPr>
          <a:xfrm>
            <a:off x="4297680" y="3931920"/>
            <a:ext cx="548640" cy="548640"/>
          </a:xfrm>
          <a:prstGeom prst="ellipse">
            <a:avLst/>
          </a:prstGeom>
          <a:solidFill>
            <a:srgbClr val="1E2B3A"/>
          </a:solidFill>
          <a:ln w="12700">
            <a:solidFill>
              <a:srgbClr val="1E2B3A"/>
            </a:solidFill>
            <a:prstDash val="solid"/>
          </a:ln>
        </p:spPr>
        <p:txBody>
          <a:bodyPr/>
          <a:lstStyle/>
          <a:p>
            <a:endParaRPr lang="en-CA"/>
          </a:p>
        </p:txBody>
      </p:sp>
      <p:pic>
        <p:nvPicPr>
          <p:cNvPr id="21" name="Image 3" descr="preencoded.png"/>
          <p:cNvPicPr>
            <a:picLocks noChangeAspect="1"/>
          </p:cNvPicPr>
          <p:nvPr/>
        </p:nvPicPr>
        <p:blipFill>
          <a:blip r:embed="rId6"/>
          <a:stretch>
            <a:fillRect/>
          </a:stretch>
        </p:blipFill>
        <p:spPr>
          <a:xfrm>
            <a:off x="4434840" y="4069080"/>
            <a:ext cx="274320" cy="274320"/>
          </a:xfrm>
          <a:prstGeom prst="rect">
            <a:avLst/>
          </a:prstGeom>
        </p:spPr>
      </p:pic>
      <p:sp>
        <p:nvSpPr>
          <p:cNvPr id="22" name="Text 16"/>
          <p:cNvSpPr txBox="1"/>
          <p:nvPr/>
        </p:nvSpPr>
        <p:spPr>
          <a:xfrm>
            <a:off x="4983480" y="3959352"/>
            <a:ext cx="2194560" cy="502920"/>
          </a:xfrm>
          <a:prstGeom prst="rect">
            <a:avLst/>
          </a:prstGeom>
          <a:noFill/>
          <a:ln/>
        </p:spPr>
        <p:txBody>
          <a:bodyPr wrap="square" lIns="0" tIns="0" rIns="0" bIns="0" rtlCol="0" anchor="ctr"/>
          <a:lstStyle/>
          <a:p>
            <a:pPr marL="0" indent="0">
              <a:buNone/>
            </a:pPr>
            <a:r>
              <a:rPr lang="en-US" sz="1500" b="1" dirty="0">
                <a:solidFill>
                  <a:srgbClr val="1E2B3A"/>
                </a:solidFill>
                <a:latin typeface="Calibri" pitchFamily="34" charset="0"/>
                <a:ea typeface="Calibri" pitchFamily="34" charset="-122"/>
                <a:cs typeface="Calibri" pitchFamily="34" charset="-120"/>
              </a:rPr>
              <a:t>Report by group</a:t>
            </a:r>
            <a:endParaRPr lang="en-US" sz="1500" dirty="0"/>
          </a:p>
        </p:txBody>
      </p:sp>
      <p:sp>
        <p:nvSpPr>
          <p:cNvPr id="23" name="Text 17"/>
          <p:cNvSpPr txBox="1"/>
          <p:nvPr/>
        </p:nvSpPr>
        <p:spPr>
          <a:xfrm>
            <a:off x="4297680" y="4572000"/>
            <a:ext cx="2834640" cy="86868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Orders, spend and customers lost for each group, every month.</a:t>
            </a:r>
            <a:endParaRPr lang="en-US" sz="1400" dirty="0"/>
          </a:p>
        </p:txBody>
      </p:sp>
      <p:sp>
        <p:nvSpPr>
          <p:cNvPr id="24" name="Shape 18"/>
          <p:cNvSpPr/>
          <p:nvPr/>
        </p:nvSpPr>
        <p:spPr>
          <a:xfrm>
            <a:off x="7726680" y="1645920"/>
            <a:ext cx="3916375" cy="3840480"/>
          </a:xfrm>
          <a:prstGeom prst="roundRect">
            <a:avLst>
              <a:gd name="adj" fmla="val 2381"/>
            </a:avLst>
          </a:prstGeom>
          <a:solidFill>
            <a:srgbClr val="FFFFFF"/>
          </a:solidFill>
          <a:ln w="12700">
            <a:solidFill>
              <a:srgbClr val="D9DEE5"/>
            </a:solidFill>
            <a:prstDash val="solid"/>
          </a:ln>
        </p:spPr>
        <p:txBody>
          <a:bodyPr/>
          <a:lstStyle/>
          <a:p>
            <a:endParaRPr lang="en-CA"/>
          </a:p>
        </p:txBody>
      </p:sp>
      <p:sp>
        <p:nvSpPr>
          <p:cNvPr id="25" name="Text 19"/>
          <p:cNvSpPr txBox="1"/>
          <p:nvPr/>
        </p:nvSpPr>
        <p:spPr>
          <a:xfrm>
            <a:off x="8001000" y="1783080"/>
            <a:ext cx="3459175" cy="365760"/>
          </a:xfrm>
          <a:prstGeom prst="rect">
            <a:avLst/>
          </a:prstGeom>
          <a:noFill/>
          <a:ln/>
        </p:spPr>
        <p:txBody>
          <a:bodyPr wrap="square" lIns="0" tIns="0" rIns="0" bIns="0" rtlCol="0" anchor="t"/>
          <a:lstStyle/>
          <a:p>
            <a:pPr marL="0" indent="0">
              <a:buNone/>
            </a:pPr>
            <a:r>
              <a:rPr lang="en-US" sz="1500" b="1" dirty="0">
                <a:solidFill>
                  <a:srgbClr val="1E2B3A"/>
                </a:solidFill>
                <a:latin typeface="Calibri" pitchFamily="34" charset="0"/>
                <a:ea typeface="Calibri" pitchFamily="34" charset="-122"/>
                <a:cs typeface="Calibri" pitchFamily="34" charset="-120"/>
              </a:rPr>
              <a:t>A typical week for the CRM team</a:t>
            </a:r>
            <a:endParaRPr lang="en-US" sz="1500" dirty="0"/>
          </a:p>
        </p:txBody>
      </p:sp>
      <p:sp>
        <p:nvSpPr>
          <p:cNvPr id="26" name="Shape 20"/>
          <p:cNvSpPr/>
          <p:nvPr/>
        </p:nvSpPr>
        <p:spPr>
          <a:xfrm>
            <a:off x="8019288" y="2377440"/>
            <a:ext cx="164592" cy="164592"/>
          </a:xfrm>
          <a:prstGeom prst="ellipse">
            <a:avLst/>
          </a:prstGeom>
          <a:solidFill>
            <a:srgbClr val="2E6FB0"/>
          </a:solidFill>
          <a:ln w="12700">
            <a:solidFill>
              <a:srgbClr val="2E6FB0"/>
            </a:solidFill>
            <a:prstDash val="solid"/>
          </a:ln>
        </p:spPr>
        <p:txBody>
          <a:bodyPr/>
          <a:lstStyle/>
          <a:p>
            <a:endParaRPr lang="en-CA"/>
          </a:p>
        </p:txBody>
      </p:sp>
      <p:sp>
        <p:nvSpPr>
          <p:cNvPr id="27" name="Text 21"/>
          <p:cNvSpPr txBox="1"/>
          <p:nvPr/>
        </p:nvSpPr>
        <p:spPr>
          <a:xfrm>
            <a:off x="8321040" y="2286000"/>
            <a:ext cx="3093415" cy="603504"/>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Monday:  </a:t>
            </a:r>
            <a:r>
              <a:rPr lang="en-US" sz="1350" dirty="0">
                <a:solidFill>
                  <a:srgbClr val="1E2B3A"/>
                </a:solidFill>
                <a:latin typeface="Calibri" pitchFamily="34" charset="0"/>
                <a:ea typeface="Calibri" pitchFamily="34" charset="-122"/>
                <a:cs typeface="Calibri" pitchFamily="34" charset="-120"/>
              </a:rPr>
              <a:t>Review Steady Regulars who passed 60 days with no order</a:t>
            </a:r>
            <a:endParaRPr lang="en-US" sz="1350" dirty="0"/>
          </a:p>
        </p:txBody>
      </p:sp>
      <p:sp>
        <p:nvSpPr>
          <p:cNvPr id="28" name="Shape 22"/>
          <p:cNvSpPr/>
          <p:nvPr/>
        </p:nvSpPr>
        <p:spPr>
          <a:xfrm>
            <a:off x="8019288" y="2999232"/>
            <a:ext cx="164592" cy="164592"/>
          </a:xfrm>
          <a:prstGeom prst="ellipse">
            <a:avLst/>
          </a:prstGeom>
          <a:solidFill>
            <a:srgbClr val="C0404A"/>
          </a:solidFill>
          <a:ln w="12700">
            <a:solidFill>
              <a:srgbClr val="C0404A"/>
            </a:solidFill>
            <a:prstDash val="solid"/>
          </a:ln>
        </p:spPr>
        <p:txBody>
          <a:bodyPr/>
          <a:lstStyle/>
          <a:p>
            <a:endParaRPr lang="en-CA"/>
          </a:p>
        </p:txBody>
      </p:sp>
      <p:sp>
        <p:nvSpPr>
          <p:cNvPr id="29" name="Text 23"/>
          <p:cNvSpPr txBox="1"/>
          <p:nvPr/>
        </p:nvSpPr>
        <p:spPr>
          <a:xfrm>
            <a:off x="8321040" y="2907792"/>
            <a:ext cx="3093415" cy="603504"/>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Tuesday:  </a:t>
            </a:r>
            <a:r>
              <a:rPr lang="en-US" sz="1350" dirty="0">
                <a:solidFill>
                  <a:srgbClr val="1E2B3A"/>
                </a:solidFill>
                <a:latin typeface="Calibri" pitchFamily="34" charset="0"/>
                <a:ea typeface="Calibri" pitchFamily="34" charset="-122"/>
                <a:cs typeface="Calibri" pitchFamily="34" charset="-120"/>
              </a:rPr>
              <a:t>Call list of Fading Big Spenders for the account team</a:t>
            </a:r>
            <a:endParaRPr lang="en-US" sz="1350" dirty="0"/>
          </a:p>
        </p:txBody>
      </p:sp>
      <p:sp>
        <p:nvSpPr>
          <p:cNvPr id="30" name="Shape 24"/>
          <p:cNvSpPr/>
          <p:nvPr/>
        </p:nvSpPr>
        <p:spPr>
          <a:xfrm>
            <a:off x="8019288" y="3621024"/>
            <a:ext cx="164592" cy="164592"/>
          </a:xfrm>
          <a:prstGeom prst="ellipse">
            <a:avLst/>
          </a:prstGeom>
          <a:solidFill>
            <a:srgbClr val="C9820E"/>
          </a:solidFill>
          <a:ln w="12700">
            <a:solidFill>
              <a:srgbClr val="C9820E"/>
            </a:solidFill>
            <a:prstDash val="solid"/>
          </a:ln>
        </p:spPr>
        <p:txBody>
          <a:bodyPr/>
          <a:lstStyle/>
          <a:p>
            <a:endParaRPr lang="en-CA"/>
          </a:p>
        </p:txBody>
      </p:sp>
      <p:sp>
        <p:nvSpPr>
          <p:cNvPr id="31" name="Text 25"/>
          <p:cNvSpPr txBox="1"/>
          <p:nvPr/>
        </p:nvSpPr>
        <p:spPr>
          <a:xfrm>
            <a:off x="8321040" y="3529584"/>
            <a:ext cx="3093415" cy="603504"/>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Every day:  </a:t>
            </a:r>
            <a:r>
              <a:rPr lang="en-US" sz="1350" dirty="0">
                <a:solidFill>
                  <a:srgbClr val="1E2B3A"/>
                </a:solidFill>
                <a:latin typeface="Calibri" pitchFamily="34" charset="0"/>
                <a:ea typeface="Calibri" pitchFamily="34" charset="-122"/>
                <a:cs typeface="Calibri" pitchFamily="34" charset="-120"/>
              </a:rPr>
              <a:t>New Starter emails go out automatically</a:t>
            </a:r>
            <a:endParaRPr lang="en-US" sz="1350" dirty="0"/>
          </a:p>
        </p:txBody>
      </p:sp>
      <p:sp>
        <p:nvSpPr>
          <p:cNvPr id="32" name="Shape 26"/>
          <p:cNvSpPr/>
          <p:nvPr/>
        </p:nvSpPr>
        <p:spPr>
          <a:xfrm>
            <a:off x="8019288" y="4242816"/>
            <a:ext cx="164592" cy="164592"/>
          </a:xfrm>
          <a:prstGeom prst="ellipse">
            <a:avLst/>
          </a:prstGeom>
          <a:solidFill>
            <a:srgbClr val="1F7A5C"/>
          </a:solidFill>
          <a:ln w="12700">
            <a:solidFill>
              <a:srgbClr val="1F7A5C"/>
            </a:solidFill>
            <a:prstDash val="solid"/>
          </a:ln>
        </p:spPr>
        <p:txBody>
          <a:bodyPr/>
          <a:lstStyle/>
          <a:p>
            <a:endParaRPr lang="en-CA"/>
          </a:p>
        </p:txBody>
      </p:sp>
      <p:sp>
        <p:nvSpPr>
          <p:cNvPr id="33" name="Text 27"/>
          <p:cNvSpPr txBox="1"/>
          <p:nvPr/>
        </p:nvSpPr>
        <p:spPr>
          <a:xfrm>
            <a:off x="8321040" y="4151376"/>
            <a:ext cx="3093415" cy="603504"/>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Friday:  </a:t>
            </a:r>
            <a:r>
              <a:rPr lang="en-US" sz="1350" dirty="0">
                <a:solidFill>
                  <a:srgbClr val="1E2B3A"/>
                </a:solidFill>
                <a:latin typeface="Calibri" pitchFamily="34" charset="0"/>
                <a:ea typeface="Calibri" pitchFamily="34" charset="-122"/>
                <a:cs typeface="Calibri" pitchFamily="34" charset="-120"/>
              </a:rPr>
              <a:t>Check any Top Customer quiet for over 30 days</a:t>
            </a:r>
            <a:endParaRPr lang="en-US" sz="1350" dirty="0"/>
          </a:p>
        </p:txBody>
      </p:sp>
      <p:sp>
        <p:nvSpPr>
          <p:cNvPr id="34" name="Shape 28"/>
          <p:cNvSpPr/>
          <p:nvPr/>
        </p:nvSpPr>
        <p:spPr>
          <a:xfrm>
            <a:off x="8019288" y="4864608"/>
            <a:ext cx="164592" cy="164592"/>
          </a:xfrm>
          <a:prstGeom prst="ellipse">
            <a:avLst/>
          </a:prstGeom>
          <a:solidFill>
            <a:srgbClr val="1E2B3A"/>
          </a:solidFill>
          <a:ln w="12700">
            <a:solidFill>
              <a:srgbClr val="1E2B3A"/>
            </a:solidFill>
            <a:prstDash val="solid"/>
          </a:ln>
        </p:spPr>
        <p:txBody>
          <a:bodyPr/>
          <a:lstStyle/>
          <a:p>
            <a:endParaRPr lang="en-CA"/>
          </a:p>
        </p:txBody>
      </p:sp>
      <p:sp>
        <p:nvSpPr>
          <p:cNvPr id="35" name="Text 29"/>
          <p:cNvSpPr txBox="1"/>
          <p:nvPr/>
        </p:nvSpPr>
        <p:spPr>
          <a:xfrm>
            <a:off x="8321040" y="4773168"/>
            <a:ext cx="3093415" cy="603504"/>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1st of month:  </a:t>
            </a:r>
            <a:r>
              <a:rPr lang="en-US" sz="1350" dirty="0">
                <a:solidFill>
                  <a:srgbClr val="1E2B3A"/>
                </a:solidFill>
                <a:latin typeface="Calibri" pitchFamily="34" charset="0"/>
                <a:ea typeface="Calibri" pitchFamily="34" charset="-122"/>
                <a:cs typeface="Calibri" pitchFamily="34" charset="-120"/>
              </a:rPr>
              <a:t>Refresh groups and share the results report</a:t>
            </a:r>
            <a:endParaRPr lang="en-US" sz="1350" dirty="0"/>
          </a:p>
        </p:txBody>
      </p:sp>
      <p:sp>
        <p:nvSpPr>
          <p:cNvPr id="36" name="Shape 30"/>
          <p:cNvSpPr/>
          <p:nvPr/>
        </p:nvSpPr>
        <p:spPr>
          <a:xfrm>
            <a:off x="548640" y="5715000"/>
            <a:ext cx="11094415" cy="731520"/>
          </a:xfrm>
          <a:prstGeom prst="roundRect">
            <a:avLst>
              <a:gd name="adj" fmla="val 10000"/>
            </a:avLst>
          </a:prstGeom>
          <a:solidFill>
            <a:srgbClr val="1E2B3A"/>
          </a:solidFill>
          <a:ln w="12700">
            <a:solidFill>
              <a:srgbClr val="1E2B3A"/>
            </a:solidFill>
            <a:prstDash val="solid"/>
          </a:ln>
        </p:spPr>
        <p:txBody>
          <a:bodyPr/>
          <a:lstStyle/>
          <a:p>
            <a:endParaRPr lang="en-CA"/>
          </a:p>
        </p:txBody>
      </p:sp>
      <p:sp>
        <p:nvSpPr>
          <p:cNvPr id="38" name="Text 31"/>
          <p:cNvSpPr txBox="1"/>
          <p:nvPr/>
        </p:nvSpPr>
        <p:spPr>
          <a:xfrm>
            <a:off x="709302" y="5715000"/>
            <a:ext cx="10750874" cy="731520"/>
          </a:xfrm>
          <a:prstGeom prst="rect">
            <a:avLst/>
          </a:prstGeom>
          <a:noFill/>
          <a:ln/>
        </p:spPr>
        <p:txBody>
          <a:bodyPr wrap="square" lIns="0" tIns="0" rIns="0" bIns="0" rtlCol="0" anchor="ctr"/>
          <a:lstStyle/>
          <a:p>
            <a:pPr marL="0" indent="0">
              <a:buNone/>
            </a:pPr>
            <a:r>
              <a:rPr lang="en-US" sz="1500" b="1" dirty="0">
                <a:solidFill>
                  <a:srgbClr val="F4D35E"/>
                </a:solidFill>
                <a:latin typeface="Calibri" pitchFamily="34" charset="0"/>
                <a:ea typeface="Calibri" pitchFamily="34" charset="-122"/>
                <a:cs typeface="Calibri" pitchFamily="34" charset="-120"/>
              </a:rPr>
              <a:t>So what?  </a:t>
            </a:r>
            <a:r>
              <a:rPr lang="en-US" sz="1500" dirty="0">
                <a:solidFill>
                  <a:srgbClr val="FFFFFF"/>
                </a:solidFill>
                <a:latin typeface="Calibri" pitchFamily="34" charset="0"/>
                <a:ea typeface="Calibri" pitchFamily="34" charset="-122"/>
                <a:cs typeface="Calibri" pitchFamily="34" charset="-120"/>
              </a:rPr>
              <a:t>No new system is needed, fields, saved lists and triggers are standard in most CRM tools. The data team supplies the monthly group update.</a:t>
            </a:r>
            <a:endParaRPr lang="en-US" sz="1500" dirty="0"/>
          </a:p>
        </p:txBody>
      </p:sp>
      <p:sp>
        <p:nvSpPr>
          <p:cNvPr id="39"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HOW IT FITS TOGETHER</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From sales data to results: a simple monthly cycle</a:t>
            </a:r>
            <a:endParaRPr lang="en-US" sz="2600" dirty="0"/>
          </a:p>
        </p:txBody>
      </p:sp>
      <p:sp>
        <p:nvSpPr>
          <p:cNvPr id="4" name="Shape 2"/>
          <p:cNvSpPr/>
          <p:nvPr/>
        </p:nvSpPr>
        <p:spPr>
          <a:xfrm>
            <a:off x="548640" y="1828800"/>
            <a:ext cx="2331720" cy="2926080"/>
          </a:xfrm>
          <a:prstGeom prst="roundRect">
            <a:avLst>
              <a:gd name="adj" fmla="val 3922"/>
            </a:avLst>
          </a:prstGeom>
          <a:solidFill>
            <a:srgbClr val="F3F5F8"/>
          </a:solidFill>
          <a:ln w="12700">
            <a:solidFill>
              <a:srgbClr val="F3F5F8"/>
            </a:solidFill>
            <a:prstDash val="solid"/>
          </a:ln>
        </p:spPr>
        <p:txBody>
          <a:bodyPr/>
          <a:lstStyle/>
          <a:p>
            <a:endParaRPr lang="en-CA"/>
          </a:p>
        </p:txBody>
      </p:sp>
      <p:sp>
        <p:nvSpPr>
          <p:cNvPr id="5" name="Shape 3"/>
          <p:cNvSpPr/>
          <p:nvPr/>
        </p:nvSpPr>
        <p:spPr>
          <a:xfrm>
            <a:off x="1303020" y="2103120"/>
            <a:ext cx="822960" cy="822960"/>
          </a:xfrm>
          <a:prstGeom prst="ellipse">
            <a:avLst/>
          </a:prstGeom>
          <a:solidFill>
            <a:srgbClr val="1E2B3A"/>
          </a:solidFill>
          <a:ln w="12700">
            <a:solidFill>
              <a:srgbClr val="1E2B3A"/>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1508760" y="2308860"/>
            <a:ext cx="411480" cy="411480"/>
          </a:xfrm>
          <a:prstGeom prst="rect">
            <a:avLst/>
          </a:prstGeom>
        </p:spPr>
      </p:pic>
      <p:sp>
        <p:nvSpPr>
          <p:cNvPr id="7" name="Text 4"/>
          <p:cNvSpPr txBox="1"/>
          <p:nvPr/>
        </p:nvSpPr>
        <p:spPr>
          <a:xfrm>
            <a:off x="731520" y="3108960"/>
            <a:ext cx="1965960" cy="411480"/>
          </a:xfrm>
          <a:prstGeom prst="rect">
            <a:avLst/>
          </a:prstGeom>
          <a:noFill/>
          <a:ln/>
        </p:spPr>
        <p:txBody>
          <a:bodyPr wrap="square" lIns="0" tIns="0" rIns="0" bIns="0" rtlCol="0" anchor="t"/>
          <a:lstStyle/>
          <a:p>
            <a:pPr marL="0" indent="0" algn="ctr">
              <a:buNone/>
            </a:pPr>
            <a:r>
              <a:rPr lang="en-US" sz="1800" b="1" dirty="0">
                <a:solidFill>
                  <a:srgbClr val="1E2B3A"/>
                </a:solidFill>
                <a:latin typeface="Calibri" pitchFamily="34" charset="0"/>
                <a:ea typeface="Calibri" pitchFamily="34" charset="-122"/>
                <a:cs typeface="Calibri" pitchFamily="34" charset="-120"/>
              </a:rPr>
              <a:t>Sales data</a:t>
            </a:r>
            <a:endParaRPr lang="en-US" sz="1800" dirty="0"/>
          </a:p>
        </p:txBody>
      </p:sp>
      <p:sp>
        <p:nvSpPr>
          <p:cNvPr id="8" name="Text 5"/>
          <p:cNvSpPr txBox="1"/>
          <p:nvPr/>
        </p:nvSpPr>
        <p:spPr>
          <a:xfrm>
            <a:off x="731520" y="3611880"/>
            <a:ext cx="1965960" cy="1005840"/>
          </a:xfrm>
          <a:prstGeom prst="rect">
            <a:avLst/>
          </a:prstGeom>
          <a:noFill/>
          <a:ln/>
        </p:spPr>
        <p:txBody>
          <a:bodyPr wrap="square" lIns="0" tIns="0" rIns="0" bIns="0" rtlCol="0" anchor="t"/>
          <a:lstStyle/>
          <a:p>
            <a:pPr marL="0" indent="0" algn="ctr">
              <a:buNone/>
            </a:pPr>
            <a:r>
              <a:rPr lang="en-US" sz="1400" dirty="0">
                <a:solidFill>
                  <a:srgbClr val="5B6675"/>
                </a:solidFill>
                <a:latin typeface="Calibri" pitchFamily="34" charset="0"/>
                <a:ea typeface="Calibri" pitchFamily="34" charset="-122"/>
                <a:cs typeface="Calibri" pitchFamily="34" charset="-120"/>
              </a:rPr>
              <a:t>Every order and cancellation, linked to a customer number</a:t>
            </a:r>
            <a:endParaRPr lang="en-US" sz="1400" dirty="0"/>
          </a:p>
        </p:txBody>
      </p:sp>
      <p:sp>
        <p:nvSpPr>
          <p:cNvPr id="9" name="Shape 6"/>
          <p:cNvSpPr/>
          <p:nvPr/>
        </p:nvSpPr>
        <p:spPr>
          <a:xfrm>
            <a:off x="2923489" y="3063240"/>
            <a:ext cx="502920" cy="411480"/>
          </a:xfrm>
          <a:prstGeom prst="rightArrow">
            <a:avLst/>
          </a:prstGeom>
          <a:solidFill>
            <a:srgbClr val="B8C0CB"/>
          </a:solidFill>
          <a:ln w="12700">
            <a:solidFill>
              <a:srgbClr val="B8C0CB"/>
            </a:solidFill>
            <a:prstDash val="solid"/>
          </a:ln>
        </p:spPr>
        <p:txBody>
          <a:bodyPr/>
          <a:lstStyle/>
          <a:p>
            <a:endParaRPr lang="en-CA"/>
          </a:p>
        </p:txBody>
      </p:sp>
      <p:sp>
        <p:nvSpPr>
          <p:cNvPr id="10" name="Shape 7"/>
          <p:cNvSpPr/>
          <p:nvPr/>
        </p:nvSpPr>
        <p:spPr>
          <a:xfrm>
            <a:off x="3469538" y="1828800"/>
            <a:ext cx="2331720" cy="2926080"/>
          </a:xfrm>
          <a:prstGeom prst="roundRect">
            <a:avLst>
              <a:gd name="adj" fmla="val 3922"/>
            </a:avLst>
          </a:prstGeom>
          <a:solidFill>
            <a:srgbClr val="F3F5F8"/>
          </a:solidFill>
          <a:ln w="12700">
            <a:solidFill>
              <a:srgbClr val="F3F5F8"/>
            </a:solidFill>
            <a:prstDash val="solid"/>
          </a:ln>
        </p:spPr>
        <p:txBody>
          <a:bodyPr/>
          <a:lstStyle/>
          <a:p>
            <a:endParaRPr lang="en-CA"/>
          </a:p>
        </p:txBody>
      </p:sp>
      <p:sp>
        <p:nvSpPr>
          <p:cNvPr id="11" name="Shape 8"/>
          <p:cNvSpPr/>
          <p:nvPr/>
        </p:nvSpPr>
        <p:spPr>
          <a:xfrm>
            <a:off x="4223918" y="2103120"/>
            <a:ext cx="822960" cy="822960"/>
          </a:xfrm>
          <a:prstGeom prst="ellipse">
            <a:avLst/>
          </a:prstGeom>
          <a:solidFill>
            <a:srgbClr val="1E2B3A"/>
          </a:solidFill>
          <a:ln w="12700">
            <a:solidFill>
              <a:srgbClr val="1E2B3A"/>
            </a:solidFill>
            <a:prstDash val="solid"/>
          </a:ln>
        </p:spPr>
        <p:txBody>
          <a:bodyPr/>
          <a:lstStyle/>
          <a:p>
            <a:endParaRPr lang="en-CA"/>
          </a:p>
        </p:txBody>
      </p:sp>
      <p:pic>
        <p:nvPicPr>
          <p:cNvPr id="12" name="Image 1" descr="preencoded.png"/>
          <p:cNvPicPr>
            <a:picLocks noChangeAspect="1"/>
          </p:cNvPicPr>
          <p:nvPr/>
        </p:nvPicPr>
        <p:blipFill>
          <a:blip r:embed="rId4"/>
          <a:stretch>
            <a:fillRect/>
          </a:stretch>
        </p:blipFill>
        <p:spPr>
          <a:xfrm>
            <a:off x="4429658" y="2308860"/>
            <a:ext cx="411480" cy="411480"/>
          </a:xfrm>
          <a:prstGeom prst="rect">
            <a:avLst/>
          </a:prstGeom>
        </p:spPr>
      </p:pic>
      <p:sp>
        <p:nvSpPr>
          <p:cNvPr id="13" name="Text 9"/>
          <p:cNvSpPr txBox="1"/>
          <p:nvPr/>
        </p:nvSpPr>
        <p:spPr>
          <a:xfrm>
            <a:off x="3652418" y="3108960"/>
            <a:ext cx="1965960" cy="411480"/>
          </a:xfrm>
          <a:prstGeom prst="rect">
            <a:avLst/>
          </a:prstGeom>
          <a:noFill/>
          <a:ln/>
        </p:spPr>
        <p:txBody>
          <a:bodyPr wrap="square" lIns="0" tIns="0" rIns="0" bIns="0" rtlCol="0" anchor="t"/>
          <a:lstStyle/>
          <a:p>
            <a:pPr marL="0" indent="0" algn="ctr">
              <a:buNone/>
            </a:pPr>
            <a:r>
              <a:rPr lang="en-US" sz="1800" b="1" dirty="0">
                <a:solidFill>
                  <a:srgbClr val="1E2B3A"/>
                </a:solidFill>
                <a:latin typeface="Calibri" pitchFamily="34" charset="0"/>
                <a:ea typeface="Calibri" pitchFamily="34" charset="-122"/>
                <a:cs typeface="Calibri" pitchFamily="34" charset="-120"/>
              </a:rPr>
              <a:t>Grouping</a:t>
            </a:r>
            <a:endParaRPr lang="en-US" sz="1800" dirty="0"/>
          </a:p>
        </p:txBody>
      </p:sp>
      <p:sp>
        <p:nvSpPr>
          <p:cNvPr id="14" name="Text 10"/>
          <p:cNvSpPr txBox="1"/>
          <p:nvPr/>
        </p:nvSpPr>
        <p:spPr>
          <a:xfrm>
            <a:off x="3652418" y="3611880"/>
            <a:ext cx="1965960" cy="1005840"/>
          </a:xfrm>
          <a:prstGeom prst="rect">
            <a:avLst/>
          </a:prstGeom>
          <a:noFill/>
          <a:ln/>
        </p:spPr>
        <p:txBody>
          <a:bodyPr wrap="square" lIns="0" tIns="0" rIns="0" bIns="0" rtlCol="0" anchor="t"/>
          <a:lstStyle/>
          <a:p>
            <a:pPr marL="0" indent="0" algn="ctr">
              <a:buNone/>
            </a:pPr>
            <a:r>
              <a:rPr lang="en-US" sz="1400" dirty="0">
                <a:solidFill>
                  <a:srgbClr val="5B6675"/>
                </a:solidFill>
                <a:latin typeface="Calibri" pitchFamily="34" charset="0"/>
                <a:ea typeface="Calibri" pitchFamily="34" charset="-122"/>
                <a:cs typeface="Calibri" pitchFamily="34" charset="-120"/>
              </a:rPr>
              <a:t>Score each customer and assign one of five groups, monthly</a:t>
            </a:r>
            <a:endParaRPr lang="en-US" sz="1400" dirty="0"/>
          </a:p>
        </p:txBody>
      </p:sp>
      <p:sp>
        <p:nvSpPr>
          <p:cNvPr id="15" name="Shape 11"/>
          <p:cNvSpPr/>
          <p:nvPr/>
        </p:nvSpPr>
        <p:spPr>
          <a:xfrm>
            <a:off x="5844388" y="3063240"/>
            <a:ext cx="502920" cy="411480"/>
          </a:xfrm>
          <a:prstGeom prst="rightArrow">
            <a:avLst/>
          </a:prstGeom>
          <a:solidFill>
            <a:srgbClr val="B8C0CB"/>
          </a:solidFill>
          <a:ln w="12700">
            <a:solidFill>
              <a:srgbClr val="B8C0CB"/>
            </a:solidFill>
            <a:prstDash val="solid"/>
          </a:ln>
        </p:spPr>
        <p:txBody>
          <a:bodyPr/>
          <a:lstStyle/>
          <a:p>
            <a:endParaRPr lang="en-CA"/>
          </a:p>
        </p:txBody>
      </p:sp>
      <p:sp>
        <p:nvSpPr>
          <p:cNvPr id="16" name="Shape 12"/>
          <p:cNvSpPr/>
          <p:nvPr/>
        </p:nvSpPr>
        <p:spPr>
          <a:xfrm>
            <a:off x="6390437" y="1828800"/>
            <a:ext cx="2331720" cy="2926080"/>
          </a:xfrm>
          <a:prstGeom prst="roundRect">
            <a:avLst>
              <a:gd name="adj" fmla="val 3922"/>
            </a:avLst>
          </a:prstGeom>
          <a:solidFill>
            <a:srgbClr val="F3F5F8"/>
          </a:solidFill>
          <a:ln w="12700">
            <a:solidFill>
              <a:srgbClr val="F3F5F8"/>
            </a:solidFill>
            <a:prstDash val="solid"/>
          </a:ln>
        </p:spPr>
        <p:txBody>
          <a:bodyPr/>
          <a:lstStyle/>
          <a:p>
            <a:endParaRPr lang="en-CA"/>
          </a:p>
        </p:txBody>
      </p:sp>
      <p:sp>
        <p:nvSpPr>
          <p:cNvPr id="17" name="Shape 13"/>
          <p:cNvSpPr/>
          <p:nvPr/>
        </p:nvSpPr>
        <p:spPr>
          <a:xfrm>
            <a:off x="7144817" y="2103120"/>
            <a:ext cx="822960" cy="822960"/>
          </a:xfrm>
          <a:prstGeom prst="ellipse">
            <a:avLst/>
          </a:prstGeom>
          <a:solidFill>
            <a:srgbClr val="1E2B3A"/>
          </a:solidFill>
          <a:ln w="12700">
            <a:solidFill>
              <a:srgbClr val="1E2B3A"/>
            </a:solidFill>
            <a:prstDash val="solid"/>
          </a:ln>
        </p:spPr>
        <p:txBody>
          <a:bodyPr/>
          <a:lstStyle/>
          <a:p>
            <a:endParaRPr lang="en-CA"/>
          </a:p>
        </p:txBody>
      </p:sp>
      <p:pic>
        <p:nvPicPr>
          <p:cNvPr id="18" name="Image 2" descr="preencoded.png"/>
          <p:cNvPicPr>
            <a:picLocks noChangeAspect="1"/>
          </p:cNvPicPr>
          <p:nvPr/>
        </p:nvPicPr>
        <p:blipFill>
          <a:blip r:embed="rId5"/>
          <a:stretch>
            <a:fillRect/>
          </a:stretch>
        </p:blipFill>
        <p:spPr>
          <a:xfrm>
            <a:off x="7350557" y="2308860"/>
            <a:ext cx="411480" cy="411480"/>
          </a:xfrm>
          <a:prstGeom prst="rect">
            <a:avLst/>
          </a:prstGeom>
        </p:spPr>
      </p:pic>
      <p:sp>
        <p:nvSpPr>
          <p:cNvPr id="19" name="Text 14"/>
          <p:cNvSpPr txBox="1"/>
          <p:nvPr/>
        </p:nvSpPr>
        <p:spPr>
          <a:xfrm>
            <a:off x="6573317" y="3108960"/>
            <a:ext cx="1965960" cy="411480"/>
          </a:xfrm>
          <a:prstGeom prst="rect">
            <a:avLst/>
          </a:prstGeom>
          <a:noFill/>
          <a:ln/>
        </p:spPr>
        <p:txBody>
          <a:bodyPr wrap="square" lIns="0" tIns="0" rIns="0" bIns="0" rtlCol="0" anchor="t"/>
          <a:lstStyle/>
          <a:p>
            <a:pPr marL="0" indent="0" algn="ctr">
              <a:buNone/>
            </a:pPr>
            <a:r>
              <a:rPr lang="en-US" sz="1800" b="1" dirty="0">
                <a:solidFill>
                  <a:srgbClr val="1E2B3A"/>
                </a:solidFill>
                <a:latin typeface="Calibri" pitchFamily="34" charset="0"/>
                <a:ea typeface="Calibri" pitchFamily="34" charset="-122"/>
                <a:cs typeface="Calibri" pitchFamily="34" charset="-120"/>
              </a:rPr>
              <a:t>CRM action</a:t>
            </a:r>
            <a:endParaRPr lang="en-US" sz="1800" dirty="0"/>
          </a:p>
        </p:txBody>
      </p:sp>
      <p:sp>
        <p:nvSpPr>
          <p:cNvPr id="20" name="Text 15"/>
          <p:cNvSpPr txBox="1"/>
          <p:nvPr/>
        </p:nvSpPr>
        <p:spPr>
          <a:xfrm>
            <a:off x="6573317" y="3611880"/>
            <a:ext cx="1965960" cy="1005840"/>
          </a:xfrm>
          <a:prstGeom prst="rect">
            <a:avLst/>
          </a:prstGeom>
          <a:noFill/>
          <a:ln/>
        </p:spPr>
        <p:txBody>
          <a:bodyPr wrap="square" lIns="0" tIns="0" rIns="0" bIns="0" rtlCol="0" anchor="t"/>
          <a:lstStyle/>
          <a:p>
            <a:pPr marL="0" indent="0" algn="ctr">
              <a:buNone/>
            </a:pPr>
            <a:r>
              <a:rPr lang="en-US" sz="1400" dirty="0">
                <a:solidFill>
                  <a:srgbClr val="5B6675"/>
                </a:solidFill>
                <a:latin typeface="Calibri" pitchFamily="34" charset="0"/>
                <a:ea typeface="Calibri" pitchFamily="34" charset="-122"/>
                <a:cs typeface="Calibri" pitchFamily="34" charset="-120"/>
              </a:rPr>
              <a:t>Right offer, channel and timing for each group</a:t>
            </a:r>
            <a:endParaRPr lang="en-US" sz="1400" dirty="0"/>
          </a:p>
        </p:txBody>
      </p:sp>
      <p:sp>
        <p:nvSpPr>
          <p:cNvPr id="21" name="Shape 16"/>
          <p:cNvSpPr/>
          <p:nvPr/>
        </p:nvSpPr>
        <p:spPr>
          <a:xfrm>
            <a:off x="8765286" y="3063240"/>
            <a:ext cx="502920" cy="411480"/>
          </a:xfrm>
          <a:prstGeom prst="rightArrow">
            <a:avLst/>
          </a:prstGeom>
          <a:solidFill>
            <a:srgbClr val="B8C0CB"/>
          </a:solidFill>
          <a:ln w="12700">
            <a:solidFill>
              <a:srgbClr val="B8C0CB"/>
            </a:solidFill>
            <a:prstDash val="solid"/>
          </a:ln>
        </p:spPr>
        <p:txBody>
          <a:bodyPr/>
          <a:lstStyle/>
          <a:p>
            <a:endParaRPr lang="en-CA"/>
          </a:p>
        </p:txBody>
      </p:sp>
      <p:sp>
        <p:nvSpPr>
          <p:cNvPr id="22" name="Shape 17"/>
          <p:cNvSpPr/>
          <p:nvPr/>
        </p:nvSpPr>
        <p:spPr>
          <a:xfrm>
            <a:off x="9311335" y="1828800"/>
            <a:ext cx="2331720" cy="2926080"/>
          </a:xfrm>
          <a:prstGeom prst="roundRect">
            <a:avLst>
              <a:gd name="adj" fmla="val 3922"/>
            </a:avLst>
          </a:prstGeom>
          <a:solidFill>
            <a:srgbClr val="F3F5F8"/>
          </a:solidFill>
          <a:ln w="12700">
            <a:solidFill>
              <a:srgbClr val="F3F5F8"/>
            </a:solidFill>
            <a:prstDash val="solid"/>
          </a:ln>
        </p:spPr>
        <p:txBody>
          <a:bodyPr/>
          <a:lstStyle/>
          <a:p>
            <a:endParaRPr lang="en-CA"/>
          </a:p>
        </p:txBody>
      </p:sp>
      <p:sp>
        <p:nvSpPr>
          <p:cNvPr id="23" name="Shape 18"/>
          <p:cNvSpPr/>
          <p:nvPr/>
        </p:nvSpPr>
        <p:spPr>
          <a:xfrm>
            <a:off x="10065715" y="2103120"/>
            <a:ext cx="822960" cy="822960"/>
          </a:xfrm>
          <a:prstGeom prst="ellipse">
            <a:avLst/>
          </a:prstGeom>
          <a:solidFill>
            <a:srgbClr val="1E2B3A"/>
          </a:solidFill>
          <a:ln w="12700">
            <a:solidFill>
              <a:srgbClr val="1E2B3A"/>
            </a:solidFill>
            <a:prstDash val="solid"/>
          </a:ln>
        </p:spPr>
        <p:txBody>
          <a:bodyPr/>
          <a:lstStyle/>
          <a:p>
            <a:endParaRPr lang="en-CA"/>
          </a:p>
        </p:txBody>
      </p:sp>
      <p:pic>
        <p:nvPicPr>
          <p:cNvPr id="24" name="Image 3" descr="preencoded.png"/>
          <p:cNvPicPr>
            <a:picLocks noChangeAspect="1"/>
          </p:cNvPicPr>
          <p:nvPr/>
        </p:nvPicPr>
        <p:blipFill>
          <a:blip r:embed="rId6"/>
          <a:stretch>
            <a:fillRect/>
          </a:stretch>
        </p:blipFill>
        <p:spPr>
          <a:xfrm>
            <a:off x="10271455" y="2308860"/>
            <a:ext cx="411480" cy="411480"/>
          </a:xfrm>
          <a:prstGeom prst="rect">
            <a:avLst/>
          </a:prstGeom>
        </p:spPr>
      </p:pic>
      <p:sp>
        <p:nvSpPr>
          <p:cNvPr id="25" name="Text 19"/>
          <p:cNvSpPr txBox="1"/>
          <p:nvPr/>
        </p:nvSpPr>
        <p:spPr>
          <a:xfrm>
            <a:off x="9494215" y="3108960"/>
            <a:ext cx="1965960" cy="411480"/>
          </a:xfrm>
          <a:prstGeom prst="rect">
            <a:avLst/>
          </a:prstGeom>
          <a:noFill/>
          <a:ln/>
        </p:spPr>
        <p:txBody>
          <a:bodyPr wrap="square" lIns="0" tIns="0" rIns="0" bIns="0" rtlCol="0" anchor="t"/>
          <a:lstStyle/>
          <a:p>
            <a:pPr marL="0" indent="0" algn="ctr">
              <a:buNone/>
            </a:pPr>
            <a:r>
              <a:rPr lang="en-US" sz="1800" b="1" dirty="0">
                <a:solidFill>
                  <a:srgbClr val="1E2B3A"/>
                </a:solidFill>
                <a:latin typeface="Calibri" pitchFamily="34" charset="0"/>
                <a:ea typeface="Calibri" pitchFamily="34" charset="-122"/>
                <a:cs typeface="Calibri" pitchFamily="34" charset="-120"/>
              </a:rPr>
              <a:t>Business outcome</a:t>
            </a:r>
            <a:endParaRPr lang="en-US" sz="1800" dirty="0"/>
          </a:p>
        </p:txBody>
      </p:sp>
      <p:sp>
        <p:nvSpPr>
          <p:cNvPr id="26" name="Text 20"/>
          <p:cNvSpPr txBox="1"/>
          <p:nvPr/>
        </p:nvSpPr>
        <p:spPr>
          <a:xfrm>
            <a:off x="9494215" y="3611880"/>
            <a:ext cx="1965960" cy="1005840"/>
          </a:xfrm>
          <a:prstGeom prst="rect">
            <a:avLst/>
          </a:prstGeom>
          <a:noFill/>
          <a:ln/>
        </p:spPr>
        <p:txBody>
          <a:bodyPr wrap="square" lIns="0" tIns="0" rIns="0" bIns="0" rtlCol="0" anchor="t"/>
          <a:lstStyle/>
          <a:p>
            <a:pPr marL="0" indent="0" algn="ctr">
              <a:buNone/>
            </a:pPr>
            <a:r>
              <a:rPr lang="en-US" sz="1400" dirty="0">
                <a:solidFill>
                  <a:srgbClr val="5B6675"/>
                </a:solidFill>
                <a:latin typeface="Calibri" pitchFamily="34" charset="0"/>
                <a:ea typeface="Calibri" pitchFamily="34" charset="-122"/>
                <a:cs typeface="Calibri" pitchFamily="34" charset="-120"/>
              </a:rPr>
              <a:t>More repeat orders, fewer customers lost, spend by group</a:t>
            </a:r>
            <a:endParaRPr lang="en-US" sz="1400" dirty="0"/>
          </a:p>
        </p:txBody>
      </p:sp>
      <p:sp>
        <p:nvSpPr>
          <p:cNvPr id="27" name="Shape 21"/>
          <p:cNvSpPr/>
          <p:nvPr/>
        </p:nvSpPr>
        <p:spPr>
          <a:xfrm>
            <a:off x="1737360" y="5166360"/>
            <a:ext cx="8716975" cy="685800"/>
          </a:xfrm>
          <a:prstGeom prst="roundRect">
            <a:avLst>
              <a:gd name="adj" fmla="val 46667"/>
            </a:avLst>
          </a:prstGeom>
          <a:solidFill>
            <a:srgbClr val="FFFFFF"/>
          </a:solidFill>
          <a:ln w="19050">
            <a:solidFill>
              <a:srgbClr val="B8C0CB"/>
            </a:solidFill>
            <a:prstDash val="dash"/>
          </a:ln>
        </p:spPr>
        <p:txBody>
          <a:bodyPr/>
          <a:lstStyle/>
          <a:p>
            <a:endParaRPr lang="en-CA"/>
          </a:p>
        </p:txBody>
      </p:sp>
      <p:pic>
        <p:nvPicPr>
          <p:cNvPr id="28" name="Image 4" descr="preencoded.png"/>
          <p:cNvPicPr>
            <a:picLocks noChangeAspect="1"/>
          </p:cNvPicPr>
          <p:nvPr/>
        </p:nvPicPr>
        <p:blipFill>
          <a:blip r:embed="rId7"/>
          <a:stretch>
            <a:fillRect/>
          </a:stretch>
        </p:blipFill>
        <p:spPr>
          <a:xfrm>
            <a:off x="2057400" y="5340096"/>
            <a:ext cx="329184" cy="329184"/>
          </a:xfrm>
          <a:prstGeom prst="rect">
            <a:avLst/>
          </a:prstGeom>
        </p:spPr>
      </p:pic>
      <p:sp>
        <p:nvSpPr>
          <p:cNvPr id="29" name="Text 22"/>
          <p:cNvSpPr txBox="1"/>
          <p:nvPr/>
        </p:nvSpPr>
        <p:spPr>
          <a:xfrm>
            <a:off x="2560320" y="5166360"/>
            <a:ext cx="7253935" cy="685800"/>
          </a:xfrm>
          <a:prstGeom prst="rect">
            <a:avLst/>
          </a:prstGeom>
          <a:noFill/>
          <a:ln/>
        </p:spPr>
        <p:txBody>
          <a:bodyPr wrap="square" lIns="0" tIns="0" rIns="0" bIns="0" rtlCol="0" anchor="ctr"/>
          <a:lstStyle/>
          <a:p>
            <a:pPr marL="0" indent="0">
              <a:buNone/>
            </a:pPr>
            <a:r>
              <a:rPr lang="en-US" sz="1500" b="1" dirty="0">
                <a:solidFill>
                  <a:srgbClr val="1E2B3A"/>
                </a:solidFill>
                <a:latin typeface="Calibri" pitchFamily="34" charset="0"/>
                <a:ea typeface="Calibri" pitchFamily="34" charset="-122"/>
                <a:cs typeface="Calibri" pitchFamily="34" charset="-120"/>
              </a:rPr>
              <a:t>Measure the results, then refresh the groups at the start of every month</a:t>
            </a:r>
            <a:endParaRPr lang="en-US" sz="1500" dirty="0"/>
          </a:p>
        </p:txBody>
      </p:sp>
      <p:sp>
        <p:nvSpPr>
          <p:cNvPr id="30"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WHAT TO KEEP IN MIND</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Risks, assumptions and limits of this analysis</a:t>
            </a:r>
            <a:endParaRPr lang="en-US" sz="2600" dirty="0"/>
          </a:p>
        </p:txBody>
      </p:sp>
      <p:sp>
        <p:nvSpPr>
          <p:cNvPr id="4" name="Shape 2"/>
          <p:cNvSpPr/>
          <p:nvPr/>
        </p:nvSpPr>
        <p:spPr>
          <a:xfrm>
            <a:off x="548640" y="1645920"/>
            <a:ext cx="3515258" cy="2011680"/>
          </a:xfrm>
          <a:prstGeom prst="roundRect">
            <a:avLst>
              <a:gd name="adj" fmla="val 4545"/>
            </a:avLst>
          </a:prstGeom>
          <a:solidFill>
            <a:srgbClr val="F3F5F8"/>
          </a:solidFill>
          <a:ln w="12700">
            <a:solidFill>
              <a:srgbClr val="F3F5F8"/>
            </a:solidFill>
            <a:prstDash val="solid"/>
          </a:ln>
        </p:spPr>
        <p:txBody>
          <a:bodyPr/>
          <a:lstStyle/>
          <a:p>
            <a:endParaRPr lang="en-CA"/>
          </a:p>
        </p:txBody>
      </p:sp>
      <p:sp>
        <p:nvSpPr>
          <p:cNvPr id="5" name="Shape 3"/>
          <p:cNvSpPr/>
          <p:nvPr/>
        </p:nvSpPr>
        <p:spPr>
          <a:xfrm>
            <a:off x="777240" y="187452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6" name="Image 0" descr="preencoded.png"/>
          <p:cNvPicPr>
            <a:picLocks noChangeAspect="1"/>
          </p:cNvPicPr>
          <p:nvPr/>
        </p:nvPicPr>
        <p:blipFill>
          <a:blip r:embed="rId3"/>
          <a:stretch>
            <a:fillRect/>
          </a:stretch>
        </p:blipFill>
        <p:spPr>
          <a:xfrm>
            <a:off x="902970" y="2000250"/>
            <a:ext cx="251460" cy="251460"/>
          </a:xfrm>
          <a:prstGeom prst="rect">
            <a:avLst/>
          </a:prstGeom>
        </p:spPr>
      </p:pic>
      <p:sp>
        <p:nvSpPr>
          <p:cNvPr id="7" name="Text 4"/>
          <p:cNvSpPr txBox="1"/>
          <p:nvPr/>
        </p:nvSpPr>
        <p:spPr>
          <a:xfrm>
            <a:off x="1417320" y="1847088"/>
            <a:ext cx="2509418" cy="566928"/>
          </a:xfrm>
          <a:prstGeom prst="rect">
            <a:avLst/>
          </a:prstGeom>
          <a:noFill/>
          <a:ln/>
        </p:spPr>
        <p:txBody>
          <a:bodyPr wrap="square" lIns="0" tIns="0" rIns="0" bIns="0" rtlCol="0" anchor="ctr"/>
          <a:lstStyle/>
          <a:p>
            <a:pPr marL="0" indent="0">
              <a:buNone/>
            </a:pPr>
            <a:r>
              <a:rPr lang="en-US" sz="1450" b="1" dirty="0">
                <a:solidFill>
                  <a:srgbClr val="1E2B3A"/>
                </a:solidFill>
                <a:latin typeface="Calibri" pitchFamily="34" charset="0"/>
                <a:ea typeface="Calibri" pitchFamily="34" charset="-122"/>
                <a:cs typeface="Calibri" pitchFamily="34" charset="-120"/>
              </a:rPr>
              <a:t>Guest buyers are not included</a:t>
            </a:r>
            <a:endParaRPr lang="en-US" sz="1450" dirty="0"/>
          </a:p>
        </p:txBody>
      </p:sp>
      <p:sp>
        <p:nvSpPr>
          <p:cNvPr id="8" name="Text 5"/>
          <p:cNvSpPr txBox="1"/>
          <p:nvPr/>
        </p:nvSpPr>
        <p:spPr>
          <a:xfrm>
            <a:off x="777240" y="2487168"/>
            <a:ext cx="3103778" cy="100584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23% of sales lines had no customer number (about 14% of spend). These buyers are in no group.</a:t>
            </a:r>
            <a:endParaRPr lang="en-US" sz="1400" dirty="0"/>
          </a:p>
        </p:txBody>
      </p:sp>
      <p:sp>
        <p:nvSpPr>
          <p:cNvPr id="9" name="Shape 6"/>
          <p:cNvSpPr/>
          <p:nvPr/>
        </p:nvSpPr>
        <p:spPr>
          <a:xfrm>
            <a:off x="4338218" y="1645920"/>
            <a:ext cx="3515258" cy="2011680"/>
          </a:xfrm>
          <a:prstGeom prst="roundRect">
            <a:avLst>
              <a:gd name="adj" fmla="val 4545"/>
            </a:avLst>
          </a:prstGeom>
          <a:solidFill>
            <a:srgbClr val="F3F5F8"/>
          </a:solidFill>
          <a:ln w="12700">
            <a:solidFill>
              <a:srgbClr val="F3F5F8"/>
            </a:solidFill>
            <a:prstDash val="solid"/>
          </a:ln>
        </p:spPr>
        <p:txBody>
          <a:bodyPr/>
          <a:lstStyle/>
          <a:p>
            <a:endParaRPr lang="en-CA"/>
          </a:p>
        </p:txBody>
      </p:sp>
      <p:sp>
        <p:nvSpPr>
          <p:cNvPr id="10" name="Shape 7"/>
          <p:cNvSpPr/>
          <p:nvPr/>
        </p:nvSpPr>
        <p:spPr>
          <a:xfrm>
            <a:off x="4566818" y="187452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11" name="Image 1" descr="preencoded.png"/>
          <p:cNvPicPr>
            <a:picLocks noChangeAspect="1"/>
          </p:cNvPicPr>
          <p:nvPr/>
        </p:nvPicPr>
        <p:blipFill>
          <a:blip r:embed="rId4"/>
          <a:stretch>
            <a:fillRect/>
          </a:stretch>
        </p:blipFill>
        <p:spPr>
          <a:xfrm>
            <a:off x="4692548" y="2000250"/>
            <a:ext cx="251460" cy="251460"/>
          </a:xfrm>
          <a:prstGeom prst="rect">
            <a:avLst/>
          </a:prstGeom>
        </p:spPr>
      </p:pic>
      <p:sp>
        <p:nvSpPr>
          <p:cNvPr id="12" name="Text 8"/>
          <p:cNvSpPr txBox="1"/>
          <p:nvPr/>
        </p:nvSpPr>
        <p:spPr>
          <a:xfrm>
            <a:off x="5206898" y="1847088"/>
            <a:ext cx="2509418" cy="566928"/>
          </a:xfrm>
          <a:prstGeom prst="rect">
            <a:avLst/>
          </a:prstGeom>
          <a:noFill/>
          <a:ln/>
        </p:spPr>
        <p:txBody>
          <a:bodyPr wrap="square" lIns="0" tIns="0" rIns="0" bIns="0" rtlCol="0" anchor="ctr"/>
          <a:lstStyle/>
          <a:p>
            <a:pPr marL="0" indent="0">
              <a:buNone/>
            </a:pPr>
            <a:r>
              <a:rPr lang="en-US" sz="1450" b="1" dirty="0">
                <a:solidFill>
                  <a:srgbClr val="1E2B3A"/>
                </a:solidFill>
                <a:latin typeface="Calibri" pitchFamily="34" charset="0"/>
                <a:ea typeface="Calibri" pitchFamily="34" charset="-122"/>
                <a:cs typeface="Calibri" pitchFamily="34" charset="-120"/>
              </a:rPr>
              <a:t>The data is from 2009 to 2011</a:t>
            </a:r>
            <a:endParaRPr lang="en-US" sz="1450" dirty="0"/>
          </a:p>
        </p:txBody>
      </p:sp>
      <p:sp>
        <p:nvSpPr>
          <p:cNvPr id="13" name="Text 9"/>
          <p:cNvSpPr txBox="1"/>
          <p:nvPr/>
        </p:nvSpPr>
        <p:spPr>
          <a:xfrm>
            <a:off x="4566818" y="2487168"/>
            <a:ext cx="3103778" cy="100584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Check the patterns on current data before any large spend.</a:t>
            </a:r>
            <a:endParaRPr lang="en-US" sz="1400" dirty="0"/>
          </a:p>
        </p:txBody>
      </p:sp>
      <p:sp>
        <p:nvSpPr>
          <p:cNvPr id="14" name="Shape 10"/>
          <p:cNvSpPr/>
          <p:nvPr/>
        </p:nvSpPr>
        <p:spPr>
          <a:xfrm>
            <a:off x="8127797" y="1645920"/>
            <a:ext cx="3515258" cy="2011680"/>
          </a:xfrm>
          <a:prstGeom prst="roundRect">
            <a:avLst>
              <a:gd name="adj" fmla="val 4545"/>
            </a:avLst>
          </a:prstGeom>
          <a:solidFill>
            <a:srgbClr val="F3F5F8"/>
          </a:solidFill>
          <a:ln w="12700">
            <a:solidFill>
              <a:srgbClr val="F3F5F8"/>
            </a:solidFill>
            <a:prstDash val="solid"/>
          </a:ln>
        </p:spPr>
        <p:txBody>
          <a:bodyPr/>
          <a:lstStyle/>
          <a:p>
            <a:endParaRPr lang="en-CA"/>
          </a:p>
        </p:txBody>
      </p:sp>
      <p:sp>
        <p:nvSpPr>
          <p:cNvPr id="15" name="Shape 11"/>
          <p:cNvSpPr/>
          <p:nvPr/>
        </p:nvSpPr>
        <p:spPr>
          <a:xfrm>
            <a:off x="8356397" y="187452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16" name="Image 2" descr="preencoded.png"/>
          <p:cNvPicPr>
            <a:picLocks noChangeAspect="1"/>
          </p:cNvPicPr>
          <p:nvPr/>
        </p:nvPicPr>
        <p:blipFill>
          <a:blip r:embed="rId5"/>
          <a:stretch>
            <a:fillRect/>
          </a:stretch>
        </p:blipFill>
        <p:spPr>
          <a:xfrm>
            <a:off x="8482127" y="2000250"/>
            <a:ext cx="251460" cy="251460"/>
          </a:xfrm>
          <a:prstGeom prst="rect">
            <a:avLst/>
          </a:prstGeom>
        </p:spPr>
      </p:pic>
      <p:sp>
        <p:nvSpPr>
          <p:cNvPr id="17" name="Text 12"/>
          <p:cNvSpPr txBox="1"/>
          <p:nvPr/>
        </p:nvSpPr>
        <p:spPr>
          <a:xfrm>
            <a:off x="8996477" y="1847088"/>
            <a:ext cx="2509418" cy="566928"/>
          </a:xfrm>
          <a:prstGeom prst="rect">
            <a:avLst/>
          </a:prstGeom>
          <a:noFill/>
          <a:ln/>
        </p:spPr>
        <p:txBody>
          <a:bodyPr wrap="square" lIns="0" tIns="0" rIns="0" bIns="0" rtlCol="0" anchor="ctr"/>
          <a:lstStyle/>
          <a:p>
            <a:pPr marL="0" indent="0">
              <a:buNone/>
            </a:pPr>
            <a:r>
              <a:rPr lang="en-US" sz="1450" b="1" dirty="0">
                <a:solidFill>
                  <a:srgbClr val="1E2B3A"/>
                </a:solidFill>
                <a:latin typeface="Calibri" pitchFamily="34" charset="0"/>
                <a:ea typeface="Calibri" pitchFamily="34" charset="-122"/>
                <a:cs typeface="Calibri" pitchFamily="34" charset="-120"/>
              </a:rPr>
              <a:t>Season changes the numbers</a:t>
            </a:r>
            <a:endParaRPr lang="en-US" sz="1450" dirty="0"/>
          </a:p>
        </p:txBody>
      </p:sp>
      <p:sp>
        <p:nvSpPr>
          <p:cNvPr id="18" name="Text 13"/>
          <p:cNvSpPr txBox="1"/>
          <p:nvPr/>
        </p:nvSpPr>
        <p:spPr>
          <a:xfrm>
            <a:off x="8356397" y="2487168"/>
            <a:ext cx="3103778" cy="100584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Figures shown are mostly from Sept to Dec, when more customers return. Summer is harder.</a:t>
            </a:r>
            <a:endParaRPr lang="en-US" sz="1400" dirty="0"/>
          </a:p>
        </p:txBody>
      </p:sp>
      <p:sp>
        <p:nvSpPr>
          <p:cNvPr id="19" name="Shape 14"/>
          <p:cNvSpPr/>
          <p:nvPr/>
        </p:nvSpPr>
        <p:spPr>
          <a:xfrm>
            <a:off x="548640" y="3931920"/>
            <a:ext cx="3515258" cy="2011680"/>
          </a:xfrm>
          <a:prstGeom prst="roundRect">
            <a:avLst>
              <a:gd name="adj" fmla="val 4545"/>
            </a:avLst>
          </a:prstGeom>
          <a:solidFill>
            <a:srgbClr val="F3F5F8"/>
          </a:solidFill>
          <a:ln w="12700">
            <a:solidFill>
              <a:srgbClr val="F3F5F8"/>
            </a:solidFill>
            <a:prstDash val="solid"/>
          </a:ln>
        </p:spPr>
        <p:txBody>
          <a:bodyPr/>
          <a:lstStyle/>
          <a:p>
            <a:endParaRPr lang="en-CA"/>
          </a:p>
        </p:txBody>
      </p:sp>
      <p:sp>
        <p:nvSpPr>
          <p:cNvPr id="20" name="Shape 15"/>
          <p:cNvSpPr/>
          <p:nvPr/>
        </p:nvSpPr>
        <p:spPr>
          <a:xfrm>
            <a:off x="777240" y="416052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21" name="Image 3" descr="preencoded.png"/>
          <p:cNvPicPr>
            <a:picLocks noChangeAspect="1"/>
          </p:cNvPicPr>
          <p:nvPr/>
        </p:nvPicPr>
        <p:blipFill>
          <a:blip r:embed="rId6"/>
          <a:stretch>
            <a:fillRect/>
          </a:stretch>
        </p:blipFill>
        <p:spPr>
          <a:xfrm>
            <a:off x="902970" y="4286250"/>
            <a:ext cx="251460" cy="251460"/>
          </a:xfrm>
          <a:prstGeom prst="rect">
            <a:avLst/>
          </a:prstGeom>
        </p:spPr>
      </p:pic>
      <p:sp>
        <p:nvSpPr>
          <p:cNvPr id="22" name="Text 16"/>
          <p:cNvSpPr txBox="1"/>
          <p:nvPr/>
        </p:nvSpPr>
        <p:spPr>
          <a:xfrm>
            <a:off x="1417320" y="4133088"/>
            <a:ext cx="2509418" cy="566928"/>
          </a:xfrm>
          <a:prstGeom prst="rect">
            <a:avLst/>
          </a:prstGeom>
          <a:noFill/>
          <a:ln/>
        </p:spPr>
        <p:txBody>
          <a:bodyPr wrap="square" lIns="0" tIns="0" rIns="0" bIns="0" rtlCol="0" anchor="ctr"/>
          <a:lstStyle/>
          <a:p>
            <a:pPr marL="0" indent="0">
              <a:buNone/>
            </a:pPr>
            <a:r>
              <a:rPr lang="en-US" sz="1450" b="1" dirty="0">
                <a:solidFill>
                  <a:srgbClr val="1E2B3A"/>
                </a:solidFill>
                <a:latin typeface="Calibri" pitchFamily="34" charset="0"/>
                <a:ea typeface="Calibri" pitchFamily="34" charset="-122"/>
                <a:cs typeface="Calibri" pitchFamily="34" charset="-120"/>
              </a:rPr>
              <a:t>Groups describe the past</a:t>
            </a:r>
            <a:endParaRPr lang="en-US" sz="1450" dirty="0"/>
          </a:p>
        </p:txBody>
      </p:sp>
      <p:sp>
        <p:nvSpPr>
          <p:cNvPr id="23" name="Text 17"/>
          <p:cNvSpPr txBox="1"/>
          <p:nvPr/>
        </p:nvSpPr>
        <p:spPr>
          <a:xfrm>
            <a:off x="777240" y="4773168"/>
            <a:ext cx="3103778" cy="100584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They show who is likely to stay, not a promise about any one customer. Brand-new buyers can't be grouped until they order.</a:t>
            </a:r>
            <a:endParaRPr lang="en-US" sz="1400" dirty="0"/>
          </a:p>
        </p:txBody>
      </p:sp>
      <p:sp>
        <p:nvSpPr>
          <p:cNvPr id="24" name="Shape 18"/>
          <p:cNvSpPr/>
          <p:nvPr/>
        </p:nvSpPr>
        <p:spPr>
          <a:xfrm>
            <a:off x="4338218" y="3931920"/>
            <a:ext cx="3515258" cy="2011680"/>
          </a:xfrm>
          <a:prstGeom prst="roundRect">
            <a:avLst>
              <a:gd name="adj" fmla="val 4545"/>
            </a:avLst>
          </a:prstGeom>
          <a:solidFill>
            <a:srgbClr val="F3F5F8"/>
          </a:solidFill>
          <a:ln w="12700">
            <a:solidFill>
              <a:srgbClr val="F3F5F8"/>
            </a:solidFill>
            <a:prstDash val="solid"/>
          </a:ln>
        </p:spPr>
        <p:txBody>
          <a:bodyPr/>
          <a:lstStyle/>
          <a:p>
            <a:endParaRPr lang="en-CA"/>
          </a:p>
        </p:txBody>
      </p:sp>
      <p:sp>
        <p:nvSpPr>
          <p:cNvPr id="25" name="Shape 19"/>
          <p:cNvSpPr/>
          <p:nvPr/>
        </p:nvSpPr>
        <p:spPr>
          <a:xfrm>
            <a:off x="4566818" y="416052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26" name="Image 4" descr="preencoded.png"/>
          <p:cNvPicPr>
            <a:picLocks noChangeAspect="1"/>
          </p:cNvPicPr>
          <p:nvPr/>
        </p:nvPicPr>
        <p:blipFill>
          <a:blip r:embed="rId7"/>
          <a:stretch>
            <a:fillRect/>
          </a:stretch>
        </p:blipFill>
        <p:spPr>
          <a:xfrm>
            <a:off x="4692548" y="4286250"/>
            <a:ext cx="251460" cy="251460"/>
          </a:xfrm>
          <a:prstGeom prst="rect">
            <a:avLst/>
          </a:prstGeom>
        </p:spPr>
      </p:pic>
      <p:sp>
        <p:nvSpPr>
          <p:cNvPr id="27" name="Text 20"/>
          <p:cNvSpPr txBox="1"/>
          <p:nvPr/>
        </p:nvSpPr>
        <p:spPr>
          <a:xfrm>
            <a:off x="5206898" y="4133088"/>
            <a:ext cx="2509418" cy="566928"/>
          </a:xfrm>
          <a:prstGeom prst="rect">
            <a:avLst/>
          </a:prstGeom>
          <a:noFill/>
          <a:ln/>
        </p:spPr>
        <p:txBody>
          <a:bodyPr wrap="square" lIns="0" tIns="0" rIns="0" bIns="0" rtlCol="0" anchor="ctr"/>
          <a:lstStyle/>
          <a:p>
            <a:pPr marL="0" indent="0">
              <a:buNone/>
            </a:pPr>
            <a:r>
              <a:rPr lang="en-US" sz="1450" b="1" dirty="0">
                <a:solidFill>
                  <a:srgbClr val="1E2B3A"/>
                </a:solidFill>
                <a:latin typeface="Calibri" pitchFamily="34" charset="0"/>
                <a:ea typeface="Calibri" pitchFamily="34" charset="-122"/>
                <a:cs typeface="Calibri" pitchFamily="34" charset="-120"/>
              </a:rPr>
              <a:t>Value figures are scenarios</a:t>
            </a:r>
            <a:endParaRPr lang="en-US" sz="1450" dirty="0"/>
          </a:p>
        </p:txBody>
      </p:sp>
      <p:sp>
        <p:nvSpPr>
          <p:cNvPr id="28" name="Text 21"/>
          <p:cNvSpPr txBox="1"/>
          <p:nvPr/>
        </p:nvSpPr>
        <p:spPr>
          <a:xfrm>
            <a:off x="4566818" y="4773168"/>
            <a:ext cx="3103778" cy="100584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Based on typical past spend and assumed response rates. Test with controlled groups first.</a:t>
            </a:r>
            <a:endParaRPr lang="en-US" sz="1400" dirty="0"/>
          </a:p>
        </p:txBody>
      </p:sp>
      <p:sp>
        <p:nvSpPr>
          <p:cNvPr id="29" name="Shape 22"/>
          <p:cNvSpPr/>
          <p:nvPr/>
        </p:nvSpPr>
        <p:spPr>
          <a:xfrm>
            <a:off x="8127797" y="3931920"/>
            <a:ext cx="3515258" cy="2011680"/>
          </a:xfrm>
          <a:prstGeom prst="roundRect">
            <a:avLst>
              <a:gd name="adj" fmla="val 4545"/>
            </a:avLst>
          </a:prstGeom>
          <a:solidFill>
            <a:srgbClr val="F3F5F8"/>
          </a:solidFill>
          <a:ln w="12700">
            <a:solidFill>
              <a:srgbClr val="F3F5F8"/>
            </a:solidFill>
            <a:prstDash val="solid"/>
          </a:ln>
        </p:spPr>
        <p:txBody>
          <a:bodyPr/>
          <a:lstStyle/>
          <a:p>
            <a:endParaRPr lang="en-CA"/>
          </a:p>
        </p:txBody>
      </p:sp>
      <p:sp>
        <p:nvSpPr>
          <p:cNvPr id="30" name="Shape 23"/>
          <p:cNvSpPr/>
          <p:nvPr/>
        </p:nvSpPr>
        <p:spPr>
          <a:xfrm>
            <a:off x="8356397" y="4160520"/>
            <a:ext cx="502920" cy="502920"/>
          </a:xfrm>
          <a:prstGeom prst="ellipse">
            <a:avLst/>
          </a:prstGeom>
          <a:solidFill>
            <a:srgbClr val="1E2B3A"/>
          </a:solidFill>
          <a:ln w="12700">
            <a:solidFill>
              <a:srgbClr val="1E2B3A"/>
            </a:solidFill>
            <a:prstDash val="solid"/>
          </a:ln>
        </p:spPr>
        <p:txBody>
          <a:bodyPr/>
          <a:lstStyle/>
          <a:p>
            <a:endParaRPr lang="en-CA"/>
          </a:p>
        </p:txBody>
      </p:sp>
      <p:pic>
        <p:nvPicPr>
          <p:cNvPr id="31" name="Image 5" descr="preencoded.png"/>
          <p:cNvPicPr>
            <a:picLocks noChangeAspect="1"/>
          </p:cNvPicPr>
          <p:nvPr/>
        </p:nvPicPr>
        <p:blipFill>
          <a:blip r:embed="rId8"/>
          <a:stretch>
            <a:fillRect/>
          </a:stretch>
        </p:blipFill>
        <p:spPr>
          <a:xfrm>
            <a:off x="8482127" y="4286250"/>
            <a:ext cx="251460" cy="251460"/>
          </a:xfrm>
          <a:prstGeom prst="rect">
            <a:avLst/>
          </a:prstGeom>
        </p:spPr>
      </p:pic>
      <p:sp>
        <p:nvSpPr>
          <p:cNvPr id="32" name="Text 24"/>
          <p:cNvSpPr txBox="1"/>
          <p:nvPr/>
        </p:nvSpPr>
        <p:spPr>
          <a:xfrm>
            <a:off x="8996477" y="4133088"/>
            <a:ext cx="2509418" cy="566928"/>
          </a:xfrm>
          <a:prstGeom prst="rect">
            <a:avLst/>
          </a:prstGeom>
          <a:noFill/>
          <a:ln/>
        </p:spPr>
        <p:txBody>
          <a:bodyPr wrap="square" lIns="0" tIns="0" rIns="0" bIns="0" rtlCol="0" anchor="ctr"/>
          <a:lstStyle/>
          <a:p>
            <a:pPr marL="0" indent="0">
              <a:buNone/>
            </a:pPr>
            <a:r>
              <a:rPr lang="en-US" sz="1450" b="1" dirty="0">
                <a:solidFill>
                  <a:srgbClr val="1E2B3A"/>
                </a:solidFill>
                <a:latin typeface="Calibri" pitchFamily="34" charset="0"/>
                <a:ea typeface="Calibri" pitchFamily="34" charset="-122"/>
                <a:cs typeface="Calibri" pitchFamily="34" charset="-120"/>
              </a:rPr>
              <a:t>A narrow view of the customer</a:t>
            </a:r>
            <a:endParaRPr lang="en-US" sz="1450" dirty="0"/>
          </a:p>
        </p:txBody>
      </p:sp>
      <p:sp>
        <p:nvSpPr>
          <p:cNvPr id="33" name="Text 25"/>
          <p:cNvSpPr txBox="1"/>
          <p:nvPr/>
        </p:nvSpPr>
        <p:spPr>
          <a:xfrm>
            <a:off x="8356397" y="4773168"/>
            <a:ext cx="3103778" cy="1005840"/>
          </a:xfrm>
          <a:prstGeom prst="rect">
            <a:avLst/>
          </a:prstGeom>
          <a:noFill/>
          <a:ln/>
        </p:spPr>
        <p:txBody>
          <a:bodyPr wrap="square" lIns="0" tIns="0" rIns="0" bIns="0" rtlCol="0" anchor="t"/>
          <a:lstStyle/>
          <a:p>
            <a:pPr marL="0" indent="0">
              <a:buNone/>
            </a:pPr>
            <a:r>
              <a:rPr lang="en-US" sz="1400" dirty="0">
                <a:solidFill>
                  <a:srgbClr val="5B6675"/>
                </a:solidFill>
                <a:latin typeface="Calibri" pitchFamily="34" charset="0"/>
                <a:ea typeface="Calibri" pitchFamily="34" charset="-122"/>
                <a:cs typeface="Calibri" pitchFamily="34" charset="-120"/>
              </a:rPr>
              <a:t>No data on emails, website visits, complaints or why people left. Large wholesalers and small shops are mixed.</a:t>
            </a:r>
            <a:endParaRPr lang="en-US" sz="1400" dirty="0"/>
          </a:p>
        </p:txBody>
      </p:sp>
      <p:sp>
        <p:nvSpPr>
          <p:cNvPr id="34"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B3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marL="0" indent="0">
              <a:buNone/>
            </a:pPr>
            <a:r>
              <a:rPr lang="en-US" sz="1200" b="1" kern="0" spc="300" dirty="0">
                <a:solidFill>
                  <a:srgbClr val="8FA0B3"/>
                </a:solidFill>
                <a:latin typeface="Calibri" pitchFamily="34" charset="0"/>
                <a:ea typeface="Calibri" pitchFamily="34" charset="-122"/>
                <a:cs typeface="Calibri" pitchFamily="34" charset="-120"/>
              </a:rPr>
              <a:t>SUMMARY AND NEXT STEPS</a:t>
            </a:r>
            <a:endParaRPr lang="en-US" sz="1200" dirty="0"/>
          </a:p>
        </p:txBody>
      </p:sp>
      <p:sp>
        <p:nvSpPr>
          <p:cNvPr id="3" name="Text 1"/>
          <p:cNvSpPr txBox="1"/>
          <p:nvPr/>
        </p:nvSpPr>
        <p:spPr>
          <a:xfrm>
            <a:off x="548640" y="658368"/>
            <a:ext cx="11094415"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Five groups, five different jobs for the CRM team</a:t>
            </a:r>
            <a:endParaRPr lang="en-US" sz="3000" dirty="0"/>
          </a:p>
        </p:txBody>
      </p:sp>
      <p:sp>
        <p:nvSpPr>
          <p:cNvPr id="4" name="Text 2"/>
          <p:cNvSpPr txBox="1"/>
          <p:nvPr/>
        </p:nvSpPr>
        <p:spPr>
          <a:xfrm>
            <a:off x="548640" y="1600200"/>
            <a:ext cx="5303520" cy="365760"/>
          </a:xfrm>
          <a:prstGeom prst="rect">
            <a:avLst/>
          </a:prstGeom>
          <a:noFill/>
          <a:ln/>
        </p:spPr>
        <p:txBody>
          <a:bodyPr wrap="square" lIns="0" tIns="0" rIns="0" bIns="0" rtlCol="0" anchor="t"/>
          <a:lstStyle/>
          <a:p>
            <a:pPr marL="0" indent="0">
              <a:buNone/>
            </a:pPr>
            <a:r>
              <a:rPr lang="en-US" sz="1600" b="1" dirty="0">
                <a:solidFill>
                  <a:srgbClr val="F4D35E"/>
                </a:solidFill>
                <a:latin typeface="Calibri" pitchFamily="34" charset="0"/>
                <a:ea typeface="Calibri" pitchFamily="34" charset="-122"/>
                <a:cs typeface="Calibri" pitchFamily="34" charset="-120"/>
              </a:rPr>
              <a:t>What we learned</a:t>
            </a:r>
            <a:endParaRPr lang="en-US" sz="1600" dirty="0"/>
          </a:p>
        </p:txBody>
      </p:sp>
      <p:sp>
        <p:nvSpPr>
          <p:cNvPr id="5" name="Shape 3"/>
          <p:cNvSpPr/>
          <p:nvPr/>
        </p:nvSpPr>
        <p:spPr>
          <a:xfrm>
            <a:off x="548640" y="2130552"/>
            <a:ext cx="201168" cy="201168"/>
          </a:xfrm>
          <a:prstGeom prst="ellipse">
            <a:avLst/>
          </a:prstGeom>
          <a:solidFill>
            <a:srgbClr val="1F7A5C"/>
          </a:solidFill>
          <a:ln w="12700">
            <a:solidFill>
              <a:srgbClr val="1F7A5C"/>
            </a:solidFill>
            <a:prstDash val="solid"/>
          </a:ln>
        </p:spPr>
        <p:txBody>
          <a:bodyPr/>
          <a:lstStyle/>
          <a:p>
            <a:endParaRPr lang="en-CA"/>
          </a:p>
        </p:txBody>
      </p:sp>
      <p:sp>
        <p:nvSpPr>
          <p:cNvPr id="6" name="Text 4"/>
          <p:cNvSpPr txBox="1"/>
          <p:nvPr/>
        </p:nvSpPr>
        <p:spPr>
          <a:xfrm>
            <a:off x="914400" y="2057400"/>
            <a:ext cx="5029200" cy="65836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Top Customers and Steady Regulars are 36% of customers and 80% of spend.</a:t>
            </a:r>
            <a:endParaRPr lang="en-US" sz="1400" dirty="0"/>
          </a:p>
        </p:txBody>
      </p:sp>
      <p:sp>
        <p:nvSpPr>
          <p:cNvPr id="7" name="Shape 5"/>
          <p:cNvSpPr/>
          <p:nvPr/>
        </p:nvSpPr>
        <p:spPr>
          <a:xfrm>
            <a:off x="548640" y="2862072"/>
            <a:ext cx="201168" cy="201168"/>
          </a:xfrm>
          <a:prstGeom prst="ellipse">
            <a:avLst/>
          </a:prstGeom>
          <a:solidFill>
            <a:srgbClr val="C0404A"/>
          </a:solidFill>
          <a:ln w="12700">
            <a:solidFill>
              <a:srgbClr val="C0404A"/>
            </a:solidFill>
            <a:prstDash val="solid"/>
          </a:ln>
        </p:spPr>
        <p:txBody>
          <a:bodyPr/>
          <a:lstStyle/>
          <a:p>
            <a:endParaRPr lang="en-CA"/>
          </a:p>
        </p:txBody>
      </p:sp>
      <p:sp>
        <p:nvSpPr>
          <p:cNvPr id="8" name="Text 6"/>
          <p:cNvSpPr txBox="1"/>
          <p:nvPr/>
        </p:nvSpPr>
        <p:spPr>
          <a:xfrm>
            <a:off x="914400" y="2788920"/>
            <a:ext cx="5029200" cy="65836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Half of customers had not ordered for 5+ months; Fading Big Spenders are still worth winning back.</a:t>
            </a:r>
            <a:endParaRPr lang="en-US" sz="1400" dirty="0"/>
          </a:p>
        </p:txBody>
      </p:sp>
      <p:sp>
        <p:nvSpPr>
          <p:cNvPr id="9" name="Shape 7"/>
          <p:cNvSpPr/>
          <p:nvPr/>
        </p:nvSpPr>
        <p:spPr>
          <a:xfrm>
            <a:off x="548640" y="3593592"/>
            <a:ext cx="201168" cy="201168"/>
          </a:xfrm>
          <a:prstGeom prst="ellipse">
            <a:avLst/>
          </a:prstGeom>
          <a:solidFill>
            <a:srgbClr val="C9820E"/>
          </a:solidFill>
          <a:ln w="12700">
            <a:solidFill>
              <a:srgbClr val="C9820E"/>
            </a:solidFill>
            <a:prstDash val="solid"/>
          </a:ln>
        </p:spPr>
        <p:txBody>
          <a:bodyPr/>
          <a:lstStyle/>
          <a:p>
            <a:endParaRPr lang="en-CA"/>
          </a:p>
        </p:txBody>
      </p:sp>
      <p:sp>
        <p:nvSpPr>
          <p:cNvPr id="10" name="Text 8"/>
          <p:cNvSpPr txBox="1"/>
          <p:nvPr/>
        </p:nvSpPr>
        <p:spPr>
          <a:xfrm>
            <a:off x="914400" y="3520440"/>
            <a:ext cx="5029200" cy="65836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The third order is when customers start to stay.</a:t>
            </a:r>
            <a:endParaRPr lang="en-US" sz="1400" dirty="0"/>
          </a:p>
        </p:txBody>
      </p:sp>
      <p:sp>
        <p:nvSpPr>
          <p:cNvPr id="11" name="Shape 9"/>
          <p:cNvSpPr/>
          <p:nvPr/>
        </p:nvSpPr>
        <p:spPr>
          <a:xfrm>
            <a:off x="548640" y="4325112"/>
            <a:ext cx="201168" cy="201168"/>
          </a:xfrm>
          <a:prstGeom prst="ellipse">
            <a:avLst/>
          </a:prstGeom>
          <a:solidFill>
            <a:srgbClr val="8FA0B3"/>
          </a:solidFill>
          <a:ln w="12700">
            <a:solidFill>
              <a:srgbClr val="8FA0B3"/>
            </a:solidFill>
            <a:prstDash val="solid"/>
          </a:ln>
        </p:spPr>
        <p:txBody>
          <a:bodyPr/>
          <a:lstStyle/>
          <a:p>
            <a:endParaRPr lang="en-CA"/>
          </a:p>
        </p:txBody>
      </p:sp>
      <p:sp>
        <p:nvSpPr>
          <p:cNvPr id="12" name="Text 10"/>
          <p:cNvSpPr txBox="1"/>
          <p:nvPr/>
        </p:nvSpPr>
        <p:spPr>
          <a:xfrm>
            <a:off x="914400" y="4251960"/>
            <a:ext cx="5029200" cy="65836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Days since last order is the best warning sign: act at 60 days (summer) or 120 (autumn).</a:t>
            </a:r>
            <a:endParaRPr lang="en-US" sz="1400" dirty="0"/>
          </a:p>
        </p:txBody>
      </p:sp>
      <p:sp>
        <p:nvSpPr>
          <p:cNvPr id="13" name="Shape 11"/>
          <p:cNvSpPr/>
          <p:nvPr/>
        </p:nvSpPr>
        <p:spPr>
          <a:xfrm>
            <a:off x="548640" y="5056632"/>
            <a:ext cx="201168" cy="201168"/>
          </a:xfrm>
          <a:prstGeom prst="ellipse">
            <a:avLst/>
          </a:prstGeom>
          <a:solidFill>
            <a:srgbClr val="8FA0B3"/>
          </a:solidFill>
          <a:ln w="12700">
            <a:solidFill>
              <a:srgbClr val="8FA0B3"/>
            </a:solidFill>
            <a:prstDash val="solid"/>
          </a:ln>
        </p:spPr>
        <p:txBody>
          <a:bodyPr/>
          <a:lstStyle/>
          <a:p>
            <a:endParaRPr lang="en-CA"/>
          </a:p>
        </p:txBody>
      </p:sp>
      <p:sp>
        <p:nvSpPr>
          <p:cNvPr id="14" name="Text 12"/>
          <p:cNvSpPr txBox="1"/>
          <p:nvPr/>
        </p:nvSpPr>
        <p:spPr>
          <a:xfrm>
            <a:off x="914400" y="4983480"/>
            <a:ext cx="5029200" cy="65836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Customers change groups quickly, so refresh the lists every month.</a:t>
            </a:r>
            <a:endParaRPr lang="en-US" sz="1400" dirty="0"/>
          </a:p>
        </p:txBody>
      </p:sp>
      <p:sp>
        <p:nvSpPr>
          <p:cNvPr id="15" name="Shape 13"/>
          <p:cNvSpPr/>
          <p:nvPr/>
        </p:nvSpPr>
        <p:spPr>
          <a:xfrm>
            <a:off x="6492240" y="1554480"/>
            <a:ext cx="5150815" cy="4754880"/>
          </a:xfrm>
          <a:prstGeom prst="roundRect">
            <a:avLst>
              <a:gd name="adj" fmla="val 1923"/>
            </a:avLst>
          </a:prstGeom>
          <a:solidFill>
            <a:srgbClr val="2A3A4D"/>
          </a:solidFill>
          <a:ln w="12700">
            <a:solidFill>
              <a:srgbClr val="2A3A4D"/>
            </a:solidFill>
            <a:prstDash val="solid"/>
          </a:ln>
        </p:spPr>
        <p:txBody>
          <a:bodyPr/>
          <a:lstStyle/>
          <a:p>
            <a:endParaRPr lang="en-CA"/>
          </a:p>
        </p:txBody>
      </p:sp>
      <p:sp>
        <p:nvSpPr>
          <p:cNvPr id="16" name="Text 14"/>
          <p:cNvSpPr txBox="1"/>
          <p:nvPr/>
        </p:nvSpPr>
        <p:spPr>
          <a:xfrm>
            <a:off x="6766560" y="1691640"/>
            <a:ext cx="4602175" cy="365760"/>
          </a:xfrm>
          <a:prstGeom prst="rect">
            <a:avLst/>
          </a:prstGeom>
          <a:noFill/>
          <a:ln/>
        </p:spPr>
        <p:txBody>
          <a:bodyPr wrap="square" lIns="0" tIns="0" rIns="0" bIns="0" rtlCol="0" anchor="t"/>
          <a:lstStyle/>
          <a:p>
            <a:pPr marL="0" indent="0">
              <a:buNone/>
            </a:pPr>
            <a:r>
              <a:rPr lang="en-US" sz="1600" b="1" dirty="0">
                <a:solidFill>
                  <a:srgbClr val="F4D35E"/>
                </a:solidFill>
                <a:latin typeface="Calibri" pitchFamily="34" charset="0"/>
                <a:ea typeface="Calibri" pitchFamily="34" charset="-122"/>
                <a:cs typeface="Calibri" pitchFamily="34" charset="-120"/>
              </a:rPr>
              <a:t>Next steps</a:t>
            </a:r>
            <a:endParaRPr lang="en-US" sz="1600" dirty="0"/>
          </a:p>
        </p:txBody>
      </p:sp>
      <p:sp>
        <p:nvSpPr>
          <p:cNvPr id="17" name="Shape 15"/>
          <p:cNvSpPr/>
          <p:nvPr/>
        </p:nvSpPr>
        <p:spPr>
          <a:xfrm>
            <a:off x="6766560" y="2194560"/>
            <a:ext cx="420624" cy="420624"/>
          </a:xfrm>
          <a:prstGeom prst="ellipse">
            <a:avLst/>
          </a:prstGeom>
          <a:solidFill>
            <a:srgbClr val="FFFFFF"/>
          </a:solidFill>
          <a:ln w="12700">
            <a:solidFill>
              <a:srgbClr val="FFFFFF"/>
            </a:solidFill>
            <a:prstDash val="solid"/>
          </a:ln>
        </p:spPr>
        <p:txBody>
          <a:bodyPr/>
          <a:lstStyle/>
          <a:p>
            <a:endParaRPr lang="en-CA"/>
          </a:p>
        </p:txBody>
      </p:sp>
      <p:sp>
        <p:nvSpPr>
          <p:cNvPr id="18" name="Text 16"/>
          <p:cNvSpPr txBox="1"/>
          <p:nvPr/>
        </p:nvSpPr>
        <p:spPr>
          <a:xfrm>
            <a:off x="6766560" y="2194560"/>
            <a:ext cx="420624" cy="420624"/>
          </a:xfrm>
          <a:prstGeom prst="rect">
            <a:avLst/>
          </a:prstGeom>
          <a:noFill/>
          <a:ln/>
        </p:spPr>
        <p:txBody>
          <a:bodyPr wrap="square" lIns="0" tIns="0" rIns="0" bIns="0" rtlCol="0" anchor="ctr"/>
          <a:lstStyle/>
          <a:p>
            <a:pPr marL="0" indent="0" algn="ctr">
              <a:buNone/>
            </a:pPr>
            <a:r>
              <a:rPr lang="en-US" sz="1400" b="1" dirty="0">
                <a:solidFill>
                  <a:srgbClr val="1E2B3A"/>
                </a:solidFill>
                <a:latin typeface="Calibri" pitchFamily="34" charset="0"/>
                <a:ea typeface="Calibri" pitchFamily="34" charset="-122"/>
                <a:cs typeface="Calibri" pitchFamily="34" charset="-120"/>
              </a:rPr>
              <a:t>1</a:t>
            </a:r>
            <a:endParaRPr lang="en-US" sz="1400" dirty="0"/>
          </a:p>
        </p:txBody>
      </p:sp>
      <p:sp>
        <p:nvSpPr>
          <p:cNvPr id="19" name="Text 17"/>
          <p:cNvSpPr txBox="1"/>
          <p:nvPr/>
        </p:nvSpPr>
        <p:spPr>
          <a:xfrm>
            <a:off x="7360920" y="2157984"/>
            <a:ext cx="4053535" cy="274320"/>
          </a:xfrm>
          <a:prstGeom prst="rect">
            <a:avLst/>
          </a:prstGeom>
          <a:noFill/>
          <a:ln/>
        </p:spPr>
        <p:txBody>
          <a:bodyPr wrap="square" lIns="0" tIns="0" rIns="0" bIns="0" rtlCol="0" anchor="t"/>
          <a:lstStyle/>
          <a:p>
            <a:pPr marL="0" indent="0">
              <a:buNone/>
            </a:pPr>
            <a:r>
              <a:rPr lang="en-US" sz="1100" b="1" dirty="0">
                <a:solidFill>
                  <a:srgbClr val="8FA0B3"/>
                </a:solidFill>
                <a:latin typeface="Calibri" pitchFamily="34" charset="0"/>
                <a:ea typeface="Calibri" pitchFamily="34" charset="-122"/>
                <a:cs typeface="Calibri" pitchFamily="34" charset="-120"/>
              </a:rPr>
              <a:t>Weeks 1–2</a:t>
            </a:r>
            <a:endParaRPr lang="en-US" sz="1100" dirty="0"/>
          </a:p>
        </p:txBody>
      </p:sp>
      <p:sp>
        <p:nvSpPr>
          <p:cNvPr id="20" name="Text 18"/>
          <p:cNvSpPr txBox="1"/>
          <p:nvPr/>
        </p:nvSpPr>
        <p:spPr>
          <a:xfrm>
            <a:off x="7360920" y="2414016"/>
            <a:ext cx="4053535" cy="5029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Load the group fields into the CRM and build the five lists</a:t>
            </a:r>
            <a:endParaRPr lang="en-US" sz="1300" dirty="0"/>
          </a:p>
        </p:txBody>
      </p:sp>
      <p:sp>
        <p:nvSpPr>
          <p:cNvPr id="21" name="Shape 19"/>
          <p:cNvSpPr/>
          <p:nvPr/>
        </p:nvSpPr>
        <p:spPr>
          <a:xfrm>
            <a:off x="6766560" y="2999232"/>
            <a:ext cx="420624" cy="420624"/>
          </a:xfrm>
          <a:prstGeom prst="ellipse">
            <a:avLst/>
          </a:prstGeom>
          <a:solidFill>
            <a:srgbClr val="FFFFFF"/>
          </a:solidFill>
          <a:ln w="12700">
            <a:solidFill>
              <a:srgbClr val="FFFFFF"/>
            </a:solidFill>
            <a:prstDash val="solid"/>
          </a:ln>
        </p:spPr>
        <p:txBody>
          <a:bodyPr/>
          <a:lstStyle/>
          <a:p>
            <a:endParaRPr lang="en-CA"/>
          </a:p>
        </p:txBody>
      </p:sp>
      <p:sp>
        <p:nvSpPr>
          <p:cNvPr id="22" name="Text 20"/>
          <p:cNvSpPr txBox="1"/>
          <p:nvPr/>
        </p:nvSpPr>
        <p:spPr>
          <a:xfrm>
            <a:off x="6766560" y="2999232"/>
            <a:ext cx="420624" cy="420624"/>
          </a:xfrm>
          <a:prstGeom prst="rect">
            <a:avLst/>
          </a:prstGeom>
          <a:noFill/>
          <a:ln/>
        </p:spPr>
        <p:txBody>
          <a:bodyPr wrap="square" lIns="0" tIns="0" rIns="0" bIns="0" rtlCol="0" anchor="ctr"/>
          <a:lstStyle/>
          <a:p>
            <a:pPr marL="0" indent="0" algn="ctr">
              <a:buNone/>
            </a:pPr>
            <a:r>
              <a:rPr lang="en-US" sz="1400" b="1" dirty="0">
                <a:solidFill>
                  <a:srgbClr val="1E2B3A"/>
                </a:solidFill>
                <a:latin typeface="Calibri" pitchFamily="34" charset="0"/>
                <a:ea typeface="Calibri" pitchFamily="34" charset="-122"/>
                <a:cs typeface="Calibri" pitchFamily="34" charset="-120"/>
              </a:rPr>
              <a:t>2</a:t>
            </a:r>
            <a:endParaRPr lang="en-US" sz="1400" dirty="0"/>
          </a:p>
        </p:txBody>
      </p:sp>
      <p:sp>
        <p:nvSpPr>
          <p:cNvPr id="23" name="Text 21"/>
          <p:cNvSpPr txBox="1"/>
          <p:nvPr/>
        </p:nvSpPr>
        <p:spPr>
          <a:xfrm>
            <a:off x="7360920" y="2962656"/>
            <a:ext cx="4053535" cy="274320"/>
          </a:xfrm>
          <a:prstGeom prst="rect">
            <a:avLst/>
          </a:prstGeom>
          <a:noFill/>
          <a:ln/>
        </p:spPr>
        <p:txBody>
          <a:bodyPr wrap="square" lIns="0" tIns="0" rIns="0" bIns="0" rtlCol="0" anchor="t"/>
          <a:lstStyle/>
          <a:p>
            <a:pPr marL="0" indent="0">
              <a:buNone/>
            </a:pPr>
            <a:r>
              <a:rPr lang="en-US" sz="1100" b="1" dirty="0">
                <a:solidFill>
                  <a:srgbClr val="8FA0B3"/>
                </a:solidFill>
                <a:latin typeface="Calibri" pitchFamily="34" charset="0"/>
                <a:ea typeface="Calibri" pitchFamily="34" charset="-122"/>
                <a:cs typeface="Calibri" pitchFamily="34" charset="-120"/>
              </a:rPr>
              <a:t>Month 1</a:t>
            </a:r>
            <a:endParaRPr lang="en-US" sz="1100" dirty="0"/>
          </a:p>
        </p:txBody>
      </p:sp>
      <p:sp>
        <p:nvSpPr>
          <p:cNvPr id="24" name="Text 22"/>
          <p:cNvSpPr txBox="1"/>
          <p:nvPr/>
        </p:nvSpPr>
        <p:spPr>
          <a:xfrm>
            <a:off x="7360920" y="3218688"/>
            <a:ext cx="4053535" cy="5029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Start Top Customer care and the 60-day reminder</a:t>
            </a:r>
            <a:endParaRPr lang="en-US" sz="1300" dirty="0"/>
          </a:p>
        </p:txBody>
      </p:sp>
      <p:sp>
        <p:nvSpPr>
          <p:cNvPr id="25" name="Shape 23"/>
          <p:cNvSpPr/>
          <p:nvPr/>
        </p:nvSpPr>
        <p:spPr>
          <a:xfrm>
            <a:off x="6766560" y="3803904"/>
            <a:ext cx="420624" cy="420624"/>
          </a:xfrm>
          <a:prstGeom prst="ellipse">
            <a:avLst/>
          </a:prstGeom>
          <a:solidFill>
            <a:srgbClr val="FFFFFF"/>
          </a:solidFill>
          <a:ln w="12700">
            <a:solidFill>
              <a:srgbClr val="FFFFFF"/>
            </a:solidFill>
            <a:prstDash val="solid"/>
          </a:ln>
        </p:spPr>
        <p:txBody>
          <a:bodyPr/>
          <a:lstStyle/>
          <a:p>
            <a:endParaRPr lang="en-CA"/>
          </a:p>
        </p:txBody>
      </p:sp>
      <p:sp>
        <p:nvSpPr>
          <p:cNvPr id="26" name="Text 24"/>
          <p:cNvSpPr txBox="1"/>
          <p:nvPr/>
        </p:nvSpPr>
        <p:spPr>
          <a:xfrm>
            <a:off x="6766560" y="3803904"/>
            <a:ext cx="420624" cy="420624"/>
          </a:xfrm>
          <a:prstGeom prst="rect">
            <a:avLst/>
          </a:prstGeom>
          <a:noFill/>
          <a:ln/>
        </p:spPr>
        <p:txBody>
          <a:bodyPr wrap="square" lIns="0" tIns="0" rIns="0" bIns="0" rtlCol="0" anchor="ctr"/>
          <a:lstStyle/>
          <a:p>
            <a:pPr marL="0" indent="0" algn="ctr">
              <a:buNone/>
            </a:pPr>
            <a:r>
              <a:rPr lang="en-US" sz="1400" b="1" dirty="0">
                <a:solidFill>
                  <a:srgbClr val="1E2B3A"/>
                </a:solidFill>
                <a:latin typeface="Calibri" pitchFamily="34" charset="0"/>
                <a:ea typeface="Calibri" pitchFamily="34" charset="-122"/>
                <a:cs typeface="Calibri" pitchFamily="34" charset="-120"/>
              </a:rPr>
              <a:t>3</a:t>
            </a:r>
            <a:endParaRPr lang="en-US" sz="1400" dirty="0"/>
          </a:p>
        </p:txBody>
      </p:sp>
      <p:sp>
        <p:nvSpPr>
          <p:cNvPr id="27" name="Text 25"/>
          <p:cNvSpPr txBox="1"/>
          <p:nvPr/>
        </p:nvSpPr>
        <p:spPr>
          <a:xfrm>
            <a:off x="7360920" y="3767328"/>
            <a:ext cx="4053535" cy="274320"/>
          </a:xfrm>
          <a:prstGeom prst="rect">
            <a:avLst/>
          </a:prstGeom>
          <a:noFill/>
          <a:ln/>
        </p:spPr>
        <p:txBody>
          <a:bodyPr wrap="square" lIns="0" tIns="0" rIns="0" bIns="0" rtlCol="0" anchor="t"/>
          <a:lstStyle/>
          <a:p>
            <a:pPr marL="0" indent="0">
              <a:buNone/>
            </a:pPr>
            <a:r>
              <a:rPr lang="en-US" sz="1100" b="1" dirty="0">
                <a:solidFill>
                  <a:srgbClr val="8FA0B3"/>
                </a:solidFill>
                <a:latin typeface="Calibri" pitchFamily="34" charset="0"/>
                <a:ea typeface="Calibri" pitchFamily="34" charset="-122"/>
                <a:cs typeface="Calibri" pitchFamily="34" charset="-120"/>
              </a:rPr>
              <a:t>Month 1–2</a:t>
            </a:r>
            <a:endParaRPr lang="en-US" sz="1100" dirty="0"/>
          </a:p>
        </p:txBody>
      </p:sp>
      <p:sp>
        <p:nvSpPr>
          <p:cNvPr id="28" name="Text 26"/>
          <p:cNvSpPr txBox="1"/>
          <p:nvPr/>
        </p:nvSpPr>
        <p:spPr>
          <a:xfrm>
            <a:off x="7360920" y="4023360"/>
            <a:ext cx="4053535" cy="5029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Launch the New Starter series, aimed at order three</a:t>
            </a:r>
            <a:endParaRPr lang="en-US" sz="1300" dirty="0"/>
          </a:p>
        </p:txBody>
      </p:sp>
      <p:sp>
        <p:nvSpPr>
          <p:cNvPr id="29" name="Shape 27"/>
          <p:cNvSpPr/>
          <p:nvPr/>
        </p:nvSpPr>
        <p:spPr>
          <a:xfrm>
            <a:off x="6766560" y="4608576"/>
            <a:ext cx="420624" cy="420624"/>
          </a:xfrm>
          <a:prstGeom prst="ellipse">
            <a:avLst/>
          </a:prstGeom>
          <a:solidFill>
            <a:srgbClr val="FFFFFF"/>
          </a:solidFill>
          <a:ln w="12700">
            <a:solidFill>
              <a:srgbClr val="FFFFFF"/>
            </a:solidFill>
            <a:prstDash val="solid"/>
          </a:ln>
        </p:spPr>
        <p:txBody>
          <a:bodyPr/>
          <a:lstStyle/>
          <a:p>
            <a:endParaRPr lang="en-CA"/>
          </a:p>
        </p:txBody>
      </p:sp>
      <p:sp>
        <p:nvSpPr>
          <p:cNvPr id="30" name="Text 28"/>
          <p:cNvSpPr txBox="1"/>
          <p:nvPr/>
        </p:nvSpPr>
        <p:spPr>
          <a:xfrm>
            <a:off x="6766560" y="4608576"/>
            <a:ext cx="420624" cy="420624"/>
          </a:xfrm>
          <a:prstGeom prst="rect">
            <a:avLst/>
          </a:prstGeom>
          <a:noFill/>
          <a:ln/>
        </p:spPr>
        <p:txBody>
          <a:bodyPr wrap="square" lIns="0" tIns="0" rIns="0" bIns="0" rtlCol="0" anchor="ctr"/>
          <a:lstStyle/>
          <a:p>
            <a:pPr marL="0" indent="0" algn="ctr">
              <a:buNone/>
            </a:pPr>
            <a:r>
              <a:rPr lang="en-US" sz="1400" b="1" dirty="0">
                <a:solidFill>
                  <a:srgbClr val="1E2B3A"/>
                </a:solidFill>
                <a:latin typeface="Calibri" pitchFamily="34" charset="0"/>
                <a:ea typeface="Calibri" pitchFamily="34" charset="-122"/>
                <a:cs typeface="Calibri" pitchFamily="34" charset="-120"/>
              </a:rPr>
              <a:t>4</a:t>
            </a:r>
            <a:endParaRPr lang="en-US" sz="1400" dirty="0"/>
          </a:p>
        </p:txBody>
      </p:sp>
      <p:sp>
        <p:nvSpPr>
          <p:cNvPr id="31" name="Text 29"/>
          <p:cNvSpPr txBox="1"/>
          <p:nvPr/>
        </p:nvSpPr>
        <p:spPr>
          <a:xfrm>
            <a:off x="7360920" y="4572000"/>
            <a:ext cx="4053535" cy="274320"/>
          </a:xfrm>
          <a:prstGeom prst="rect">
            <a:avLst/>
          </a:prstGeom>
          <a:noFill/>
          <a:ln/>
        </p:spPr>
        <p:txBody>
          <a:bodyPr wrap="square" lIns="0" tIns="0" rIns="0" bIns="0" rtlCol="0" anchor="t"/>
          <a:lstStyle/>
          <a:p>
            <a:pPr marL="0" indent="0">
              <a:buNone/>
            </a:pPr>
            <a:r>
              <a:rPr lang="en-US" sz="1100" b="1" dirty="0">
                <a:solidFill>
                  <a:srgbClr val="8FA0B3"/>
                </a:solidFill>
                <a:latin typeface="Calibri" pitchFamily="34" charset="0"/>
                <a:ea typeface="Calibri" pitchFamily="34" charset="-122"/>
                <a:cs typeface="Calibri" pitchFamily="34" charset="-120"/>
              </a:rPr>
              <a:t>Aug–Oct</a:t>
            </a:r>
            <a:endParaRPr lang="en-US" sz="1100" dirty="0"/>
          </a:p>
        </p:txBody>
      </p:sp>
      <p:sp>
        <p:nvSpPr>
          <p:cNvPr id="32" name="Text 30"/>
          <p:cNvSpPr txBox="1"/>
          <p:nvPr/>
        </p:nvSpPr>
        <p:spPr>
          <a:xfrm>
            <a:off x="7360920" y="4828032"/>
            <a:ext cx="4053535" cy="5029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Personal win-back for Fading Big Spenders</a:t>
            </a:r>
            <a:endParaRPr lang="en-US" sz="1300" dirty="0"/>
          </a:p>
        </p:txBody>
      </p:sp>
      <p:sp>
        <p:nvSpPr>
          <p:cNvPr id="33" name="Shape 31"/>
          <p:cNvSpPr/>
          <p:nvPr/>
        </p:nvSpPr>
        <p:spPr>
          <a:xfrm>
            <a:off x="6766560" y="5413248"/>
            <a:ext cx="420624" cy="420624"/>
          </a:xfrm>
          <a:prstGeom prst="ellipse">
            <a:avLst/>
          </a:prstGeom>
          <a:solidFill>
            <a:srgbClr val="FFFFFF"/>
          </a:solidFill>
          <a:ln w="12700">
            <a:solidFill>
              <a:srgbClr val="FFFFFF"/>
            </a:solidFill>
            <a:prstDash val="solid"/>
          </a:ln>
        </p:spPr>
        <p:txBody>
          <a:bodyPr/>
          <a:lstStyle/>
          <a:p>
            <a:endParaRPr lang="en-CA"/>
          </a:p>
        </p:txBody>
      </p:sp>
      <p:sp>
        <p:nvSpPr>
          <p:cNvPr id="34" name="Text 32"/>
          <p:cNvSpPr txBox="1"/>
          <p:nvPr/>
        </p:nvSpPr>
        <p:spPr>
          <a:xfrm>
            <a:off x="6766560" y="5413248"/>
            <a:ext cx="420624" cy="420624"/>
          </a:xfrm>
          <a:prstGeom prst="rect">
            <a:avLst/>
          </a:prstGeom>
          <a:noFill/>
          <a:ln/>
        </p:spPr>
        <p:txBody>
          <a:bodyPr wrap="square" lIns="0" tIns="0" rIns="0" bIns="0" rtlCol="0" anchor="ctr"/>
          <a:lstStyle/>
          <a:p>
            <a:pPr marL="0" indent="0" algn="ctr">
              <a:buNone/>
            </a:pPr>
            <a:r>
              <a:rPr lang="en-US" sz="1400" b="1" dirty="0">
                <a:solidFill>
                  <a:srgbClr val="1E2B3A"/>
                </a:solidFill>
                <a:latin typeface="Calibri" pitchFamily="34" charset="0"/>
                <a:ea typeface="Calibri" pitchFamily="34" charset="-122"/>
                <a:cs typeface="Calibri" pitchFamily="34" charset="-120"/>
              </a:rPr>
              <a:t>5</a:t>
            </a:r>
            <a:endParaRPr lang="en-US" sz="1400" dirty="0"/>
          </a:p>
        </p:txBody>
      </p:sp>
      <p:sp>
        <p:nvSpPr>
          <p:cNvPr id="35" name="Text 33"/>
          <p:cNvSpPr txBox="1"/>
          <p:nvPr/>
        </p:nvSpPr>
        <p:spPr>
          <a:xfrm>
            <a:off x="7360920" y="5376672"/>
            <a:ext cx="4053535" cy="274320"/>
          </a:xfrm>
          <a:prstGeom prst="rect">
            <a:avLst/>
          </a:prstGeom>
          <a:noFill/>
          <a:ln/>
        </p:spPr>
        <p:txBody>
          <a:bodyPr wrap="square" lIns="0" tIns="0" rIns="0" bIns="0" rtlCol="0" anchor="t"/>
          <a:lstStyle/>
          <a:p>
            <a:pPr marL="0" indent="0">
              <a:buNone/>
            </a:pPr>
            <a:r>
              <a:rPr lang="en-US" sz="1100" b="1" dirty="0">
                <a:solidFill>
                  <a:srgbClr val="8FA0B3"/>
                </a:solidFill>
                <a:latin typeface="Calibri" pitchFamily="34" charset="0"/>
                <a:ea typeface="Calibri" pitchFamily="34" charset="-122"/>
                <a:cs typeface="Calibri" pitchFamily="34" charset="-120"/>
              </a:rPr>
              <a:t>Monthly</a:t>
            </a:r>
            <a:endParaRPr lang="en-US" sz="1100" dirty="0"/>
          </a:p>
        </p:txBody>
      </p:sp>
      <p:sp>
        <p:nvSpPr>
          <p:cNvPr id="36" name="Text 34"/>
          <p:cNvSpPr txBox="1"/>
          <p:nvPr/>
        </p:nvSpPr>
        <p:spPr>
          <a:xfrm>
            <a:off x="7360920" y="5632704"/>
            <a:ext cx="4053535" cy="5029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Refresh groups, test against hold-backs, report</a:t>
            </a:r>
            <a:endParaRPr lang="en-US" sz="1300" dirty="0"/>
          </a:p>
        </p:txBody>
      </p:sp>
      <p:sp>
        <p:nvSpPr>
          <p:cNvPr id="37"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B3"/>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B3A"/>
        </a:solidFill>
        <a:effectLst/>
      </p:bgPr>
    </p:bg>
    <p:spTree>
      <p:nvGrpSpPr>
        <p:cNvPr id="1" name=""/>
        <p:cNvGrpSpPr/>
        <p:nvPr/>
      </p:nvGrpSpPr>
      <p:grpSpPr>
        <a:xfrm>
          <a:off x="0" y="0"/>
          <a:ext cx="0" cy="0"/>
          <a:chOff x="0" y="0"/>
          <a:chExt cx="0" cy="0"/>
        </a:xfrm>
      </p:grpSpPr>
      <p:sp>
        <p:nvSpPr>
          <p:cNvPr id="2" name="Text 0"/>
          <p:cNvSpPr txBox="1"/>
          <p:nvPr/>
        </p:nvSpPr>
        <p:spPr>
          <a:xfrm>
            <a:off x="548640" y="2377440"/>
            <a:ext cx="11094415" cy="365760"/>
          </a:xfrm>
          <a:prstGeom prst="rect">
            <a:avLst/>
          </a:prstGeom>
          <a:noFill/>
          <a:ln/>
        </p:spPr>
        <p:txBody>
          <a:bodyPr wrap="square" lIns="0" tIns="0" rIns="0" bIns="0" rtlCol="0" anchor="t"/>
          <a:lstStyle/>
          <a:p>
            <a:pPr marL="0" indent="0">
              <a:buNone/>
            </a:pPr>
            <a:r>
              <a:rPr lang="en-US" sz="1400" b="1" kern="0" spc="300" dirty="0">
                <a:solidFill>
                  <a:srgbClr val="8FA0B3"/>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788920"/>
            <a:ext cx="11094415"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Technical details for interested readers</a:t>
            </a:r>
            <a:endParaRPr lang="en-US" sz="3400" dirty="0"/>
          </a:p>
        </p:txBody>
      </p:sp>
      <p:sp>
        <p:nvSpPr>
          <p:cNvPr id="4" name="Text 2"/>
          <p:cNvSpPr txBox="1"/>
          <p:nvPr/>
        </p:nvSpPr>
        <p:spPr>
          <a:xfrm>
            <a:off x="548640" y="3749040"/>
            <a:ext cx="11094415" cy="457200"/>
          </a:xfrm>
          <a:prstGeom prst="rect">
            <a:avLst/>
          </a:prstGeom>
          <a:noFill/>
          <a:ln/>
        </p:spPr>
        <p:txBody>
          <a:bodyPr wrap="square" lIns="0" tIns="0" rIns="0" bIns="0" rtlCol="0" anchor="t"/>
          <a:lstStyle/>
          <a:p>
            <a:pPr marL="0" indent="0">
              <a:buNone/>
            </a:pPr>
            <a:r>
              <a:rPr lang="en-US" sz="1400" dirty="0">
                <a:solidFill>
                  <a:srgbClr val="C9D3DE"/>
                </a:solidFill>
                <a:latin typeface="Calibri" pitchFamily="34" charset="0"/>
                <a:ea typeface="Calibri" pitchFamily="34" charset="-122"/>
                <a:cs typeface="Calibri" pitchFamily="34" charset="-120"/>
              </a:rPr>
              <a:t>A1  Data and cleaning     A2  How the groups are built     A3  How we checked the groups     A4  How the value estimates were worked out</a:t>
            </a:r>
            <a:endParaRPr lang="en-US" sz="14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B3"/>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APPENDIX A1  ·  DATA AND CLEANING</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From 1.07 million raw sales lines to 794,159 clean lines</a:t>
            </a:r>
            <a:endParaRPr lang="en-US" sz="2600" dirty="0"/>
          </a:p>
        </p:txBody>
      </p:sp>
      <p:graphicFrame>
        <p:nvGraphicFramePr>
          <p:cNvPr id="4" name="Chart 0"/>
          <p:cNvGraphicFramePr/>
          <p:nvPr/>
        </p:nvGraphicFramePr>
        <p:xfrm>
          <a:off x="548640" y="1554480"/>
          <a:ext cx="71323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8001000" y="1691640"/>
            <a:ext cx="3639312" cy="274320"/>
          </a:xfrm>
          <a:prstGeom prst="rect">
            <a:avLst/>
          </a:prstGeom>
          <a:noFill/>
          <a:ln/>
        </p:spPr>
        <p:txBody>
          <a:bodyPr wrap="square" lIns="0" tIns="0" rIns="0" bIns="0" rtlCol="0" anchor="t"/>
          <a:lstStyle/>
          <a:p>
            <a:pPr marL="0" indent="0">
              <a:buNone/>
            </a:pPr>
            <a:r>
              <a:rPr lang="en-US" sz="1300" b="1" dirty="0">
                <a:solidFill>
                  <a:srgbClr val="1E2B3A"/>
                </a:solidFill>
                <a:latin typeface="Calibri" pitchFamily="34" charset="0"/>
                <a:ea typeface="Calibri" pitchFamily="34" charset="-122"/>
                <a:cs typeface="Calibri" pitchFamily="34" charset="-120"/>
              </a:rPr>
              <a:t>Source</a:t>
            </a:r>
            <a:endParaRPr lang="en-US" sz="1300" dirty="0"/>
          </a:p>
        </p:txBody>
      </p:sp>
      <p:sp>
        <p:nvSpPr>
          <p:cNvPr id="6" name="Text 3"/>
          <p:cNvSpPr txBox="1"/>
          <p:nvPr/>
        </p:nvSpPr>
        <p:spPr>
          <a:xfrm>
            <a:off x="8001000" y="1984248"/>
            <a:ext cx="3639312" cy="64008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Online Retail II (UCI), UK gift retailer, 1 Dec 2009 to 9 Dec 2011.</a:t>
            </a:r>
            <a:endParaRPr lang="en-US" sz="1200" dirty="0"/>
          </a:p>
        </p:txBody>
      </p:sp>
      <p:sp>
        <p:nvSpPr>
          <p:cNvPr id="7" name="Text 4"/>
          <p:cNvSpPr txBox="1"/>
          <p:nvPr/>
        </p:nvSpPr>
        <p:spPr>
          <a:xfrm>
            <a:off x="8001000" y="2679192"/>
            <a:ext cx="3639312" cy="274320"/>
          </a:xfrm>
          <a:prstGeom prst="rect">
            <a:avLst/>
          </a:prstGeom>
          <a:noFill/>
          <a:ln/>
        </p:spPr>
        <p:txBody>
          <a:bodyPr wrap="square" lIns="0" tIns="0" rIns="0" bIns="0" rtlCol="0" anchor="t"/>
          <a:lstStyle/>
          <a:p>
            <a:pPr marL="0" indent="0">
              <a:buNone/>
            </a:pPr>
            <a:r>
              <a:rPr lang="en-US" sz="1300" b="1" dirty="0">
                <a:solidFill>
                  <a:srgbClr val="1E2B3A"/>
                </a:solidFill>
                <a:latin typeface="Calibri" pitchFamily="34" charset="0"/>
                <a:ea typeface="Calibri" pitchFamily="34" charset="-122"/>
                <a:cs typeface="Calibri" pitchFamily="34" charset="-120"/>
              </a:rPr>
              <a:t>Customers</a:t>
            </a:r>
            <a:endParaRPr lang="en-US" sz="1300" dirty="0"/>
          </a:p>
        </p:txBody>
      </p:sp>
      <p:sp>
        <p:nvSpPr>
          <p:cNvPr id="8" name="Text 5"/>
          <p:cNvSpPr txBox="1"/>
          <p:nvPr/>
        </p:nvSpPr>
        <p:spPr>
          <a:xfrm>
            <a:off x="8001000" y="2971800"/>
            <a:ext cx="3639312" cy="64008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5,942 with a customer number; 5,253 had ordered before the 9 Sept 2011 snapshot.</a:t>
            </a:r>
            <a:endParaRPr lang="en-US" sz="1200" dirty="0"/>
          </a:p>
        </p:txBody>
      </p:sp>
      <p:sp>
        <p:nvSpPr>
          <p:cNvPr id="9" name="Text 6"/>
          <p:cNvSpPr txBox="1"/>
          <p:nvPr/>
        </p:nvSpPr>
        <p:spPr>
          <a:xfrm>
            <a:off x="8001000" y="3666744"/>
            <a:ext cx="3639312" cy="274320"/>
          </a:xfrm>
          <a:prstGeom prst="rect">
            <a:avLst/>
          </a:prstGeom>
          <a:noFill/>
          <a:ln/>
        </p:spPr>
        <p:txBody>
          <a:bodyPr wrap="square" lIns="0" tIns="0" rIns="0" bIns="0" rtlCol="0" anchor="t"/>
          <a:lstStyle/>
          <a:p>
            <a:pPr marL="0" indent="0">
              <a:buNone/>
            </a:pPr>
            <a:r>
              <a:rPr lang="en-US" sz="1300" b="1" dirty="0">
                <a:solidFill>
                  <a:srgbClr val="1E2B3A"/>
                </a:solidFill>
                <a:latin typeface="Calibri" pitchFamily="34" charset="0"/>
                <a:ea typeface="Calibri" pitchFamily="34" charset="-122"/>
                <a:cs typeface="Calibri" pitchFamily="34" charset="-120"/>
              </a:rPr>
              <a:t>Cancellations</a:t>
            </a:r>
            <a:endParaRPr lang="en-US" sz="1300" dirty="0"/>
          </a:p>
        </p:txBody>
      </p:sp>
      <p:sp>
        <p:nvSpPr>
          <p:cNvPr id="10" name="Text 7"/>
          <p:cNvSpPr txBox="1"/>
          <p:nvPr/>
        </p:nvSpPr>
        <p:spPr>
          <a:xfrm>
            <a:off x="8001000" y="3959352"/>
            <a:ext cx="3639312" cy="64008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17,586 lines (invoices starting with C) are netted against purchases.</a:t>
            </a:r>
            <a:endParaRPr lang="en-US" sz="1200" dirty="0"/>
          </a:p>
        </p:txBody>
      </p:sp>
      <p:sp>
        <p:nvSpPr>
          <p:cNvPr id="11" name="Text 8"/>
          <p:cNvSpPr txBox="1"/>
          <p:nvPr/>
        </p:nvSpPr>
        <p:spPr>
          <a:xfrm>
            <a:off x="8001000" y="4654296"/>
            <a:ext cx="3639312" cy="274320"/>
          </a:xfrm>
          <a:prstGeom prst="rect">
            <a:avLst/>
          </a:prstGeom>
          <a:noFill/>
          <a:ln/>
        </p:spPr>
        <p:txBody>
          <a:bodyPr wrap="square" lIns="0" tIns="0" rIns="0" bIns="0" rtlCol="0" anchor="t"/>
          <a:lstStyle/>
          <a:p>
            <a:pPr marL="0" indent="0">
              <a:buNone/>
            </a:pPr>
            <a:r>
              <a:rPr lang="en-US" sz="1300" b="1" dirty="0">
                <a:solidFill>
                  <a:srgbClr val="1E2B3A"/>
                </a:solidFill>
                <a:latin typeface="Calibri" pitchFamily="34" charset="0"/>
                <a:ea typeface="Calibri" pitchFamily="34" charset="-122"/>
                <a:cs typeface="Calibri" pitchFamily="34" charset="-120"/>
              </a:rPr>
              <a:t>Country</a:t>
            </a:r>
            <a:endParaRPr lang="en-US" sz="1300" dirty="0"/>
          </a:p>
        </p:txBody>
      </p:sp>
      <p:sp>
        <p:nvSpPr>
          <p:cNvPr id="12" name="Text 9"/>
          <p:cNvSpPr txBox="1"/>
          <p:nvPr/>
        </p:nvSpPr>
        <p:spPr>
          <a:xfrm>
            <a:off x="8001000" y="4946904"/>
            <a:ext cx="3639312" cy="64008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Grouped as UK and non-UK (90% of lines are UK). Used only to describe groups.</a:t>
            </a:r>
            <a:endParaRPr lang="en-US" sz="12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APPENDIX A2  ·  HOW THE GROUPS ARE BUILT</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RFM scoring: three scores from 1 to 4, and five simple rules</a:t>
            </a:r>
            <a:endParaRPr lang="en-US" sz="2600" dirty="0"/>
          </a:p>
        </p:txBody>
      </p:sp>
      <p:sp>
        <p:nvSpPr>
          <p:cNvPr id="4" name="Text 2"/>
          <p:cNvSpPr txBox="1"/>
          <p:nvPr/>
        </p:nvSpPr>
        <p:spPr>
          <a:xfrm>
            <a:off x="548640" y="1463040"/>
            <a:ext cx="11094415" cy="274320"/>
          </a:xfrm>
          <a:prstGeom prst="rect">
            <a:avLst/>
          </a:prstGeom>
          <a:noFill/>
          <a:ln/>
        </p:spPr>
        <p:txBody>
          <a:bodyPr wrap="square" lIns="0" tIns="0" rIns="0" bIns="0" rtlCol="0" anchor="t"/>
          <a:lstStyle/>
          <a:p>
            <a:pPr marL="0" indent="0">
              <a:buNone/>
            </a:pPr>
            <a:r>
              <a:rPr lang="en-US" sz="1250" dirty="0">
                <a:solidFill>
                  <a:srgbClr val="5B6675"/>
                </a:solidFill>
                <a:latin typeface="Calibri" pitchFamily="34" charset="0"/>
                <a:ea typeface="Calibri" pitchFamily="34" charset="-122"/>
                <a:cs typeface="Calibri" pitchFamily="34" charset="-120"/>
              </a:rPr>
              <a:t>Scores are based on quarters of all customers (1 = bottom quarter, 4 = top quarter)</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949440" cy="2493264"/>
        </p:xfrm>
        <a:graphic>
          <a:graphicData uri="http://schemas.openxmlformats.org/drawingml/2006/table">
            <a:tbl>
              <a:tblPr/>
              <a:tblGrid>
                <a:gridCol w="1737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Group</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Analysis name</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Rule (checked top to bottom)</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 plain words</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1F7A5C"/>
                          </a:solidFill>
                          <a:latin typeface="Calibri" pitchFamily="34" charset="0"/>
                          <a:ea typeface="Calibri" pitchFamily="34" charset="-122"/>
                          <a:cs typeface="Calibri" pitchFamily="34" charset="-120"/>
                        </a:rPr>
                        <a:t>Top Customers</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Champions</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R = 4 and F + M ≥ 7</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Ordered very recently, near the top on value</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2E6FB0"/>
                          </a:solidFill>
                          <a:latin typeface="Calibri" pitchFamily="34" charset="0"/>
                          <a:ea typeface="Calibri" pitchFamily="34" charset="-122"/>
                          <a:cs typeface="Calibri" pitchFamily="34" charset="-120"/>
                        </a:rPr>
                        <a:t>Steady Regulars</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Loyal</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R ≥ 3 and F + M ≥ 5</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Ordered recently, solid value</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C9820E"/>
                          </a:solidFill>
                          <a:latin typeface="Calibri" pitchFamily="34" charset="0"/>
                          <a:ea typeface="Calibri" pitchFamily="34" charset="-122"/>
                          <a:cs typeface="Calibri" pitchFamily="34" charset="-120"/>
                        </a:rPr>
                        <a:t>New Starters</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Needs Attention</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R ≥ 3</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Ordered recently, low value so far</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50" b="1" dirty="0">
                          <a:solidFill>
                            <a:srgbClr val="C0404A"/>
                          </a:solidFill>
                          <a:latin typeface="Calibri" pitchFamily="34" charset="0"/>
                          <a:ea typeface="Calibri" pitchFamily="34" charset="-122"/>
                          <a:cs typeface="Calibri" pitchFamily="34" charset="-120"/>
                        </a:rPr>
                        <a:t>Fading Big Spenders</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At Risk</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F + M ≥ 6</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Used to be valuable, not recent</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50" b="1" dirty="0">
                          <a:solidFill>
                            <a:srgbClr val="7F8691"/>
                          </a:solidFill>
                          <a:latin typeface="Calibri" pitchFamily="34" charset="0"/>
                          <a:ea typeface="Calibri" pitchFamily="34" charset="-122"/>
                          <a:cs typeface="Calibri" pitchFamily="34" charset="-120"/>
                        </a:rPr>
                        <a:t>Gone Quiet</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Lapsed</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Everyone else</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150" dirty="0">
                          <a:solidFill>
                            <a:srgbClr val="1E2B3A"/>
                          </a:solidFill>
                          <a:latin typeface="Calibri" pitchFamily="34" charset="0"/>
                          <a:ea typeface="Calibri" pitchFamily="34" charset="-122"/>
                          <a:cs typeface="Calibri" pitchFamily="34" charset="-120"/>
                        </a:rPr>
                        <a:t>Not recent, low value</a:t>
                      </a:r>
                      <a:endParaRPr lang="en-US" sz="115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7863840" y="1828800"/>
            <a:ext cx="3779215" cy="4023360"/>
          </a:xfrm>
          <a:prstGeom prst="roundRect">
            <a:avLst>
              <a:gd name="adj" fmla="val 2420"/>
            </a:avLst>
          </a:prstGeom>
          <a:solidFill>
            <a:srgbClr val="F3F5F8"/>
          </a:solidFill>
          <a:ln w="12700">
            <a:solidFill>
              <a:srgbClr val="F3F5F8"/>
            </a:solidFill>
            <a:prstDash val="solid"/>
          </a:ln>
        </p:spPr>
        <p:txBody>
          <a:bodyPr/>
          <a:lstStyle/>
          <a:p>
            <a:endParaRPr lang="en-CA"/>
          </a:p>
        </p:txBody>
      </p:sp>
      <p:sp>
        <p:nvSpPr>
          <p:cNvPr id="7" name="Text 4"/>
          <p:cNvSpPr txBox="1"/>
          <p:nvPr/>
        </p:nvSpPr>
        <p:spPr>
          <a:xfrm>
            <a:off x="8092440" y="1938528"/>
            <a:ext cx="3322015" cy="274320"/>
          </a:xfrm>
          <a:prstGeom prst="rect">
            <a:avLst/>
          </a:prstGeom>
          <a:noFill/>
          <a:ln/>
        </p:spPr>
        <p:txBody>
          <a:bodyPr wrap="square" lIns="0" tIns="0" rIns="0" bIns="0" rtlCol="0" anchor="t"/>
          <a:lstStyle/>
          <a:p>
            <a:pPr marL="0" indent="0">
              <a:buNone/>
            </a:pPr>
            <a:r>
              <a:rPr lang="en-US" sz="1300" b="1" dirty="0">
                <a:solidFill>
                  <a:srgbClr val="1E2B3A"/>
                </a:solidFill>
                <a:latin typeface="Calibri" pitchFamily="34" charset="0"/>
                <a:ea typeface="Calibri" pitchFamily="34" charset="-122"/>
                <a:cs typeface="Calibri" pitchFamily="34" charset="-120"/>
              </a:rPr>
              <a:t>Score cut-offs (9 Sept 2011)</a:t>
            </a:r>
            <a:endParaRPr lang="en-US" sz="1300" dirty="0"/>
          </a:p>
        </p:txBody>
      </p:sp>
      <p:sp>
        <p:nvSpPr>
          <p:cNvPr id="8" name="Text 5"/>
          <p:cNvSpPr txBox="1"/>
          <p:nvPr/>
        </p:nvSpPr>
        <p:spPr>
          <a:xfrm>
            <a:off x="8092440" y="2286000"/>
            <a:ext cx="1737360" cy="457200"/>
          </a:xfrm>
          <a:prstGeom prst="rect">
            <a:avLst/>
          </a:prstGeom>
          <a:noFill/>
          <a:ln/>
        </p:spPr>
        <p:txBody>
          <a:bodyPr wrap="square" lIns="0" tIns="0" rIns="0" bIns="0" rtlCol="0" anchor="ctr"/>
          <a:lstStyle/>
          <a:p>
            <a:pPr marL="0" indent="0">
              <a:buNone/>
            </a:pPr>
            <a:r>
              <a:rPr lang="en-US" sz="1150" b="1" dirty="0">
                <a:solidFill>
                  <a:srgbClr val="1E2B3A"/>
                </a:solidFill>
                <a:latin typeface="Calibri" pitchFamily="34" charset="0"/>
                <a:ea typeface="Calibri" pitchFamily="34" charset="-122"/>
                <a:cs typeface="Calibri" pitchFamily="34" charset="-120"/>
              </a:rPr>
              <a:t>R  Recency</a:t>
            </a:r>
            <a:endParaRPr lang="en-US" sz="1150" dirty="0"/>
          </a:p>
        </p:txBody>
      </p:sp>
      <p:sp>
        <p:nvSpPr>
          <p:cNvPr id="9" name="Text 6"/>
          <p:cNvSpPr txBox="1"/>
          <p:nvPr/>
        </p:nvSpPr>
        <p:spPr>
          <a:xfrm>
            <a:off x="9784080" y="2286000"/>
            <a:ext cx="1721815" cy="457200"/>
          </a:xfrm>
          <a:prstGeom prst="rect">
            <a:avLst/>
          </a:prstGeom>
          <a:noFill/>
          <a:ln/>
        </p:spPr>
        <p:txBody>
          <a:bodyPr wrap="square" lIns="0" tIns="0" rIns="0" bIns="0" rtlCol="0" anchor="ctr"/>
          <a:lstStyle/>
          <a:p>
            <a:pPr marL="0" indent="0">
              <a:buNone/>
            </a:pPr>
            <a:r>
              <a:rPr lang="en-US" sz="1150" dirty="0">
                <a:solidFill>
                  <a:srgbClr val="5B6675"/>
                </a:solidFill>
                <a:latin typeface="Calibri" pitchFamily="34" charset="0"/>
                <a:ea typeface="Calibri" pitchFamily="34" charset="-122"/>
                <a:cs typeface="Calibri" pitchFamily="34" charset="-120"/>
              </a:rPr>
              <a:t>49 · 162 · 324 days</a:t>
            </a:r>
            <a:endParaRPr lang="en-US" sz="1150" dirty="0"/>
          </a:p>
        </p:txBody>
      </p:sp>
      <p:sp>
        <p:nvSpPr>
          <p:cNvPr id="10" name="Text 7"/>
          <p:cNvSpPr txBox="1"/>
          <p:nvPr/>
        </p:nvSpPr>
        <p:spPr>
          <a:xfrm>
            <a:off x="8092440" y="2788920"/>
            <a:ext cx="1737360" cy="457200"/>
          </a:xfrm>
          <a:prstGeom prst="rect">
            <a:avLst/>
          </a:prstGeom>
          <a:noFill/>
          <a:ln/>
        </p:spPr>
        <p:txBody>
          <a:bodyPr wrap="square" lIns="0" tIns="0" rIns="0" bIns="0" rtlCol="0" anchor="ctr"/>
          <a:lstStyle/>
          <a:p>
            <a:pPr marL="0" indent="0">
              <a:buNone/>
            </a:pPr>
            <a:r>
              <a:rPr lang="en-US" sz="1150" b="1" dirty="0">
                <a:solidFill>
                  <a:srgbClr val="1E2B3A"/>
                </a:solidFill>
                <a:latin typeface="Calibri" pitchFamily="34" charset="0"/>
                <a:ea typeface="Calibri" pitchFamily="34" charset="-122"/>
                <a:cs typeface="Calibri" pitchFamily="34" charset="-120"/>
              </a:rPr>
              <a:t>F  Frequency</a:t>
            </a:r>
            <a:endParaRPr lang="en-US" sz="1150" dirty="0"/>
          </a:p>
        </p:txBody>
      </p:sp>
      <p:sp>
        <p:nvSpPr>
          <p:cNvPr id="11" name="Text 8"/>
          <p:cNvSpPr txBox="1"/>
          <p:nvPr/>
        </p:nvSpPr>
        <p:spPr>
          <a:xfrm>
            <a:off x="9784080" y="2788920"/>
            <a:ext cx="1721815" cy="457200"/>
          </a:xfrm>
          <a:prstGeom prst="rect">
            <a:avLst/>
          </a:prstGeom>
          <a:noFill/>
          <a:ln/>
        </p:spPr>
        <p:txBody>
          <a:bodyPr wrap="square" lIns="0" tIns="0" rIns="0" bIns="0" rtlCol="0" anchor="ctr"/>
          <a:lstStyle/>
          <a:p>
            <a:pPr marL="0" indent="0">
              <a:buNone/>
            </a:pPr>
            <a:r>
              <a:rPr lang="en-US" sz="1150" dirty="0">
                <a:solidFill>
                  <a:srgbClr val="5B6675"/>
                </a:solidFill>
                <a:latin typeface="Calibri" pitchFamily="34" charset="0"/>
                <a:ea typeface="Calibri" pitchFamily="34" charset="-122"/>
                <a:cs typeface="Calibri" pitchFamily="34" charset="-120"/>
              </a:rPr>
              <a:t>1 · 3 · 6 orders</a:t>
            </a:r>
            <a:endParaRPr lang="en-US" sz="1150" dirty="0"/>
          </a:p>
        </p:txBody>
      </p:sp>
      <p:sp>
        <p:nvSpPr>
          <p:cNvPr id="12" name="Text 9"/>
          <p:cNvSpPr txBox="1"/>
          <p:nvPr/>
        </p:nvSpPr>
        <p:spPr>
          <a:xfrm>
            <a:off x="8092440" y="3291840"/>
            <a:ext cx="1737360" cy="457200"/>
          </a:xfrm>
          <a:prstGeom prst="rect">
            <a:avLst/>
          </a:prstGeom>
          <a:noFill/>
          <a:ln/>
        </p:spPr>
        <p:txBody>
          <a:bodyPr wrap="square" lIns="0" tIns="0" rIns="0" bIns="0" rtlCol="0" anchor="ctr"/>
          <a:lstStyle/>
          <a:p>
            <a:pPr marL="0" indent="0">
              <a:buNone/>
            </a:pPr>
            <a:r>
              <a:rPr lang="en-US" sz="1150" b="1" dirty="0">
                <a:solidFill>
                  <a:srgbClr val="1E2B3A"/>
                </a:solidFill>
                <a:latin typeface="Calibri" pitchFamily="34" charset="0"/>
                <a:ea typeface="Calibri" pitchFamily="34" charset="-122"/>
                <a:cs typeface="Calibri" pitchFamily="34" charset="-120"/>
              </a:rPr>
              <a:t>M  Monetary</a:t>
            </a:r>
            <a:endParaRPr lang="en-US" sz="1150" dirty="0"/>
          </a:p>
        </p:txBody>
      </p:sp>
      <p:sp>
        <p:nvSpPr>
          <p:cNvPr id="13" name="Text 10"/>
          <p:cNvSpPr txBox="1"/>
          <p:nvPr/>
        </p:nvSpPr>
        <p:spPr>
          <a:xfrm>
            <a:off x="9784080" y="3291840"/>
            <a:ext cx="1721815" cy="457200"/>
          </a:xfrm>
          <a:prstGeom prst="rect">
            <a:avLst/>
          </a:prstGeom>
          <a:noFill/>
          <a:ln/>
        </p:spPr>
        <p:txBody>
          <a:bodyPr wrap="square" lIns="0" tIns="0" rIns="0" bIns="0" rtlCol="0" anchor="ctr"/>
          <a:lstStyle/>
          <a:p>
            <a:pPr marL="0" indent="0">
              <a:buNone/>
            </a:pPr>
            <a:r>
              <a:rPr lang="en-US" sz="1150" dirty="0">
                <a:solidFill>
                  <a:srgbClr val="5B6675"/>
                </a:solidFill>
                <a:latin typeface="Calibri" pitchFamily="34" charset="0"/>
                <a:ea typeface="Calibri" pitchFamily="34" charset="-122"/>
                <a:cs typeface="Calibri" pitchFamily="34" charset="-120"/>
              </a:rPr>
              <a:t>£310 · £759 · £2,004</a:t>
            </a:r>
            <a:endParaRPr lang="en-US" sz="1150" dirty="0"/>
          </a:p>
        </p:txBody>
      </p:sp>
      <p:sp>
        <p:nvSpPr>
          <p:cNvPr id="14" name="Text 11"/>
          <p:cNvSpPr txBox="1"/>
          <p:nvPr/>
        </p:nvSpPr>
        <p:spPr>
          <a:xfrm>
            <a:off x="8092440" y="3794760"/>
            <a:ext cx="1737360" cy="457200"/>
          </a:xfrm>
          <a:prstGeom prst="rect">
            <a:avLst/>
          </a:prstGeom>
          <a:noFill/>
          <a:ln/>
        </p:spPr>
        <p:txBody>
          <a:bodyPr wrap="square" lIns="0" tIns="0" rIns="0" bIns="0" rtlCol="0" anchor="ctr"/>
          <a:lstStyle/>
          <a:p>
            <a:pPr marL="0" indent="0">
              <a:buNone/>
            </a:pPr>
            <a:r>
              <a:rPr lang="en-US" sz="1150" b="1" dirty="0">
                <a:solidFill>
                  <a:srgbClr val="1E2B3A"/>
                </a:solidFill>
                <a:latin typeface="Calibri" pitchFamily="34" charset="0"/>
                <a:ea typeface="Calibri" pitchFamily="34" charset="-122"/>
                <a:cs typeface="Calibri" pitchFamily="34" charset="-120"/>
              </a:rPr>
              <a:t>Product breadth</a:t>
            </a:r>
            <a:endParaRPr lang="en-US" sz="1150" dirty="0"/>
          </a:p>
        </p:txBody>
      </p:sp>
      <p:sp>
        <p:nvSpPr>
          <p:cNvPr id="15" name="Text 12"/>
          <p:cNvSpPr txBox="1"/>
          <p:nvPr/>
        </p:nvSpPr>
        <p:spPr>
          <a:xfrm>
            <a:off x="9784080" y="3794760"/>
            <a:ext cx="1721815" cy="457200"/>
          </a:xfrm>
          <a:prstGeom prst="rect">
            <a:avLst/>
          </a:prstGeom>
          <a:noFill/>
          <a:ln/>
        </p:spPr>
        <p:txBody>
          <a:bodyPr wrap="square" lIns="0" tIns="0" rIns="0" bIns="0" rtlCol="0" anchor="ctr"/>
          <a:lstStyle/>
          <a:p>
            <a:pPr marL="0" indent="0">
              <a:buNone/>
            </a:pPr>
            <a:r>
              <a:rPr lang="en-US" sz="1150" dirty="0">
                <a:solidFill>
                  <a:srgbClr val="5B6675"/>
                </a:solidFill>
                <a:latin typeface="Calibri" pitchFamily="34" charset="0"/>
                <a:ea typeface="Calibri" pitchFamily="34" charset="-122"/>
                <a:cs typeface="Calibri" pitchFamily="34" charset="-120"/>
              </a:rPr>
              <a:t>18 · 41 · 92 products</a:t>
            </a:r>
            <a:endParaRPr lang="en-US" sz="1150" dirty="0"/>
          </a:p>
        </p:txBody>
      </p:sp>
      <p:sp>
        <p:nvSpPr>
          <p:cNvPr id="16" name="Text 13"/>
          <p:cNvSpPr txBox="1"/>
          <p:nvPr/>
        </p:nvSpPr>
        <p:spPr>
          <a:xfrm>
            <a:off x="8092440" y="4297680"/>
            <a:ext cx="1737360" cy="457200"/>
          </a:xfrm>
          <a:prstGeom prst="rect">
            <a:avLst/>
          </a:prstGeom>
          <a:noFill/>
          <a:ln/>
        </p:spPr>
        <p:txBody>
          <a:bodyPr wrap="square" lIns="0" tIns="0" rIns="0" bIns="0" rtlCol="0" anchor="ctr"/>
          <a:lstStyle/>
          <a:p>
            <a:pPr marL="0" indent="0">
              <a:buNone/>
            </a:pPr>
            <a:r>
              <a:rPr lang="en-US" sz="1150" b="1" dirty="0">
                <a:solidFill>
                  <a:srgbClr val="1E2B3A"/>
                </a:solidFill>
                <a:latin typeface="Calibri" pitchFamily="34" charset="0"/>
                <a:ea typeface="Calibri" pitchFamily="34" charset="-122"/>
                <a:cs typeface="Calibri" pitchFamily="34" charset="-120"/>
              </a:rPr>
              <a:t>Average order value</a:t>
            </a:r>
            <a:endParaRPr lang="en-US" sz="1150" dirty="0"/>
          </a:p>
        </p:txBody>
      </p:sp>
      <p:sp>
        <p:nvSpPr>
          <p:cNvPr id="17" name="Text 14"/>
          <p:cNvSpPr txBox="1"/>
          <p:nvPr/>
        </p:nvSpPr>
        <p:spPr>
          <a:xfrm>
            <a:off x="9784080" y="4297680"/>
            <a:ext cx="1721815" cy="457200"/>
          </a:xfrm>
          <a:prstGeom prst="rect">
            <a:avLst/>
          </a:prstGeom>
          <a:noFill/>
          <a:ln/>
        </p:spPr>
        <p:txBody>
          <a:bodyPr wrap="square" lIns="0" tIns="0" rIns="0" bIns="0" rtlCol="0" anchor="ctr"/>
          <a:lstStyle/>
          <a:p>
            <a:pPr marL="0" indent="0">
              <a:buNone/>
            </a:pPr>
            <a:r>
              <a:rPr lang="en-US" sz="1150" dirty="0">
                <a:solidFill>
                  <a:srgbClr val="5B6675"/>
                </a:solidFill>
                <a:latin typeface="Calibri" pitchFamily="34" charset="0"/>
                <a:ea typeface="Calibri" pitchFamily="34" charset="-122"/>
                <a:cs typeface="Calibri" pitchFamily="34" charset="-120"/>
              </a:rPr>
              <a:t>£169 · £268 · £399</a:t>
            </a:r>
            <a:endParaRPr lang="en-US" sz="1150" dirty="0"/>
          </a:p>
        </p:txBody>
      </p:sp>
      <p:sp>
        <p:nvSpPr>
          <p:cNvPr id="18" name="Text 15"/>
          <p:cNvSpPr txBox="1"/>
          <p:nvPr/>
        </p:nvSpPr>
        <p:spPr>
          <a:xfrm>
            <a:off x="8092440" y="4846320"/>
            <a:ext cx="3367735" cy="914400"/>
          </a:xfrm>
          <a:prstGeom prst="rect">
            <a:avLst/>
          </a:prstGeom>
          <a:noFill/>
          <a:ln/>
        </p:spPr>
        <p:txBody>
          <a:bodyPr wrap="square" lIns="0" tIns="0" rIns="0" bIns="0" rtlCol="0" anchor="t"/>
          <a:lstStyle/>
          <a:p>
            <a:pPr marL="0" indent="0">
              <a:buNone/>
            </a:pPr>
            <a:r>
              <a:rPr lang="en-US" sz="1100" dirty="0">
                <a:solidFill>
                  <a:srgbClr val="5B6675"/>
                </a:solidFill>
                <a:latin typeface="Calibri" pitchFamily="34" charset="0"/>
                <a:ea typeface="Calibri" pitchFamily="34" charset="-122"/>
                <a:cs typeface="Calibri" pitchFamily="34" charset="-120"/>
              </a:rPr>
              <a:t>Customer score (5 to 20) = R + F + M + breadth score + order value score. Tenure, basket size, cancellation rate and country are used only to describe the groups.</a:t>
            </a:r>
            <a:endParaRPr lang="en-US" sz="1100" dirty="0"/>
          </a:p>
        </p:txBody>
      </p:sp>
      <p:sp>
        <p:nvSpPr>
          <p:cNvPr id="19" name="Text 16"/>
          <p:cNvSpPr txBox="1"/>
          <p:nvPr/>
        </p:nvSpPr>
        <p:spPr>
          <a:xfrm>
            <a:off x="548640" y="4892040"/>
            <a:ext cx="6949440" cy="822960"/>
          </a:xfrm>
          <a:prstGeom prst="rect">
            <a:avLst/>
          </a:prstGeom>
          <a:noFill/>
          <a:ln/>
        </p:spPr>
        <p:txBody>
          <a:bodyPr wrap="square" lIns="0" tIns="0" rIns="0" bIns="0" rtlCol="0" anchor="t"/>
          <a:lstStyle/>
          <a:p>
            <a:pPr marL="0" indent="0">
              <a:buNone/>
            </a:pPr>
            <a:r>
              <a:rPr lang="en-US" sz="1250" i="1" dirty="0">
                <a:solidFill>
                  <a:srgbClr val="5B6675"/>
                </a:solidFill>
                <a:latin typeface="Calibri" pitchFamily="34" charset="0"/>
                <a:ea typeface="Calibri" pitchFamily="34" charset="-122"/>
                <a:cs typeface="Calibri" pitchFamily="34" charset="-120"/>
              </a:rPr>
              <a:t>Why rules instead of a clustering model: the rules are easy to explain, easy to rebuild in a CRM, and gave groups that sorted customers clearly by later behaviour.</a:t>
            </a:r>
            <a:endParaRPr lang="en-US" sz="125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APPENDIX A3  ·  HOW WE CHECKED THE GROUPS</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Higher customer scores meant fewer customers lost, in both seasons</a:t>
            </a:r>
            <a:endParaRPr lang="en-US" sz="2600" dirty="0"/>
          </a:p>
        </p:txBody>
      </p:sp>
      <p:graphicFrame>
        <p:nvGraphicFramePr>
          <p:cNvPr id="4" name="Chart 0"/>
          <p:cNvGraphicFramePr/>
          <p:nvPr/>
        </p:nvGraphicFramePr>
        <p:xfrm>
          <a:off x="548640" y="1554480"/>
          <a:ext cx="69494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909560" y="1691640"/>
            <a:ext cx="3730752" cy="320040"/>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Built blind, checked after</a:t>
            </a:r>
            <a:endParaRPr lang="en-US" sz="1350" dirty="0"/>
          </a:p>
        </p:txBody>
      </p:sp>
      <p:sp>
        <p:nvSpPr>
          <p:cNvPr id="6" name="Text 3"/>
          <p:cNvSpPr txBox="1"/>
          <p:nvPr/>
        </p:nvSpPr>
        <p:spPr>
          <a:xfrm>
            <a:off x="7909560" y="2039112"/>
            <a:ext cx="3730752" cy="86868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Groups used only data before the snapshot; what happened next was checked afterwards.</a:t>
            </a:r>
            <a:endParaRPr lang="en-US" sz="1200" dirty="0"/>
          </a:p>
        </p:txBody>
      </p:sp>
      <p:sp>
        <p:nvSpPr>
          <p:cNvPr id="7" name="Text 4"/>
          <p:cNvSpPr txBox="1"/>
          <p:nvPr/>
        </p:nvSpPr>
        <p:spPr>
          <a:xfrm>
            <a:off x="7909560" y="3017520"/>
            <a:ext cx="3730752" cy="320040"/>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Same order in both seasons</a:t>
            </a:r>
            <a:endParaRPr lang="en-US" sz="1350" dirty="0"/>
          </a:p>
        </p:txBody>
      </p:sp>
      <p:sp>
        <p:nvSpPr>
          <p:cNvPr id="8" name="Text 5"/>
          <p:cNvSpPr txBox="1"/>
          <p:nvPr/>
        </p:nvSpPr>
        <p:spPr>
          <a:xfrm>
            <a:off x="7909560" y="3364992"/>
            <a:ext cx="3730752" cy="86868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Top Customers lost the fewest and Gone Quiet the most, in June and in September.</a:t>
            </a:r>
            <a:endParaRPr lang="en-US" sz="1200" dirty="0"/>
          </a:p>
        </p:txBody>
      </p:sp>
      <p:sp>
        <p:nvSpPr>
          <p:cNvPr id="9" name="Text 6"/>
          <p:cNvSpPr txBox="1"/>
          <p:nvPr/>
        </p:nvSpPr>
        <p:spPr>
          <a:xfrm>
            <a:off x="7909560" y="4343400"/>
            <a:ext cx="3730752" cy="320040"/>
          </a:xfrm>
          <a:prstGeom prst="rect">
            <a:avLst/>
          </a:prstGeom>
          <a:noFill/>
          <a:ln/>
        </p:spPr>
        <p:txBody>
          <a:bodyPr wrap="square" lIns="0" tIns="0" rIns="0" bIns="0" rtlCol="0" anchor="t"/>
          <a:lstStyle/>
          <a:p>
            <a:pPr marL="0" indent="0">
              <a:buNone/>
            </a:pPr>
            <a:r>
              <a:rPr lang="en-US" sz="1350" b="1" dirty="0">
                <a:solidFill>
                  <a:srgbClr val="1E2B3A"/>
                </a:solidFill>
                <a:latin typeface="Calibri" pitchFamily="34" charset="0"/>
                <a:ea typeface="Calibri" pitchFamily="34" charset="-122"/>
                <a:cs typeface="Calibri" pitchFamily="34" charset="-120"/>
              </a:rPr>
              <a:t>Season difference is real</a:t>
            </a:r>
            <a:endParaRPr lang="en-US" sz="1350" dirty="0"/>
          </a:p>
        </p:txBody>
      </p:sp>
      <p:sp>
        <p:nvSpPr>
          <p:cNvPr id="10" name="Text 7"/>
          <p:cNvSpPr txBox="1"/>
          <p:nvPr/>
        </p:nvSpPr>
        <p:spPr>
          <a:xfrm>
            <a:off x="7909560" y="4690872"/>
            <a:ext cx="3730752" cy="868680"/>
          </a:xfrm>
          <a:prstGeom prst="rect">
            <a:avLst/>
          </a:prstGeom>
          <a:noFill/>
          <a:ln/>
        </p:spPr>
        <p:txBody>
          <a:bodyPr wrap="square" lIns="0" tIns="0" rIns="0" bIns="0" rtlCol="0" anchor="t"/>
          <a:lstStyle/>
          <a:p>
            <a:pPr marL="0" indent="0">
              <a:buNone/>
            </a:pPr>
            <a:r>
              <a:rPr lang="en-US" sz="1200" dirty="0">
                <a:solidFill>
                  <a:srgbClr val="5B6675"/>
                </a:solidFill>
                <a:latin typeface="Calibri" pitchFamily="34" charset="0"/>
                <a:ea typeface="Calibri" pitchFamily="34" charset="-122"/>
                <a:cs typeface="Calibri" pitchFamily="34" charset="-120"/>
              </a:rPr>
              <a:t>McNemar test on 4,944 customers: 972 came back in autumn vs 444 who went the other way (p &lt; 0.0001).</a:t>
            </a:r>
            <a:endParaRPr lang="en-US" sz="120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marL="0" indent="0">
              <a:buNone/>
            </a:pPr>
            <a:r>
              <a:rPr lang="en-US" sz="1100" b="1" kern="0" spc="200" dirty="0">
                <a:solidFill>
                  <a:srgbClr val="5B6675"/>
                </a:solidFill>
                <a:latin typeface="Calibri" pitchFamily="34" charset="0"/>
                <a:ea typeface="Calibri" pitchFamily="34" charset="-122"/>
                <a:cs typeface="Calibri" pitchFamily="34" charset="-120"/>
              </a:rPr>
              <a:t>APPENDIX A4  ·  HOW THE VALUE ESTIMATES WERE WORKED OUT</a:t>
            </a:r>
            <a:endParaRPr lang="en-US" sz="1100" dirty="0"/>
          </a:p>
        </p:txBody>
      </p:sp>
      <p:sp>
        <p:nvSpPr>
          <p:cNvPr id="3" name="Text 1"/>
          <p:cNvSpPr txBox="1"/>
          <p:nvPr/>
        </p:nvSpPr>
        <p:spPr>
          <a:xfrm>
            <a:off x="548640" y="566928"/>
            <a:ext cx="11094415" cy="914400"/>
          </a:xfrm>
          <a:prstGeom prst="rect">
            <a:avLst/>
          </a:prstGeom>
          <a:noFill/>
          <a:ln/>
        </p:spPr>
        <p:txBody>
          <a:bodyPr wrap="square" lIns="0" tIns="0" rIns="0" bIns="0" rtlCol="0" anchor="t"/>
          <a:lstStyle/>
          <a:p>
            <a:pPr marL="0" indent="0">
              <a:buNone/>
            </a:pPr>
            <a:r>
              <a:rPr lang="en-US" sz="2600" b="1" dirty="0">
                <a:solidFill>
                  <a:srgbClr val="1E2B3A"/>
                </a:solidFill>
                <a:latin typeface="Cambria" pitchFamily="34" charset="0"/>
                <a:ea typeface="Cambria" pitchFamily="34" charset="-122"/>
                <a:cs typeface="Cambria" pitchFamily="34" charset="-120"/>
              </a:rPr>
              <a:t>Each estimate = customers affected × typical past spend</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2880360"/>
        </p:xfrm>
        <a:graphic>
          <a:graphicData uri="http://schemas.openxmlformats.org/drawingml/2006/table">
            <a:tbl>
              <a:tblPr/>
              <a:tblGrid>
                <a:gridCol w="26517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307592">
                  <a:extLst>
                    <a:ext uri="{9D8B030D-6E8A-4147-A177-3AD203B41FA5}">
                      <a16:colId xmlns:a16="http://schemas.microsoft.com/office/drawing/2014/main" val="20005"/>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Starting point (autumn 2011)</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Assumed response</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Customers</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 each</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Estimate</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E2B3A"/>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rgbClr val="1F7A5C"/>
                          </a:solidFill>
                          <a:latin typeface="Calibri" pitchFamily="34" charset="0"/>
                          <a:ea typeface="Calibri" pitchFamily="34" charset="-122"/>
                          <a:cs typeface="Calibri" pitchFamily="34" charset="-120"/>
                        </a:rPr>
                        <a:t>Protect Top Customers</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126 of 786 placed no order</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Keep 1 in 4</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£4,429</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£142k</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200" b="1" dirty="0">
                          <a:solidFill>
                            <a:srgbClr val="2E6FB0"/>
                          </a:solidFill>
                          <a:latin typeface="Calibri" pitchFamily="34" charset="0"/>
                          <a:ea typeface="Calibri" pitchFamily="34" charset="-122"/>
                          <a:cs typeface="Calibri" pitchFamily="34" charset="-120"/>
                        </a:rPr>
                        <a:t>Keep Steady Regulars ordering</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444 of 1,120 placed no order</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Keep 1 in 5</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89</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£1,496</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£133k</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200" b="1" dirty="0">
                          <a:solidFill>
                            <a:srgbClr val="C9820E"/>
                          </a:solidFill>
                          <a:latin typeface="Calibri" pitchFamily="34" charset="0"/>
                          <a:ea typeface="Calibri" pitchFamily="34" charset="-122"/>
                          <a:cs typeface="Calibri" pitchFamily="34" charset="-120"/>
                        </a:rPr>
                        <a:t>Get New Starters to order 3</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722 New Starters</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1 in 10 become repeat buyers</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£1,436 extra</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£103k</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200" b="1" dirty="0">
                          <a:solidFill>
                            <a:srgbClr val="C0404A"/>
                          </a:solidFill>
                          <a:latin typeface="Calibri" pitchFamily="34" charset="0"/>
                          <a:ea typeface="Calibri" pitchFamily="34" charset="-122"/>
                          <a:cs typeface="Calibri" pitchFamily="34" charset="-120"/>
                        </a:rPr>
                        <a:t>Win back Fading Big Spenders</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299 of 495 placed no order</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Win back 1 in 10</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£1,765</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£53k</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200" b="1" dirty="0">
                          <a:solidFill>
                            <a:srgbClr val="7F8691"/>
                          </a:solidFill>
                          <a:latin typeface="Calibri" pitchFamily="34" charset="0"/>
                          <a:ea typeface="Calibri" pitchFamily="34" charset="-122"/>
                          <a:cs typeface="Calibri" pitchFamily="34" charset="-120"/>
                        </a:rPr>
                        <a:t>Remind Gone Quiet</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1,702 of 2,130 placed no order</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Win back 1 in 20</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£328</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dirty="0">
                          <a:solidFill>
                            <a:srgbClr val="1E2B3A"/>
                          </a:solidFill>
                          <a:latin typeface="Calibri" pitchFamily="34" charset="0"/>
                          <a:ea typeface="Calibri" pitchFamily="34" charset="-122"/>
                          <a:cs typeface="Calibri" pitchFamily="34" charset="-120"/>
                        </a:rPr>
                        <a:t>£28k</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200" b="1" dirty="0">
                          <a:solidFill>
                            <a:srgbClr val="1E2B3A"/>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200" b="1" dirty="0">
                          <a:solidFill>
                            <a:srgbClr val="1E2B3A"/>
                          </a:solidFill>
                          <a:latin typeface="Calibri" pitchFamily="34" charset="0"/>
                          <a:ea typeface="Calibri" pitchFamily="34" charset="-122"/>
                          <a:cs typeface="Calibri" pitchFamily="34" charset="-120"/>
                        </a:rPr>
                        <a:t>≈ £460k</a:t>
                      </a:r>
                      <a:endParaRPr lang="en-US" sz="1200" dirty="0">
                        <a:latin typeface="Calibri" charset="0"/>
                        <a:ea typeface="Calibri" charset="0"/>
                        <a:cs typeface="Calibri" charset="0"/>
                      </a:endParaRPr>
                    </a:p>
                  </a:txBody>
                  <a:tcPr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548640" y="4754880"/>
            <a:ext cx="11094415" cy="1280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B6675"/>
                </a:solidFill>
                <a:latin typeface="Calibri" pitchFamily="34" charset="0"/>
                <a:ea typeface="Calibri" pitchFamily="34" charset="-122"/>
                <a:cs typeface="Calibri" pitchFamily="34" charset="-120"/>
              </a:rPr>
              <a:t>Value each is the median spend of the group up to 9 Sept 2011, covering roughly 18 months of history. Value would build up over a similar period.</a:t>
            </a:r>
            <a:endParaRPr lang="en-US" sz="1250" dirty="0"/>
          </a:p>
          <a:p>
            <a:pPr marL="342900" indent="-342900">
              <a:spcAft>
                <a:spcPts val="600"/>
              </a:spcAft>
              <a:buSzPct val="100000"/>
              <a:buChar char="•"/>
            </a:pPr>
            <a:r>
              <a:rPr lang="en-US" sz="1250" dirty="0">
                <a:solidFill>
                  <a:srgbClr val="5B6675"/>
                </a:solidFill>
                <a:latin typeface="Calibri" pitchFamily="34" charset="0"/>
                <a:ea typeface="Calibri" pitchFamily="34" charset="-122"/>
                <a:cs typeface="Calibri" pitchFamily="34" charset="-120"/>
              </a:rPr>
              <a:t>New Starters: gap between a typical repeat buyer (£1,778) and a typical New Starter (£342).</a:t>
            </a:r>
            <a:endParaRPr lang="en-US" sz="1250" dirty="0"/>
          </a:p>
          <a:p>
            <a:pPr marL="342900" indent="-342900">
              <a:spcAft>
                <a:spcPts val="600"/>
              </a:spcAft>
              <a:buSzPct val="100000"/>
              <a:buChar char="•"/>
            </a:pPr>
            <a:r>
              <a:rPr lang="en-US" sz="1250" dirty="0">
                <a:solidFill>
                  <a:srgbClr val="5B6675"/>
                </a:solidFill>
                <a:latin typeface="Calibri" pitchFamily="34" charset="0"/>
                <a:ea typeface="Calibri" pitchFamily="34" charset="-122"/>
                <a:cs typeface="Calibri" pitchFamily="34" charset="-120"/>
              </a:rPr>
              <a:t>Response rates are illustrative. Replace them with measured results after the first hold-back tests.</a:t>
            </a:r>
            <a:endParaRPr lang="en-US" sz="1250" dirty="0"/>
          </a:p>
        </p:txBody>
      </p:sp>
      <p:sp>
        <p:nvSpPr>
          <p:cNvPr id="25" name="Slide Number Placeholder 0"/>
          <p:cNvSpPr>
            <a:spLocks noGrp="1"/>
          </p:cNvSpPr>
          <p:nvPr>
            <p:ph type="sldNum" sz="quarter" idx="4294967295"/>
          </p:nvPr>
        </p:nvSpPr>
        <p:spPr>
          <a:xfrm>
            <a:off x="11368735" y="6473952"/>
            <a:ext cx="45720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3"/>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10943</Words>
  <Application>Microsoft Office PowerPoint</Application>
  <PresentationFormat>Widescreen</PresentationFormat>
  <Paragraphs>614</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customers need a different CRM approach?</dc:title>
  <dc:subject>PptxGenJS Presentation</dc:subject>
  <dc:creator>Customer Analytics</dc:creator>
  <cp:lastModifiedBy>Nitesh Talukdar</cp:lastModifiedBy>
  <cp:revision>2</cp:revision>
  <dcterms:created xsi:type="dcterms:W3CDTF">2026-09-25T15:25:51Z</dcterms:created>
  <dcterms:modified xsi:type="dcterms:W3CDTF">2026-09-25T18:23:50Z</dcterms:modified>
</cp:coreProperties>
</file>