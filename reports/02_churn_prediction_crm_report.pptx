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6" d="100"/>
          <a:sy n="56" d="100"/>
        </p:scale>
        <p:origin x="33" y="7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esh Talukdar" userId="1d35721b625ed0f2" providerId="LiveId" clId="{9FA423E1-B745-4F61-8BE6-28789DF2AB81}"/>
    <pc:docChg chg="modSld">
      <pc:chgData name="Nitesh Talukdar" userId="1d35721b625ed0f2" providerId="LiveId" clId="{9FA423E1-B745-4F61-8BE6-28789DF2AB81}" dt="2026-09-30T01:31:38.568" v="6" actId="404"/>
      <pc:docMkLst>
        <pc:docMk/>
      </pc:docMkLst>
      <pc:sldChg chg="modSp mod">
        <pc:chgData name="Nitesh Talukdar" userId="1d35721b625ed0f2" providerId="LiveId" clId="{9FA423E1-B745-4F61-8BE6-28789DF2AB81}" dt="2026-09-30T01:31:38.568" v="6" actId="404"/>
        <pc:sldMkLst>
          <pc:docMk/>
          <pc:sldMk cId="0" sldId="257"/>
        </pc:sldMkLst>
        <pc:spChg chg="mod">
          <ac:chgData name="Nitesh Talukdar" userId="1d35721b625ed0f2" providerId="LiveId" clId="{9FA423E1-B745-4F61-8BE6-28789DF2AB81}" dt="2026-09-30T01:31:38.568" v="6" actId="404"/>
          <ac:spMkLst>
            <pc:docMk/>
            <pc:sldMk cId="0" sldId="257"/>
            <ac:spMk id="5" creationId="{00000000-0000-0000-0000-000000000000}"/>
          </ac:spMkLst>
        </pc:spChg>
        <pc:spChg chg="mod">
          <ac:chgData name="Nitesh Talukdar" userId="1d35721b625ed0f2" providerId="LiveId" clId="{9FA423E1-B745-4F61-8BE6-28789DF2AB81}" dt="2026-09-30T01:31:35.210" v="5" actId="404"/>
          <ac:spMkLst>
            <pc:docMk/>
            <pc:sldMk cId="0" sldId="257"/>
            <ac:spMk id="9" creationId="{00000000-0000-0000-0000-000000000000}"/>
          </ac:spMkLst>
        </pc:spChg>
        <pc:spChg chg="mod">
          <ac:chgData name="Nitesh Talukdar" userId="1d35721b625ed0f2" providerId="LiveId" clId="{9FA423E1-B745-4F61-8BE6-28789DF2AB81}" dt="2026-09-30T01:31:24.271" v="4" actId="20577"/>
          <ac:spMkLst>
            <pc:docMk/>
            <pc:sldMk cId="0" sldId="257"/>
            <ac:spMk id="13"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What really happened</c:v>
                </c:pt>
              </c:strCache>
            </c:strRef>
          </c:tx>
          <c:spPr>
            <a:solidFill>
              <a:srgbClr val="1E2B3A"/>
            </a:solidFill>
            <a:effectLst/>
          </c:spPr>
          <c:invertIfNegative val="0"/>
          <c:dLbls>
            <c:numFmt formatCode="0.0&quot;%&quot;" sourceLinked="0"/>
            <c:spPr>
              <a:noFill/>
              <a:ln>
                <a:noFill/>
              </a:ln>
              <a:effectLst/>
            </c:spPr>
            <c:txPr>
              <a:bodyPr/>
              <a:lstStyle/>
              <a:p>
                <a:pPr>
                  <a:defRPr sz="11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Holiday customers (Sep–Dec)</c:v>
                </c:pt>
                <c:pt idx="1">
                  <c:v>Non-holiday customers (Jun–Sep)</c:v>
                </c:pt>
              </c:strCache>
            </c:strRef>
          </c:cat>
          <c:val>
            <c:numRef>
              <c:f>Sheet1!$B$2:$B$3</c:f>
              <c:numCache>
                <c:formatCode>General</c:formatCode>
                <c:ptCount val="2"/>
                <c:pt idx="0">
                  <c:v>56.6</c:v>
                </c:pt>
                <c:pt idx="1">
                  <c:v>67.900000000000006</c:v>
                </c:pt>
              </c:numCache>
            </c:numRef>
          </c:val>
          <c:extLst>
            <c:ext xmlns:c16="http://schemas.microsoft.com/office/drawing/2014/chart" uri="{C3380CC4-5D6E-409C-BE32-E72D297353CC}">
              <c16:uniqueId val="{00000000-F6FE-4E68-AC64-D73740C55EFE}"/>
            </c:ext>
          </c:extLst>
        </c:ser>
        <c:ser>
          <c:idx val="1"/>
          <c:order val="1"/>
          <c:tx>
            <c:strRef>
              <c:f>Sheet1!$C$1</c:f>
              <c:strCache>
                <c:ptCount val="1"/>
                <c:pt idx="0">
                  <c:v>Right-season model</c:v>
                </c:pt>
              </c:strCache>
            </c:strRef>
          </c:tx>
          <c:spPr>
            <a:solidFill>
              <a:srgbClr val="1F7A5C"/>
            </a:solidFill>
            <a:effectLst/>
          </c:spPr>
          <c:invertIfNegative val="0"/>
          <c:dLbls>
            <c:numFmt formatCode="0.0&quot;%&quot;" sourceLinked="0"/>
            <c:spPr>
              <a:noFill/>
              <a:ln>
                <a:noFill/>
              </a:ln>
              <a:effectLst/>
            </c:spPr>
            <c:txPr>
              <a:bodyPr/>
              <a:lstStyle/>
              <a:p>
                <a:pPr>
                  <a:defRPr sz="11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Holiday customers (Sep–Dec)</c:v>
                </c:pt>
                <c:pt idx="1">
                  <c:v>Non-holiday customers (Jun–Sep)</c:v>
                </c:pt>
              </c:strCache>
            </c:strRef>
          </c:cat>
          <c:val>
            <c:numRef>
              <c:f>Sheet1!$C$2:$C$3</c:f>
              <c:numCache>
                <c:formatCode>General</c:formatCode>
                <c:ptCount val="2"/>
                <c:pt idx="0">
                  <c:v>56.5</c:v>
                </c:pt>
                <c:pt idx="1">
                  <c:v>67.099999999999994</c:v>
                </c:pt>
              </c:numCache>
            </c:numRef>
          </c:val>
          <c:extLst>
            <c:ext xmlns:c16="http://schemas.microsoft.com/office/drawing/2014/chart" uri="{C3380CC4-5D6E-409C-BE32-E72D297353CC}">
              <c16:uniqueId val="{00000001-F6FE-4E68-AC64-D73740C55EFE}"/>
            </c:ext>
          </c:extLst>
        </c:ser>
        <c:ser>
          <c:idx val="2"/>
          <c:order val="2"/>
          <c:tx>
            <c:strRef>
              <c:f>Sheet1!$D$1</c:f>
              <c:strCache>
                <c:ptCount val="1"/>
                <c:pt idx="0">
                  <c:v>Wrong-season model</c:v>
                </c:pt>
              </c:strCache>
            </c:strRef>
          </c:tx>
          <c:spPr>
            <a:solidFill>
              <a:srgbClr val="C0404A"/>
            </a:solidFill>
            <a:effectLst/>
          </c:spPr>
          <c:invertIfNegative val="0"/>
          <c:dLbls>
            <c:numFmt formatCode="0.0&quot;%&quot;" sourceLinked="0"/>
            <c:spPr>
              <a:noFill/>
              <a:ln>
                <a:noFill/>
              </a:ln>
              <a:effectLst/>
            </c:spPr>
            <c:txPr>
              <a:bodyPr/>
              <a:lstStyle/>
              <a:p>
                <a:pPr>
                  <a:defRPr sz="11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Holiday customers (Sep–Dec)</c:v>
                </c:pt>
                <c:pt idx="1">
                  <c:v>Non-holiday customers (Jun–Sep)</c:v>
                </c:pt>
              </c:strCache>
            </c:strRef>
          </c:cat>
          <c:val>
            <c:numRef>
              <c:f>Sheet1!$D$2:$D$3</c:f>
              <c:numCache>
                <c:formatCode>General</c:formatCode>
                <c:ptCount val="2"/>
                <c:pt idx="0">
                  <c:v>66.599999999999994</c:v>
                </c:pt>
                <c:pt idx="1">
                  <c:v>57.6</c:v>
                </c:pt>
              </c:numCache>
            </c:numRef>
          </c:val>
          <c:extLst>
            <c:ext xmlns:c16="http://schemas.microsoft.com/office/drawing/2014/chart" uri="{C3380CC4-5D6E-409C-BE32-E72D297353CC}">
              <c16:uniqueId val="{00000002-F6FE-4E68-AC64-D73740C55EF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B6675"/>
                </a:solidFill>
                <a:latin typeface="Calibri"/>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9525" cap="flat">
              <a:solidFill>
                <a:srgbClr val="E5E8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5B6675"/>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Non-holiday model</c:v>
                </c:pt>
              </c:strCache>
            </c:strRef>
          </c:tx>
          <c:spPr>
            <a:solidFill>
              <a:srgbClr val="8FA0B3"/>
            </a:solidFill>
            <a:effectLst/>
          </c:spPr>
          <c:invertIfNegative val="0"/>
          <c:dLbls>
            <c:numFmt formatCode="0.0" sourceLinked="0"/>
            <c:spPr>
              <a:noFill/>
              <a:ln>
                <a:noFill/>
              </a:ln>
              <a:effectLst/>
            </c:spPr>
            <c:txPr>
              <a:bodyPr/>
              <a:lstStyle/>
              <a:p>
                <a:pPr>
                  <a:defRPr sz="10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Recent activity and recency</c:v>
                </c:pt>
                <c:pt idx="1">
                  <c:v>Overall buying (orders, products, spend)</c:v>
                </c:pt>
                <c:pt idx="2">
                  <c:v>Customer history (time as a customer)</c:v>
                </c:pt>
                <c:pt idx="3">
                  <c:v>Same season last year</c:v>
                </c:pt>
                <c:pt idx="4">
                  <c:v>Usual gap between orders</c:v>
                </c:pt>
                <c:pt idx="5">
                  <c:v>Order size</c:v>
                </c:pt>
                <c:pt idx="6">
                  <c:v>Cancellation rate</c:v>
                </c:pt>
                <c:pt idx="7">
                  <c:v>Country</c:v>
                </c:pt>
              </c:strCache>
            </c:strRef>
          </c:cat>
          <c:val>
            <c:numRef>
              <c:f>Sheet1!$B$2:$B$9</c:f>
              <c:numCache>
                <c:formatCode>General</c:formatCode>
                <c:ptCount val="8"/>
                <c:pt idx="0">
                  <c:v>7.6</c:v>
                </c:pt>
                <c:pt idx="1">
                  <c:v>10</c:v>
                </c:pt>
                <c:pt idx="2">
                  <c:v>3.3</c:v>
                </c:pt>
                <c:pt idx="3">
                  <c:v>0.5</c:v>
                </c:pt>
                <c:pt idx="4">
                  <c:v>0.3</c:v>
                </c:pt>
                <c:pt idx="5">
                  <c:v>0.2</c:v>
                </c:pt>
                <c:pt idx="6">
                  <c:v>0</c:v>
                </c:pt>
                <c:pt idx="7">
                  <c:v>0</c:v>
                </c:pt>
              </c:numCache>
            </c:numRef>
          </c:val>
          <c:extLst>
            <c:ext xmlns:c16="http://schemas.microsoft.com/office/drawing/2014/chart" uri="{C3380CC4-5D6E-409C-BE32-E72D297353CC}">
              <c16:uniqueId val="{00000000-2BE1-4EE8-8AAB-28F926D2FC6E}"/>
            </c:ext>
          </c:extLst>
        </c:ser>
        <c:ser>
          <c:idx val="1"/>
          <c:order val="1"/>
          <c:tx>
            <c:strRef>
              <c:f>Sheet1!$C$1</c:f>
              <c:strCache>
                <c:ptCount val="1"/>
                <c:pt idx="0">
                  <c:v>Holiday model</c:v>
                </c:pt>
              </c:strCache>
            </c:strRef>
          </c:tx>
          <c:spPr>
            <a:solidFill>
              <a:srgbClr val="1E2B3A"/>
            </a:solidFill>
            <a:effectLst/>
          </c:spPr>
          <c:invertIfNegative val="0"/>
          <c:dLbls>
            <c:numFmt formatCode="0.0" sourceLinked="0"/>
            <c:spPr>
              <a:noFill/>
              <a:ln>
                <a:noFill/>
              </a:ln>
              <a:effectLst/>
            </c:spPr>
            <c:txPr>
              <a:bodyPr/>
              <a:lstStyle/>
              <a:p>
                <a:pPr>
                  <a:defRPr sz="10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Recent activity and recency</c:v>
                </c:pt>
                <c:pt idx="1">
                  <c:v>Overall buying (orders, products, spend)</c:v>
                </c:pt>
                <c:pt idx="2">
                  <c:v>Customer history (time as a customer)</c:v>
                </c:pt>
                <c:pt idx="3">
                  <c:v>Same season last year</c:v>
                </c:pt>
                <c:pt idx="4">
                  <c:v>Usual gap between orders</c:v>
                </c:pt>
                <c:pt idx="5">
                  <c:v>Order size</c:v>
                </c:pt>
                <c:pt idx="6">
                  <c:v>Cancellation rate</c:v>
                </c:pt>
                <c:pt idx="7">
                  <c:v>Country</c:v>
                </c:pt>
              </c:strCache>
            </c:strRef>
          </c:cat>
          <c:val>
            <c:numRef>
              <c:f>Sheet1!$C$2:$C$9</c:f>
              <c:numCache>
                <c:formatCode>General</c:formatCode>
                <c:ptCount val="8"/>
                <c:pt idx="0">
                  <c:v>8.6</c:v>
                </c:pt>
                <c:pt idx="1">
                  <c:v>3.3</c:v>
                </c:pt>
                <c:pt idx="2">
                  <c:v>3</c:v>
                </c:pt>
                <c:pt idx="3">
                  <c:v>3.5</c:v>
                </c:pt>
                <c:pt idx="4">
                  <c:v>0.6</c:v>
                </c:pt>
                <c:pt idx="5">
                  <c:v>0.1</c:v>
                </c:pt>
                <c:pt idx="6">
                  <c:v>0.1</c:v>
                </c:pt>
                <c:pt idx="7">
                  <c:v>0</c:v>
                </c:pt>
              </c:numCache>
            </c:numRef>
          </c:val>
          <c:extLst>
            <c:ext xmlns:c16="http://schemas.microsoft.com/office/drawing/2014/chart" uri="{C3380CC4-5D6E-409C-BE32-E72D297353CC}">
              <c16:uniqueId val="{00000001-2BE1-4EE8-8AAB-28F926D2FC6E}"/>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B6675"/>
                </a:solidFill>
                <a:latin typeface="Calibri"/>
              </a:defRPr>
            </a:pPr>
            <a:endParaRPr lang="en-US"/>
          </a:p>
        </c:txPr>
        <c:crossAx val="2094734552"/>
        <c:crosses val="autoZero"/>
        <c:auto val="1"/>
        <c:lblAlgn val="ctr"/>
        <c:lblOffset val="100"/>
        <c:noMultiLvlLbl val="1"/>
      </c:catAx>
      <c:valAx>
        <c:axId val="2094734552"/>
        <c:scaling>
          <c:orientation val="minMax"/>
          <c:max val="12"/>
          <c:min val="0"/>
        </c:scaling>
        <c:delete val="1"/>
        <c:axPos val="t"/>
        <c:numFmt formatCode="General" sourceLinked="0"/>
        <c:majorTickMark val="out"/>
        <c:minorTickMark val="none"/>
        <c:tickLblPos val="low"/>
        <c:crossAx val="2094734554"/>
        <c:crosses val="autoZero"/>
        <c:crossBetween val="between"/>
        <c:majorUnit val="2"/>
      </c:valAx>
      <c:spPr>
        <a:noFill/>
        <a:ln>
          <a:noFill/>
        </a:ln>
        <a:effectLst/>
      </c:spPr>
    </c:plotArea>
    <c:legend>
      <c:legendPos val="b"/>
      <c:overlay val="0"/>
      <c:txPr>
        <a:bodyPr/>
        <a:lstStyle/>
        <a:p>
          <a:pPr>
            <a:defRPr sz="1100">
              <a:solidFill>
                <a:srgbClr val="5B6675"/>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Ordered in the same 90 days last year</c:v>
                </c:pt>
              </c:strCache>
            </c:strRef>
          </c:tx>
          <c:spPr>
            <a:solidFill>
              <a:srgbClr val="1F7A5C"/>
            </a:solidFill>
            <a:effectLst/>
          </c:spPr>
          <c:invertIfNegative val="0"/>
          <c:dLbls>
            <c:numFmt formatCode="0.0&quot;%&quot;" sourceLinked="0"/>
            <c:spPr>
              <a:noFill/>
              <a:ln>
                <a:noFill/>
              </a:ln>
              <a:effectLst/>
            </c:spPr>
            <c:txPr>
              <a:bodyPr/>
              <a:lstStyle/>
              <a:p>
                <a:pPr>
                  <a:defRPr sz="11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Before Christmas (Sep–Dec)</c:v>
                </c:pt>
                <c:pt idx="1">
                  <c:v>Rest of year (Jun–Sep)</c:v>
                </c:pt>
              </c:strCache>
            </c:strRef>
          </c:cat>
          <c:val>
            <c:numRef>
              <c:f>Sheet1!$B$2:$B$3</c:f>
              <c:numCache>
                <c:formatCode>General</c:formatCode>
                <c:ptCount val="2"/>
                <c:pt idx="0">
                  <c:v>44.5</c:v>
                </c:pt>
                <c:pt idx="1">
                  <c:v>52.5</c:v>
                </c:pt>
              </c:numCache>
            </c:numRef>
          </c:val>
          <c:extLst>
            <c:ext xmlns:c16="http://schemas.microsoft.com/office/drawing/2014/chart" uri="{C3380CC4-5D6E-409C-BE32-E72D297353CC}">
              <c16:uniqueId val="{00000000-81F8-48C5-A574-A0BB5DBF7946}"/>
            </c:ext>
          </c:extLst>
        </c:ser>
        <c:ser>
          <c:idx val="1"/>
          <c:order val="1"/>
          <c:tx>
            <c:strRef>
              <c:f>Sheet1!$C$1</c:f>
              <c:strCache>
                <c:ptCount val="1"/>
                <c:pt idx="0">
                  <c:v>Did not order then</c:v>
                </c:pt>
              </c:strCache>
            </c:strRef>
          </c:tx>
          <c:spPr>
            <a:solidFill>
              <a:srgbClr val="B8C0CB"/>
            </a:solidFill>
            <a:effectLst/>
          </c:spPr>
          <c:invertIfNegative val="0"/>
          <c:dLbls>
            <c:numFmt formatCode="0.0&quot;%&quot;" sourceLinked="0"/>
            <c:spPr>
              <a:noFill/>
              <a:ln>
                <a:noFill/>
              </a:ln>
              <a:effectLst/>
            </c:spPr>
            <c:txPr>
              <a:bodyPr/>
              <a:lstStyle/>
              <a:p>
                <a:pPr>
                  <a:defRPr sz="11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Before Christmas (Sep–Dec)</c:v>
                </c:pt>
                <c:pt idx="1">
                  <c:v>Rest of year (Jun–Sep)</c:v>
                </c:pt>
              </c:strCache>
            </c:strRef>
          </c:cat>
          <c:val>
            <c:numRef>
              <c:f>Sheet1!$C$2:$C$3</c:f>
              <c:numCache>
                <c:formatCode>General</c:formatCode>
                <c:ptCount val="2"/>
                <c:pt idx="0">
                  <c:v>71.3</c:v>
                </c:pt>
                <c:pt idx="1">
                  <c:v>77.7</c:v>
                </c:pt>
              </c:numCache>
            </c:numRef>
          </c:val>
          <c:extLst>
            <c:ext xmlns:c16="http://schemas.microsoft.com/office/drawing/2014/chart" uri="{C3380CC4-5D6E-409C-BE32-E72D297353CC}">
              <c16:uniqueId val="{00000001-81F8-48C5-A574-A0BB5DBF7946}"/>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B6675"/>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5E8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5B6675"/>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Predicted risk (average)</c:v>
                </c:pt>
              </c:strCache>
            </c:strRef>
          </c:tx>
          <c:spPr>
            <a:solidFill>
              <a:srgbClr val="8FA0B3"/>
            </a:solidFill>
            <a:effectLst/>
          </c:spPr>
          <c:invertIfNegative val="0"/>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6.6</c:v>
                </c:pt>
                <c:pt idx="1">
                  <c:v>21.1</c:v>
                </c:pt>
                <c:pt idx="2">
                  <c:v>33.700000000000003</c:v>
                </c:pt>
                <c:pt idx="3">
                  <c:v>46.2</c:v>
                </c:pt>
                <c:pt idx="4">
                  <c:v>58</c:v>
                </c:pt>
                <c:pt idx="5">
                  <c:v>66.900000000000006</c:v>
                </c:pt>
                <c:pt idx="6">
                  <c:v>74.599999999999994</c:v>
                </c:pt>
                <c:pt idx="7">
                  <c:v>80.599999999999994</c:v>
                </c:pt>
                <c:pt idx="8">
                  <c:v>86.4</c:v>
                </c:pt>
                <c:pt idx="9">
                  <c:v>91</c:v>
                </c:pt>
              </c:numCache>
            </c:numRef>
          </c:val>
          <c:extLst>
            <c:ext xmlns:c16="http://schemas.microsoft.com/office/drawing/2014/chart" uri="{C3380CC4-5D6E-409C-BE32-E72D297353CC}">
              <c16:uniqueId val="{00000000-8483-4EE1-A391-45B7FC0F358C}"/>
            </c:ext>
          </c:extLst>
        </c:ser>
        <c:ser>
          <c:idx val="1"/>
          <c:order val="1"/>
          <c:tx>
            <c:strRef>
              <c:f>Sheet1!$C$1</c:f>
              <c:strCache>
                <c:ptCount val="1"/>
                <c:pt idx="0">
                  <c:v>Actually left</c:v>
                </c:pt>
              </c:strCache>
            </c:strRef>
          </c:tx>
          <c:spPr>
            <a:solidFill>
              <a:srgbClr val="1E2B3A"/>
            </a:solidFill>
            <a:effectLst/>
          </c:spPr>
          <c:invertIfNegative val="0"/>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2.8</c:v>
                </c:pt>
                <c:pt idx="1">
                  <c:v>24.8</c:v>
                </c:pt>
                <c:pt idx="2">
                  <c:v>38.1</c:v>
                </c:pt>
                <c:pt idx="3">
                  <c:v>44.8</c:v>
                </c:pt>
                <c:pt idx="4">
                  <c:v>58.1</c:v>
                </c:pt>
                <c:pt idx="5">
                  <c:v>71.400000000000006</c:v>
                </c:pt>
                <c:pt idx="6">
                  <c:v>72.400000000000006</c:v>
                </c:pt>
                <c:pt idx="7">
                  <c:v>81</c:v>
                </c:pt>
                <c:pt idx="8">
                  <c:v>86.7</c:v>
                </c:pt>
                <c:pt idx="9">
                  <c:v>86.7</c:v>
                </c:pt>
              </c:numCache>
            </c:numRef>
          </c:val>
          <c:extLst>
            <c:ext xmlns:c16="http://schemas.microsoft.com/office/drawing/2014/chart" uri="{C3380CC4-5D6E-409C-BE32-E72D297353CC}">
              <c16:uniqueId val="{00000001-8483-4EE1-A391-45B7FC0F358C}"/>
            </c:ext>
          </c:extLst>
        </c:ser>
        <c:dLbls>
          <c:showLegendKey val="0"/>
          <c:showVal val="0"/>
          <c:showCatName val="0"/>
          <c:showSerName val="0"/>
          <c:showPercent val="0"/>
          <c:showBubbleSize val="0"/>
        </c:dLbls>
        <c:gapWidth val="50"/>
        <c:axId val="2094734554"/>
        <c:axId val="2094734552"/>
      </c:barChart>
      <c:catAx>
        <c:axId val="2094734554"/>
        <c:scaling>
          <c:orientation val="minMax"/>
        </c:scaling>
        <c:delete val="0"/>
        <c:axPos val="b"/>
        <c:title>
          <c:tx>
            <c:rich>
              <a:bodyPr/>
              <a:lstStyle/>
              <a:p>
                <a:pPr>
                  <a:defRPr sz="1100" b="0" i="0" u="none" strike="noStrike">
                    <a:solidFill>
                      <a:srgbClr val="5B6675"/>
                    </a:solidFill>
                    <a:latin typeface="Calibri"/>
                  </a:defRPr>
                </a:pPr>
                <a:r>
                  <a:rPr lang="en-US" sz="1100" b="0" i="0" u="none" strike="noStrike">
                    <a:solidFill>
                      <a:srgbClr val="5B6675"/>
                    </a:solidFill>
                    <a:latin typeface="Calibri"/>
                  </a:rPr>
                  <a:t>Risk group (1 = lowest, 10 = highest)</a:t>
                </a:r>
              </a:p>
            </c:rich>
          </c:tx>
          <c:overlay val="0"/>
        </c:title>
        <c:numFmt formatCode="General" sourceLinked="1"/>
        <c:majorTickMark val="out"/>
        <c:minorTickMark val="none"/>
        <c:tickLblPos val="low"/>
        <c:spPr>
          <a:ln w="12700" cap="flat">
            <a:noFill/>
            <a:prstDash val="solid"/>
            <a:round/>
          </a:ln>
        </c:spPr>
        <c:txPr>
          <a:bodyPr/>
          <a:lstStyle/>
          <a:p>
            <a:pPr>
              <a:defRPr sz="1100" b="0" i="0" u="none" strike="noStrike">
                <a:solidFill>
                  <a:srgbClr val="5B6675"/>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5E8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5B6675"/>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Value at risk</c:v>
                </c:pt>
              </c:strCache>
            </c:strRef>
          </c:tx>
          <c:spPr>
            <a:solidFill>
              <a:srgbClr val="2E6FB0"/>
            </a:solidFill>
            <a:effectLst/>
          </c:spPr>
          <c:invertIfNegative val="0"/>
          <c:dPt>
            <c:idx val="0"/>
            <c:invertIfNegative val="0"/>
            <c:bubble3D val="0"/>
            <c:extLst>
              <c:ext xmlns:c16="http://schemas.microsoft.com/office/drawing/2014/chart" uri="{C3380CC4-5D6E-409C-BE32-E72D297353CC}">
                <c16:uniqueId val="{00000001-05BE-4738-950D-94482CB38D04}"/>
              </c:ext>
            </c:extLst>
          </c:dPt>
          <c:dPt>
            <c:idx val="1"/>
            <c:invertIfNegative val="0"/>
            <c:bubble3D val="0"/>
            <c:spPr>
              <a:solidFill>
                <a:srgbClr val="C0404A"/>
              </a:solidFill>
              <a:effectLst/>
            </c:spPr>
            <c:extLst>
              <c:ext xmlns:c16="http://schemas.microsoft.com/office/drawing/2014/chart" uri="{C3380CC4-5D6E-409C-BE32-E72D297353CC}">
                <c16:uniqueId val="{00000003-05BE-4738-950D-94482CB38D04}"/>
              </c:ext>
            </c:extLst>
          </c:dPt>
          <c:dPt>
            <c:idx val="2"/>
            <c:invertIfNegative val="0"/>
            <c:bubble3D val="0"/>
            <c:spPr>
              <a:solidFill>
                <a:srgbClr val="7F8691"/>
              </a:solidFill>
              <a:effectLst/>
            </c:spPr>
            <c:extLst>
              <c:ext xmlns:c16="http://schemas.microsoft.com/office/drawing/2014/chart" uri="{C3380CC4-5D6E-409C-BE32-E72D297353CC}">
                <c16:uniqueId val="{00000005-05BE-4738-950D-94482CB38D04}"/>
              </c:ext>
            </c:extLst>
          </c:dPt>
          <c:dPt>
            <c:idx val="3"/>
            <c:invertIfNegative val="0"/>
            <c:bubble3D val="0"/>
            <c:spPr>
              <a:solidFill>
                <a:srgbClr val="1F7A5C"/>
              </a:solidFill>
              <a:effectLst/>
            </c:spPr>
            <c:extLst>
              <c:ext xmlns:c16="http://schemas.microsoft.com/office/drawing/2014/chart" uri="{C3380CC4-5D6E-409C-BE32-E72D297353CC}">
                <c16:uniqueId val="{00000007-05BE-4738-950D-94482CB38D04}"/>
              </c:ext>
            </c:extLst>
          </c:dPt>
          <c:dPt>
            <c:idx val="4"/>
            <c:invertIfNegative val="0"/>
            <c:bubble3D val="0"/>
            <c:spPr>
              <a:solidFill>
                <a:srgbClr val="C9820E"/>
              </a:solidFill>
              <a:effectLst/>
            </c:spPr>
            <c:extLst>
              <c:ext xmlns:c16="http://schemas.microsoft.com/office/drawing/2014/chart" uri="{C3380CC4-5D6E-409C-BE32-E72D297353CC}">
                <c16:uniqueId val="{00000009-05BE-4738-950D-94482CB38D04}"/>
              </c:ext>
            </c:extLst>
          </c:dPt>
          <c:dLbls>
            <c:numFmt formatCode="&quot;£&quot;#,##0" sourceLinked="0"/>
            <c:spPr>
              <a:noFill/>
              <a:ln>
                <a:noFill/>
              </a:ln>
              <a:effectLst/>
            </c:spPr>
            <c:txPr>
              <a:bodyPr/>
              <a:lstStyle/>
              <a:p>
                <a:pPr>
                  <a:defRPr sz="11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Steady Regulars</c:v>
                </c:pt>
                <c:pt idx="1">
                  <c:v>Fading Big Spenders</c:v>
                </c:pt>
                <c:pt idx="2">
                  <c:v>Gone Quiet</c:v>
                </c:pt>
                <c:pt idx="3">
                  <c:v>Top Customers</c:v>
                </c:pt>
                <c:pt idx="4">
                  <c:v>New Starters</c:v>
                </c:pt>
              </c:strCache>
            </c:strRef>
          </c:cat>
          <c:val>
            <c:numRef>
              <c:f>Sheet1!$B$2:$B$6</c:f>
              <c:numCache>
                <c:formatCode>General</c:formatCode>
                <c:ptCount val="5"/>
                <c:pt idx="0">
                  <c:v>183711</c:v>
                </c:pt>
                <c:pt idx="1">
                  <c:v>142241</c:v>
                </c:pt>
                <c:pt idx="2">
                  <c:v>133611</c:v>
                </c:pt>
                <c:pt idx="3">
                  <c:v>116792</c:v>
                </c:pt>
                <c:pt idx="4">
                  <c:v>26441</c:v>
                </c:pt>
              </c:numCache>
            </c:numRef>
          </c:val>
          <c:extLst>
            <c:ext xmlns:c16="http://schemas.microsoft.com/office/drawing/2014/chart" uri="{C3380CC4-5D6E-409C-BE32-E72D297353CC}">
              <c16:uniqueId val="{0000000A-05BE-4738-950D-94482CB38D04}"/>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B6675"/>
                </a:solidFill>
                <a:latin typeface="Calibri"/>
              </a:defRPr>
            </a:pPr>
            <a:endParaRPr lang="en-US"/>
          </a:p>
        </c:txPr>
        <c:crossAx val="2094734552"/>
        <c:crosses val="autoZero"/>
        <c:auto val="1"/>
        <c:lblAlgn val="ctr"/>
        <c:lblOffset val="100"/>
        <c:noMultiLvlLbl val="1"/>
      </c:catAx>
      <c:valAx>
        <c:axId val="2094734552"/>
        <c:scaling>
          <c:orientation val="minMax"/>
          <c:max val="2300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0456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session: to answer one question for the CRM team. Which customers should we prioritize for retention, and why?
This follows the segmentation report. The five customer groups, with the same names and colours, appear again here, so you can connect what the churn model says to the groups you already know.
We will not talk about code or algorithms. We will talk about who is likely to stop buying, how much money is at stake with each of them, and what the team should do about it.
The model uses the same sales records as before, from December 2009 to December 2011, for a UK gift retailer where many buyers are shops and wholesalers.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before any detail.
First number: if we sort customers by value at risk, which is the chance they leave multiplied by what they have spent, the top 100 contained customers who went on to leave with 249,055 pounds of past spend between them. If we sort by churn risk alone, the top 100 leavers had spent only 16,157 pounds. That is about 15 times more.
Second number: over half of all value at risk, 54 percent, sits with two groups we already know: Steady Regulars and Fading Big Spenders.
Third number: customers behave differently before Christmas, so there are two models. Using the summer model in the Christmas run-up, or the other way round, gets the overall churn level wrong by about 10 percentage points.
All figures on these slides come from customers the model had never seen while it was being built, so they show how it would do on new customers.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has one definition throughout this deck. A customer has churned if they place no order at all in the 90 days after a chosen cutoff date.
We use two cutoff dates. The non-holiday cutoff is 10 June 2011, and we check whether each customer ordered between 10 June and 7 September. The holiday cutoff is 9 September 2011, and we check whether they ordered between 9 September and 7 December, the run-up to Christmas.
The model only looks at what customers did before the cutoff date. It never sees the 90 days it is predicting. That matters, because it is the same position the CRM team is in on any real day: we know the past, not the future.
In the summer period 68 percent of customers placed no order in the next 90 days. In the Christmas run-up it was 57 percent, because many customers come back to stock 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need two models instead of one?
Customers behave differently before Christmas. Many who go quiet in summer come back in the autumn to stock up. The segmentation report showed this too.
The chart tests what happens if we use the wrong model. For the holiday customers, 56.6 percent actually placed no order. The holiday model predicted 56.5 percent, almost exactly right. The summer model predicted 66.6 percent, about 10 points too high, because it learned from a period when more customers stayed away.
The same happens the other way round: for the summer customers, 67.9 percent left, the summer model predicted 67.1 percent, and the holiday model predicted only 57.6 percent.
The important detail on the right: both models rank customers in almost the same order. So the list of who is most at risk would look similar. What goes wrong is the level, and the CRM team uses that level to plan how many customers to contact and how much money is at stake.
Note that the non-holiday model was built on the June to September period. It has not been checked on the January to May months.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looks at 16 details for every customer. They are all worked out from the sales records up to the cutoff date. In plain terms they answer six questions.
Recency and recent activity, six details: days since the last order; the number of orders in the last 30, 90 and 180 days; spend in the last 90 days; and how long the customer has been away compared with the usual gap between their orders. A customer who orders every 20 days and has been gone 60 days is three times overdue.
Purchase frequency and spend, three details: the number of orders, the number of different products and total spend.
Seasonal buying, one detail: the number of orders in the same 90 days one year earlier.
Customer history, one detail: how long they have been a customer.
Order habits, three details: average order value, average basket size and the average number of days between orders.
Account details, two details: cancellation rate and whether they are based in the UK.
The full list with the technical names is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which information matters? We took the customers the model had never seen, hid one type of information at a time by mixing it up between customers, and measured how much worse the model became at telling leavers from stayers. A bigger drop means the model relies on that information more.
Outside Christmas, the non-holiday model relies most on overall buying: how many orders a customer has placed, how many different products they buy and how much they have spent. Hiding it costs 10 points. Recent activity comes second at 7.6 points.
Before Christmas, recent activity matters most, at 8.6 points. Overall buying drops to 3.3 points. Buying last Christmas also becomes important, which is the next slide.
How long someone has been a customer matters in both seasons, about 3 points.
The bottom four, order size, the usual gap between orders, cancellation rate and country, each cost less than 1 point. They are in the model, but they are not insights to act on. For example, a customer's cancellation rate says very little about whether they will leave.
Recent activity includes days since the last order, recent orders and spend, and whether the customer is overdue compared with their usual rhythm. These details are closely linked, so we measure them together.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new details we added looks back exactly one year: did the customer order in the same 90-day window last year?
Before Christmas this makes a big difference. Among customers who had ordered in last year's September to December window, 44.5 percent placed no order this time, so about 55 in 100 came back. Among those who had not, 71.3 percent placed no order, so only about 29 in 100 came back. In the summer period the gap is smaller: 52.5 against 77.7 percent.
In the model, this detail is about 7 times more important in the holiday model than in the non-holiday model. Hiding it costs 3.5 points before Christmas and only 0.5 points in summer.
In plain terms: a customer who stocked up last Christmas is likely to do so again. If such a customer has not ordered by September, that is worth a reminder. They may simply not have started their Christmas buying yet.
These figures come from the customers the model learned from. This is a pattern, not a guarantee: some of last year's Christmas buyers still did not return.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good is the model? We compare it with the RFM score the team already uses, the total score from 5 to 20.
The measure is simple. Pick one customer who left and one who stayed, at random. How often does each method say the one who left was riskier? Technically this is called AUC.
Non-holiday season: the model gets it right 85 times in 100 (AUC 0.851), the RFM score 81 times (AUC 0.806).
Holiday season: the model gets it right 81 times in 100 (AUC 0.809), the RFM score 78 times (AUC 0.778).
So the model is better in both seasons, by about 3 to 4 points. That is a modest improvement. The RFM score was already doing a good job, mainly because days since the last order is such a strong signal.
Is the improvement real or luck? We re-checked it 1,000 times, each time drawing a random sample from the test customers. The model came out ahead every time.
These results come from 2,040 customers, 989 in the non-holiday test and 1,051 in the holiday test, who were kept aside and never used to build the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gives every customer a risk between 0 and 100 percent. Can the team trust those numbers?
We sorted the 1,051 holiday test customers by risk and split them into ten equal groups. For each group the chart shows the average predicted risk (light bars) and the share who really placed no order (dark bars). They are close in every group, within 5 points. So a 70 percent risk means roughly 70 in 100 customers like this one leave.
But a risk score is a likelihood, not a verdict. In the highest-risk group, 13 in 100 customers still ordered again. In the lowest-risk group, about 3 in 100 still left.
A real example: customer 12357 had placed a single order worth 11,230 pounds and had not ordered for 296 days. The model gave them a 59 percent chance of leaving. They came back and ordered again.
This is why the model is a tool for deciding who to contact first. It is not a reason to stop contacting anyone. This comparison was only possible because these customers are in the past and we know what they did.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recommendation of the deck.
Do not sort customers by churn risk alone. Sort them by value at risk, which is the chance they leave multiplied by how much they have spent with us.
Two simple examples. Customer A has a 95 percent chance of leaving but has only ever spent 200 pounds. Their value at risk is 190 pounds. Customer B is less likely to leave, 50 percent, but has spent 20,000 pounds. Their value at risk is 10,000 pounds.
Customer B is the better use of a phone call or a personal email, even though they are more likely to stay. If we only look at risk, customer A goes first, and customer B might not make the list at all.
Why does this matter? The customers with the very highest risk are mostly people who bought once, spent little and left a long time ago. The next slide shows what happens when we compare the two lists on real customers.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for the recommendation, using the 1,051 holiday test customers. We know what really happened to them in the three months after 9 September 2011.
Left: the 100 customers with the highest churn risk. The model was right about most of them. 87 of the 100 did not order again. But together those 87 had only ever spent 16,157 pounds. All 100 were Gone Quiet customers. The typical one had placed a single order, spent 147 pounds and last ordered 484 days before the cutoff. Most had already left long ago.
Right: the 100 customers with the highest value at risk. Fewer of them left, 46 of 100. But those 46 had spent 249,055 pounds between them, about 15 times more. This list is mostly Fading Big Spenders, Steady Regulars and Top Customers. The typical customer had placed 6 orders, spent 3,619 pounds and last ordered 147 days before the cutoff.
In other words: the risk-only list is more often right about who leaves, but about customers who were worth very little. The value at risk list points the team at the customers whose loss actually costs the business money, and who are still recent enough to reach.
The bars show the lost spend on the same scale.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customers from the holiday test group. Both of them placed no order in the three months after 9 September 2011.
Customer 13438 is a Gone Quiet customer. They placed one order worth 46 pounds 50, and their last order was 455 days before the cutoff. The model gave them a 94 percent chance of leaving, 8th highest of all 1,051 test customers, and it was right. But their value at risk is only 44 pounds. There was very little to save.
Customer 15098 is a Steady Regular. They had placed 3 orders worth 39,620 pounds in total and had last ordered 90 days before the cutoff. The model gave them a 55 percent chance of leaving, so on a list sorted by risk alone they would not have made the top 100. On the value at risk list they are number one, with 21,632 pounds at risk. They did not order again in the run-up to Christmas.
This one customer had spent more than the entire top 100 of the risk-only list combined, 39,620 pounds against 16,848 pounds.
We cannot know whether a phone call would have kept customer 15098. But this is exactly the kind of customer the team would want to hear about in September, not in January.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value at risk sit? These totals are for the 1,051 holiday test customers, as of 9 September 2011. The group names are the ones from the segmentation report; the names in brackets are the labels used in the analysis notebook.
Steady Regulars hold the most, about 183,700 pounds. Their average risk is moderate, 38 percent, but there are many of them and they spend well.
Fading Big Spenders come second with about 142,200 pounds. There are only 90 of them in this group, so they carry the most value at risk per customer, about 1,580 pounds each. Together with Steady Regulars they hold 54 percent of all value at risk.
Gone Quiet customers have the highest average risk, 81 percent, and add up to about 133,600 pounds. But that is spread over 434 customers, about 308 pounds each, so contacting them one by one costs more than it is likely to return.
Top Customers have the lowest risk, 15 percent, but they spend so much that about 116,800 pounds is still at risk. The few Top Customers whose risk starts to rise are worth spotting early.
New Starters hold about 26,400 pounds, the smallest amount, because they have not spent much yet.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the team do with each group? The columns are ordered by value at risk per customer, from the most to the least.
Fading Big Spenders, about 1,580 pounds at risk each. This is where personal contact pays best. A call or personal email from the account team, with an offer based on the products they used to buy. Many of them come back before Christmas anyway, so the main push should be in September and October.
Steady Regulars, about 843 pounds each, and the largest total. Set a reminder when a customer is overdue against their own usual ordering rhythm, and send a personal email to the ones with the highest value at risk.
Top Customers, about 675 pounds each. Most of them stay, so there is no need for discounts. But any Top Customer whose risk starts to rise should be flagged to the account team straight away.
Gone Quiet, about 308 pounds each. Keep contact cheap: bulk email only. The one exception is a reminder to those who bought last Christmas, because they are more likely to come back.
New Starters, about 194 pounds each. Keep the automated welcome journey from the segmentation report, aimed at getting a third order.
In daily work: the value at risk list decides who comes first. These rules decide what kind of contact each customer gets.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would this work in practice? Four steps, repeated every season.
One: run the model that matches the season. For the Christmas run-up, run the holiday model in early September. Outside that period, use the non-holiday model.
Two: sort every customer by value at risk, the chance of leaving multiplied by their past spend.
Three: contact customers from the top of the list. The group they belong to decides the type of contact, as on the previous slide.
Four: after 90 days, compare the list with what actually happened. How many of the contacted customers ordered again? How many of the ones we did not contact left? Once a year, refresh the model with the newest sales data.
And one important reminder. The score is a prioritization tool. It tells the team where effort is most likely to pay off, based on how similar customers behaved in the past. It is not a promise that someone will leave, and a low score is not a reason to stop looking after a customer.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open about the limits is part of why the results can be trusted.
Not yet tested on a later year. The model was tested on customers it had never seen, but from the same time period. We have not yet been able to check it on 2012, because the data stops in December 2011. That is the first thing to check when new data arrives.
Two years of data. The records run from December 2009 to December 2011. Each season's cutoff needs a full year of history before it, so each season could only be tested once.
Results move a little. Each test group had about 1,000 customers. With a different group of 1,000 customers, the ranking scores could move by about 0.02 either way. The improvement over the RFM score held up in every re-check, but its exact size is not fixed.
Value at risk favours long-standing customers. It uses total past spend, so a customer who spent a lot two years ago can look more valuable than one who spends steadily today. Spend in the last 12 months would reflect current value better.
Infrequent buyers can look churned. Churn here means no order in 90 days. Some customers normally order less often than that, so they can be counted as churned when they are only between orders.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What we learned. Churn means no order in the 90 days after a cutoff date; 57 percent of customers left in the Christmas run-up and 68 percent in the summer period. We need two models, because the wrong one gets the churn level wrong by about 10 points. Recent activity is the clearest warning sign, especially before Christmas, and customers who bought last Christmas often come back. The model beats the RFM score in both seasons, by a modest but consistent margin. And sorting customers by value at risk finds about 15 times more lost spend than sorting by risk alone.
Next steps. First, add churn risk and value at risk to each customer record in the CRM. Second, in early September, run the holiday model and start contacting customers from the top of the value at risk list. Third, send a reminder to last year's Christmas buyers who have not ordered yet. Fourth, after 90 days, compare the list with what really happened and record who responded to contact. Fifth, when 2012 sales data is available, test the model on the later year, try recent 12-month spend in value at risk, and review whether 90 days is the right window for customers who naturally order less often.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for anyone who wants to know how the model was built and tested. It is not needed to use the customer list.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model was tested.
Before building anything, we split the customers. 80 percent were used to build and compare models. 20 percent were kept aside and not looked at until the very end. The same customers were kept aside for both seasons, so no model ever saw a test customer, even in the other season's data.
On the learning customers we compared two types of model using repeated checks on different parts of the data. Gradient boosting scored only 0.002 to 0.003 higher than logistic regression. That is smaller than the normal variation between checks, so we chose logistic regression, which is simpler and easier to explain.
The table shows the results on the hidden customers. AUC is the ranking measure from the main deck. Accuracy, precision, recall and F1 use a cut-off of 50 percent: anyone with a risk of 50 percent or more is counted as a predicted leaver. Accuracy needs care: because most customers leave, saying everyone leaves would already be 67.9 percent accurate in the non-holiday season and 56.6 percent in the holiday season. That is why the deck focuses on ranking and value at risk rather than on accuracy.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list of the 16 details, grouped under the six questions from the main deck, with the names used in the analysis notebook.
Every detail is worked out only from sales before the cutoff date, so nothing from the 90-day prediction window is ever used.
Customers who have ordered only once have no gap between orders. The model fills in a typical value for them and also records that the value was missing, so it still knows these are one-time buyers.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7"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B3A"/>
        </a:solidFill>
        <a:effectLst/>
      </p:bgPr>
    </p:bg>
    <p:spTree>
      <p:nvGrpSpPr>
        <p:cNvPr id="1" name=""/>
        <p:cNvGrpSpPr/>
        <p:nvPr/>
      </p:nvGrpSpPr>
      <p:grpSpPr>
        <a:xfrm>
          <a:off x="0" y="0"/>
          <a:ext cx="0" cy="0"/>
          <a:chOff x="0" y="0"/>
          <a:chExt cx="0" cy="0"/>
        </a:xfrm>
      </p:grpSpPr>
      <p:sp>
        <p:nvSpPr>
          <p:cNvPr id="2" name="Text 0"/>
          <p:cNvSpPr txBox="1"/>
          <p:nvPr/>
        </p:nvSpPr>
        <p:spPr>
          <a:xfrm>
            <a:off x="822960" y="960120"/>
            <a:ext cx="10058400" cy="274320"/>
          </a:xfrm>
          <a:prstGeom prst="rect">
            <a:avLst/>
          </a:prstGeom>
          <a:noFill/>
          <a:ln/>
        </p:spPr>
        <p:txBody>
          <a:bodyPr wrap="square" lIns="0" tIns="0" rIns="0" bIns="0" rtlCol="0" anchor="t"/>
          <a:lstStyle/>
          <a:p>
            <a:pPr marL="0" indent="0">
              <a:buNone/>
            </a:pPr>
            <a:r>
              <a:rPr lang="en-US" sz="1200" b="1" kern="0" spc="200" dirty="0">
                <a:solidFill>
                  <a:srgbClr val="8FA0B3"/>
                </a:solidFill>
                <a:latin typeface="Calibri" pitchFamily="34" charset="0"/>
                <a:ea typeface="Calibri" pitchFamily="34" charset="-122"/>
                <a:cs typeface="Calibri" pitchFamily="34" charset="-120"/>
              </a:rPr>
              <a:t>CRM TEAM REPORTING  ·  CHURN PREDICTION</a:t>
            </a:r>
            <a:endParaRPr lang="en-US" sz="1200" dirty="0"/>
          </a:p>
        </p:txBody>
      </p:sp>
      <p:sp>
        <p:nvSpPr>
          <p:cNvPr id="3" name="Text 1"/>
          <p:cNvSpPr txBox="1"/>
          <p:nvPr/>
        </p:nvSpPr>
        <p:spPr>
          <a:xfrm>
            <a:off x="822960" y="1371600"/>
            <a:ext cx="9875520" cy="16459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Which customers should we prioritize for retention, and why?</a:t>
            </a:r>
            <a:endParaRPr lang="en-US" sz="4000" dirty="0"/>
          </a:p>
        </p:txBody>
      </p:sp>
      <p:sp>
        <p:nvSpPr>
          <p:cNvPr id="4" name="Text 2"/>
          <p:cNvSpPr txBox="1"/>
          <p:nvPr/>
        </p:nvSpPr>
        <p:spPr>
          <a:xfrm>
            <a:off x="822960" y="3063240"/>
            <a:ext cx="9326880" cy="822960"/>
          </a:xfrm>
          <a:prstGeom prst="rect">
            <a:avLst/>
          </a:prstGeom>
          <a:noFill/>
          <a:ln/>
        </p:spPr>
        <p:txBody>
          <a:bodyPr wrap="square" lIns="0" tIns="0" rIns="0" bIns="0" rtlCol="0" anchor="t"/>
          <a:lstStyle/>
          <a:p>
            <a:pPr marL="0" indent="0">
              <a:buNone/>
            </a:pPr>
            <a:r>
              <a:rPr lang="en-US" sz="1800" dirty="0">
                <a:solidFill>
                  <a:srgbClr val="C9D3DE"/>
                </a:solidFill>
                <a:latin typeface="Calibri" pitchFamily="34" charset="0"/>
                <a:ea typeface="Calibri" pitchFamily="34" charset="-122"/>
                <a:cs typeface="Calibri" pitchFamily="34" charset="-120"/>
              </a:rPr>
              <a:t>What the churn model tells us about who is likely to stop buying, and where retention effort is worth the most</a:t>
            </a:r>
            <a:endParaRPr lang="en-US" sz="1800" dirty="0"/>
          </a:p>
        </p:txBody>
      </p:sp>
      <p:sp>
        <p:nvSpPr>
          <p:cNvPr id="5" name="Shape 3"/>
          <p:cNvSpPr/>
          <p:nvPr/>
        </p:nvSpPr>
        <p:spPr>
          <a:xfrm>
            <a:off x="1325880" y="4343400"/>
            <a:ext cx="548640" cy="548640"/>
          </a:xfrm>
          <a:prstGeom prst="ellipse">
            <a:avLst/>
          </a:prstGeom>
          <a:solidFill>
            <a:srgbClr val="1F7A5C"/>
          </a:solidFill>
          <a:ln w="12700">
            <a:solidFill>
              <a:srgbClr val="1F7A5C"/>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1468526" y="4486046"/>
            <a:ext cx="263347" cy="263347"/>
          </a:xfrm>
          <a:prstGeom prst="rect">
            <a:avLst/>
          </a:prstGeom>
        </p:spPr>
      </p:pic>
      <p:sp>
        <p:nvSpPr>
          <p:cNvPr id="7" name="Text 4"/>
          <p:cNvSpPr txBox="1"/>
          <p:nvPr/>
        </p:nvSpPr>
        <p:spPr>
          <a:xfrm>
            <a:off x="822960" y="4983480"/>
            <a:ext cx="155448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Top Customers</a:t>
            </a:r>
            <a:endParaRPr lang="en-US" sz="1100" dirty="0"/>
          </a:p>
        </p:txBody>
      </p:sp>
      <p:sp>
        <p:nvSpPr>
          <p:cNvPr id="8" name="Shape 5"/>
          <p:cNvSpPr/>
          <p:nvPr/>
        </p:nvSpPr>
        <p:spPr>
          <a:xfrm>
            <a:off x="3154680" y="4343400"/>
            <a:ext cx="548640" cy="548640"/>
          </a:xfrm>
          <a:prstGeom prst="ellipse">
            <a:avLst/>
          </a:prstGeom>
          <a:solidFill>
            <a:srgbClr val="2E6FB0"/>
          </a:solidFill>
          <a:ln w="12700">
            <a:solidFill>
              <a:srgbClr val="2E6FB0"/>
            </a:solidFill>
            <a:prstDash val="solid"/>
          </a:ln>
        </p:spPr>
        <p:txBody>
          <a:bodyPr/>
          <a:lstStyle/>
          <a:p>
            <a:endParaRPr lang="en-CA"/>
          </a:p>
        </p:txBody>
      </p:sp>
      <p:pic>
        <p:nvPicPr>
          <p:cNvPr id="9" name="Image 1" descr="preencoded.png"/>
          <p:cNvPicPr>
            <a:picLocks noChangeAspect="1"/>
          </p:cNvPicPr>
          <p:nvPr/>
        </p:nvPicPr>
        <p:blipFill>
          <a:blip r:embed="rId4"/>
          <a:stretch>
            <a:fillRect/>
          </a:stretch>
        </p:blipFill>
        <p:spPr>
          <a:xfrm>
            <a:off x="3297326" y="4486046"/>
            <a:ext cx="263347" cy="263347"/>
          </a:xfrm>
          <a:prstGeom prst="rect">
            <a:avLst/>
          </a:prstGeom>
        </p:spPr>
      </p:pic>
      <p:sp>
        <p:nvSpPr>
          <p:cNvPr id="10" name="Text 6"/>
          <p:cNvSpPr txBox="1"/>
          <p:nvPr/>
        </p:nvSpPr>
        <p:spPr>
          <a:xfrm>
            <a:off x="2651760" y="4983480"/>
            <a:ext cx="155448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Steady Regulars</a:t>
            </a:r>
            <a:endParaRPr lang="en-US" sz="1100" dirty="0"/>
          </a:p>
        </p:txBody>
      </p:sp>
      <p:sp>
        <p:nvSpPr>
          <p:cNvPr id="11" name="Shape 7"/>
          <p:cNvSpPr/>
          <p:nvPr/>
        </p:nvSpPr>
        <p:spPr>
          <a:xfrm>
            <a:off x="4983480" y="4343400"/>
            <a:ext cx="548640" cy="548640"/>
          </a:xfrm>
          <a:prstGeom prst="ellipse">
            <a:avLst/>
          </a:prstGeom>
          <a:solidFill>
            <a:srgbClr val="C9820E"/>
          </a:solidFill>
          <a:ln w="12700">
            <a:solidFill>
              <a:srgbClr val="C9820E"/>
            </a:solidFill>
            <a:prstDash val="solid"/>
          </a:ln>
        </p:spPr>
        <p:txBody>
          <a:bodyPr/>
          <a:lstStyle/>
          <a:p>
            <a:endParaRPr lang="en-CA"/>
          </a:p>
        </p:txBody>
      </p:sp>
      <p:pic>
        <p:nvPicPr>
          <p:cNvPr id="12" name="Image 2" descr="preencoded.png"/>
          <p:cNvPicPr>
            <a:picLocks noChangeAspect="1"/>
          </p:cNvPicPr>
          <p:nvPr/>
        </p:nvPicPr>
        <p:blipFill>
          <a:blip r:embed="rId5"/>
          <a:stretch>
            <a:fillRect/>
          </a:stretch>
        </p:blipFill>
        <p:spPr>
          <a:xfrm>
            <a:off x="5126126" y="4486046"/>
            <a:ext cx="263347" cy="263347"/>
          </a:xfrm>
          <a:prstGeom prst="rect">
            <a:avLst/>
          </a:prstGeom>
        </p:spPr>
      </p:pic>
      <p:sp>
        <p:nvSpPr>
          <p:cNvPr id="13" name="Text 8"/>
          <p:cNvSpPr txBox="1"/>
          <p:nvPr/>
        </p:nvSpPr>
        <p:spPr>
          <a:xfrm>
            <a:off x="4480560" y="4983480"/>
            <a:ext cx="155448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New Starters</a:t>
            </a:r>
            <a:endParaRPr lang="en-US" sz="1100" dirty="0"/>
          </a:p>
        </p:txBody>
      </p:sp>
      <p:sp>
        <p:nvSpPr>
          <p:cNvPr id="14" name="Shape 9"/>
          <p:cNvSpPr/>
          <p:nvPr/>
        </p:nvSpPr>
        <p:spPr>
          <a:xfrm>
            <a:off x="6812280" y="4343400"/>
            <a:ext cx="548640" cy="548640"/>
          </a:xfrm>
          <a:prstGeom prst="ellipse">
            <a:avLst/>
          </a:prstGeom>
          <a:solidFill>
            <a:srgbClr val="C0404A"/>
          </a:solidFill>
          <a:ln w="12700">
            <a:solidFill>
              <a:srgbClr val="C0404A"/>
            </a:solidFill>
            <a:prstDash val="solid"/>
          </a:ln>
        </p:spPr>
        <p:txBody>
          <a:bodyPr/>
          <a:lstStyle/>
          <a:p>
            <a:endParaRPr lang="en-CA"/>
          </a:p>
        </p:txBody>
      </p:sp>
      <p:pic>
        <p:nvPicPr>
          <p:cNvPr id="15" name="Image 3" descr="preencoded.png"/>
          <p:cNvPicPr>
            <a:picLocks noChangeAspect="1"/>
          </p:cNvPicPr>
          <p:nvPr/>
        </p:nvPicPr>
        <p:blipFill>
          <a:blip r:embed="rId6"/>
          <a:stretch>
            <a:fillRect/>
          </a:stretch>
        </p:blipFill>
        <p:spPr>
          <a:xfrm>
            <a:off x="6954926" y="4486046"/>
            <a:ext cx="263347" cy="263347"/>
          </a:xfrm>
          <a:prstGeom prst="rect">
            <a:avLst/>
          </a:prstGeom>
        </p:spPr>
      </p:pic>
      <p:sp>
        <p:nvSpPr>
          <p:cNvPr id="16" name="Text 10"/>
          <p:cNvSpPr txBox="1"/>
          <p:nvPr/>
        </p:nvSpPr>
        <p:spPr>
          <a:xfrm>
            <a:off x="6309360" y="4983480"/>
            <a:ext cx="155448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Fading Big Spenders</a:t>
            </a:r>
            <a:endParaRPr lang="en-US" sz="1100" dirty="0"/>
          </a:p>
        </p:txBody>
      </p:sp>
      <p:sp>
        <p:nvSpPr>
          <p:cNvPr id="17" name="Shape 11"/>
          <p:cNvSpPr/>
          <p:nvPr/>
        </p:nvSpPr>
        <p:spPr>
          <a:xfrm>
            <a:off x="8641080" y="4343400"/>
            <a:ext cx="548640" cy="548640"/>
          </a:xfrm>
          <a:prstGeom prst="ellipse">
            <a:avLst/>
          </a:prstGeom>
          <a:solidFill>
            <a:srgbClr val="7F8691"/>
          </a:solidFill>
          <a:ln w="12700">
            <a:solidFill>
              <a:srgbClr val="7F8691"/>
            </a:solidFill>
            <a:prstDash val="solid"/>
          </a:ln>
        </p:spPr>
        <p:txBody>
          <a:bodyPr/>
          <a:lstStyle/>
          <a:p>
            <a:endParaRPr lang="en-CA"/>
          </a:p>
        </p:txBody>
      </p:sp>
      <p:pic>
        <p:nvPicPr>
          <p:cNvPr id="18" name="Image 4" descr="preencoded.png"/>
          <p:cNvPicPr>
            <a:picLocks noChangeAspect="1"/>
          </p:cNvPicPr>
          <p:nvPr/>
        </p:nvPicPr>
        <p:blipFill>
          <a:blip r:embed="rId7"/>
          <a:stretch>
            <a:fillRect/>
          </a:stretch>
        </p:blipFill>
        <p:spPr>
          <a:xfrm>
            <a:off x="8783726" y="4486046"/>
            <a:ext cx="263347" cy="263347"/>
          </a:xfrm>
          <a:prstGeom prst="rect">
            <a:avLst/>
          </a:prstGeom>
        </p:spPr>
      </p:pic>
      <p:sp>
        <p:nvSpPr>
          <p:cNvPr id="19" name="Text 12"/>
          <p:cNvSpPr txBox="1"/>
          <p:nvPr/>
        </p:nvSpPr>
        <p:spPr>
          <a:xfrm>
            <a:off x="8138160" y="4983480"/>
            <a:ext cx="155448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Gone Quiet</a:t>
            </a:r>
            <a:endParaRPr lang="en-US" sz="1100" dirty="0"/>
          </a:p>
        </p:txBody>
      </p:sp>
      <p:sp>
        <p:nvSpPr>
          <p:cNvPr id="20" name="Text 13"/>
          <p:cNvSpPr txBox="1"/>
          <p:nvPr/>
        </p:nvSpPr>
        <p:spPr>
          <a:xfrm>
            <a:off x="822960" y="6172200"/>
            <a:ext cx="7315200" cy="274320"/>
          </a:xfrm>
          <a:prstGeom prst="rect">
            <a:avLst/>
          </a:prstGeom>
          <a:noFill/>
          <a:ln/>
        </p:spPr>
        <p:txBody>
          <a:bodyPr wrap="square" lIns="0" tIns="0" rIns="0" bIns="0" rtlCol="0" anchor="t"/>
          <a:lstStyle/>
          <a:p>
            <a:pPr marL="0" indent="0">
              <a:buNone/>
            </a:pPr>
            <a:r>
              <a:rPr lang="en-US" sz="1100" dirty="0">
                <a:solidFill>
                  <a:srgbClr val="8FA0B3"/>
                </a:solidFill>
                <a:latin typeface="Calibri" pitchFamily="34" charset="0"/>
                <a:ea typeface="Calibri" pitchFamily="34" charset="-122"/>
                <a:cs typeface="Calibri" pitchFamily="34" charset="-120"/>
              </a:rPr>
              <a:t>Based on sales data from Dec 2009 to Dec 2011</a:t>
            </a:r>
            <a:endParaRPr lang="en-US" sz="1100" dirty="0"/>
          </a:p>
        </p:txBody>
      </p:sp>
      <p:sp>
        <p:nvSpPr>
          <p:cNvPr id="21" name="Text 14"/>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FA0B3"/>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THE SHORT ANSWER</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Prioritize customers by how much we stand to lose, not only by how likely they are to leave</a:t>
            </a:r>
            <a:endParaRPr lang="en-US" sz="2600" dirty="0"/>
          </a:p>
        </p:txBody>
      </p:sp>
      <p:sp>
        <p:nvSpPr>
          <p:cNvPr id="4" name="Shape 2"/>
          <p:cNvSpPr/>
          <p:nvPr/>
        </p:nvSpPr>
        <p:spPr>
          <a:xfrm>
            <a:off x="548640" y="1737360"/>
            <a:ext cx="3483864" cy="3566160"/>
          </a:xfrm>
          <a:prstGeom prst="roundRect">
            <a:avLst>
              <a:gd name="adj" fmla="val 2100"/>
            </a:avLst>
          </a:prstGeom>
          <a:solidFill>
            <a:srgbClr val="F3F5F8"/>
          </a:solidFill>
          <a:ln w="12700">
            <a:solidFill>
              <a:srgbClr val="F3F5F8"/>
            </a:solidFill>
            <a:prstDash val="solid"/>
          </a:ln>
        </p:spPr>
        <p:txBody>
          <a:bodyPr/>
          <a:lstStyle/>
          <a:p>
            <a:endParaRPr lang="en-CA"/>
          </a:p>
        </p:txBody>
      </p:sp>
      <p:sp>
        <p:nvSpPr>
          <p:cNvPr id="5" name="Text 3"/>
          <p:cNvSpPr txBox="1"/>
          <p:nvPr/>
        </p:nvSpPr>
        <p:spPr>
          <a:xfrm>
            <a:off x="868680" y="2011680"/>
            <a:ext cx="2843784" cy="1005840"/>
          </a:xfrm>
          <a:prstGeom prst="rect">
            <a:avLst/>
          </a:prstGeom>
          <a:noFill/>
          <a:ln/>
        </p:spPr>
        <p:txBody>
          <a:bodyPr wrap="square" lIns="0" tIns="0" rIns="0" bIns="0" rtlCol="0" anchor="ctr"/>
          <a:lstStyle/>
          <a:p>
            <a:pPr marL="0" indent="0">
              <a:buNone/>
            </a:pPr>
            <a:r>
              <a:rPr lang="en-US" sz="4800" b="1" dirty="0">
                <a:solidFill>
                  <a:srgbClr val="1F7A5C"/>
                </a:solidFill>
                <a:latin typeface="Cambria" pitchFamily="34" charset="0"/>
                <a:ea typeface="Cambria" pitchFamily="34" charset="-122"/>
                <a:cs typeface="Cambria" pitchFamily="34" charset="-120"/>
              </a:rPr>
              <a:t>15×</a:t>
            </a:r>
            <a:endParaRPr lang="en-US" sz="4800" dirty="0"/>
          </a:p>
        </p:txBody>
      </p:sp>
      <p:sp>
        <p:nvSpPr>
          <p:cNvPr id="6" name="Text 4"/>
          <p:cNvSpPr txBox="1"/>
          <p:nvPr/>
        </p:nvSpPr>
        <p:spPr>
          <a:xfrm>
            <a:off x="868680" y="3154680"/>
            <a:ext cx="2843784" cy="1097280"/>
          </a:xfrm>
          <a:prstGeom prst="rect">
            <a:avLst/>
          </a:prstGeom>
          <a:noFill/>
          <a:ln/>
        </p:spPr>
        <p:txBody>
          <a:bodyPr wrap="square" lIns="0" tIns="0" rIns="0" bIns="0" rtlCol="0" anchor="t"/>
          <a:lstStyle/>
          <a:p>
            <a:pPr marL="0" indent="0">
              <a:buNone/>
            </a:pPr>
            <a:r>
              <a:rPr lang="en-US" sz="1800" b="1" dirty="0">
                <a:solidFill>
                  <a:srgbClr val="1E2B3A"/>
                </a:solidFill>
                <a:latin typeface="Calibri" pitchFamily="34" charset="0"/>
                <a:ea typeface="Calibri" pitchFamily="34" charset="-122"/>
                <a:cs typeface="Calibri" pitchFamily="34" charset="-120"/>
              </a:rPr>
              <a:t>more lost spend found when the list is sorted by value at risk</a:t>
            </a:r>
            <a:endParaRPr lang="en-US" sz="1800" dirty="0"/>
          </a:p>
        </p:txBody>
      </p:sp>
      <p:sp>
        <p:nvSpPr>
          <p:cNvPr id="7" name="Text 5"/>
          <p:cNvSpPr txBox="1"/>
          <p:nvPr/>
        </p:nvSpPr>
        <p:spPr>
          <a:xfrm>
            <a:off x="868680" y="4389120"/>
            <a:ext cx="2843784" cy="73152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£249,055 against £16,157, top 100 customers in each list</a:t>
            </a:r>
            <a:endParaRPr lang="en-US" sz="1300" dirty="0"/>
          </a:p>
        </p:txBody>
      </p:sp>
      <p:sp>
        <p:nvSpPr>
          <p:cNvPr id="8" name="Shape 6"/>
          <p:cNvSpPr/>
          <p:nvPr/>
        </p:nvSpPr>
        <p:spPr>
          <a:xfrm>
            <a:off x="4352544" y="1737360"/>
            <a:ext cx="3483864" cy="3566160"/>
          </a:xfrm>
          <a:prstGeom prst="roundRect">
            <a:avLst>
              <a:gd name="adj" fmla="val 2100"/>
            </a:avLst>
          </a:prstGeom>
          <a:solidFill>
            <a:srgbClr val="F3F5F8"/>
          </a:solidFill>
          <a:ln w="12700">
            <a:solidFill>
              <a:srgbClr val="F3F5F8"/>
            </a:solidFill>
            <a:prstDash val="solid"/>
          </a:ln>
        </p:spPr>
        <p:txBody>
          <a:bodyPr/>
          <a:lstStyle/>
          <a:p>
            <a:endParaRPr lang="en-CA"/>
          </a:p>
        </p:txBody>
      </p:sp>
      <p:sp>
        <p:nvSpPr>
          <p:cNvPr id="9" name="Text 7"/>
          <p:cNvSpPr txBox="1"/>
          <p:nvPr/>
        </p:nvSpPr>
        <p:spPr>
          <a:xfrm>
            <a:off x="4672584" y="2011680"/>
            <a:ext cx="2843784" cy="1005840"/>
          </a:xfrm>
          <a:prstGeom prst="rect">
            <a:avLst/>
          </a:prstGeom>
          <a:noFill/>
          <a:ln/>
        </p:spPr>
        <p:txBody>
          <a:bodyPr wrap="square" lIns="0" tIns="0" rIns="0" bIns="0" rtlCol="0" anchor="ctr"/>
          <a:lstStyle/>
          <a:p>
            <a:pPr marL="0" indent="0">
              <a:buNone/>
            </a:pPr>
            <a:r>
              <a:rPr lang="en-US" sz="4800" b="1" dirty="0">
                <a:solidFill>
                  <a:srgbClr val="C0404A"/>
                </a:solidFill>
                <a:latin typeface="Cambria" pitchFamily="34" charset="0"/>
                <a:ea typeface="Cambria" pitchFamily="34" charset="-122"/>
                <a:cs typeface="Cambria" pitchFamily="34" charset="-120"/>
              </a:rPr>
              <a:t>54%</a:t>
            </a:r>
            <a:endParaRPr lang="en-US" sz="4800" dirty="0"/>
          </a:p>
        </p:txBody>
      </p:sp>
      <p:sp>
        <p:nvSpPr>
          <p:cNvPr id="10" name="Text 8"/>
          <p:cNvSpPr txBox="1"/>
          <p:nvPr/>
        </p:nvSpPr>
        <p:spPr>
          <a:xfrm>
            <a:off x="4672584" y="3154680"/>
            <a:ext cx="2843784" cy="1097280"/>
          </a:xfrm>
          <a:prstGeom prst="rect">
            <a:avLst/>
          </a:prstGeom>
          <a:noFill/>
          <a:ln/>
        </p:spPr>
        <p:txBody>
          <a:bodyPr wrap="square" lIns="0" tIns="0" rIns="0" bIns="0" rtlCol="0" anchor="t"/>
          <a:lstStyle/>
          <a:p>
            <a:pPr marL="0" indent="0">
              <a:buNone/>
            </a:pPr>
            <a:r>
              <a:rPr lang="en-US" sz="1800" b="1" dirty="0">
                <a:solidFill>
                  <a:srgbClr val="1E2B3A"/>
                </a:solidFill>
                <a:latin typeface="Calibri" pitchFamily="34" charset="0"/>
                <a:ea typeface="Calibri" pitchFamily="34" charset="-122"/>
                <a:cs typeface="Calibri" pitchFamily="34" charset="-120"/>
              </a:rPr>
              <a:t>of all value at risk sits with Steady Regulars and Fading Big Spenders</a:t>
            </a:r>
            <a:endParaRPr lang="en-US" sz="1800" dirty="0"/>
          </a:p>
        </p:txBody>
      </p:sp>
      <p:sp>
        <p:nvSpPr>
          <p:cNvPr id="11" name="Text 9"/>
          <p:cNvSpPr txBox="1"/>
          <p:nvPr/>
        </p:nvSpPr>
        <p:spPr>
          <a:xfrm>
            <a:off x="4672584" y="4389120"/>
            <a:ext cx="2843784" cy="73152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£325,952 of £602,796 in the holiday test group</a:t>
            </a:r>
            <a:endParaRPr lang="en-US" sz="1300" dirty="0"/>
          </a:p>
        </p:txBody>
      </p:sp>
      <p:sp>
        <p:nvSpPr>
          <p:cNvPr id="12" name="Shape 10"/>
          <p:cNvSpPr/>
          <p:nvPr/>
        </p:nvSpPr>
        <p:spPr>
          <a:xfrm>
            <a:off x="8156448" y="1737360"/>
            <a:ext cx="3483864" cy="3566160"/>
          </a:xfrm>
          <a:prstGeom prst="roundRect">
            <a:avLst>
              <a:gd name="adj" fmla="val 2100"/>
            </a:avLst>
          </a:prstGeom>
          <a:solidFill>
            <a:srgbClr val="F3F5F8"/>
          </a:solidFill>
          <a:ln w="12700">
            <a:solidFill>
              <a:srgbClr val="F3F5F8"/>
            </a:solidFill>
            <a:prstDash val="solid"/>
          </a:ln>
        </p:spPr>
        <p:txBody>
          <a:bodyPr/>
          <a:lstStyle/>
          <a:p>
            <a:endParaRPr lang="en-CA"/>
          </a:p>
        </p:txBody>
      </p:sp>
      <p:sp>
        <p:nvSpPr>
          <p:cNvPr id="13" name="Text 11"/>
          <p:cNvSpPr txBox="1"/>
          <p:nvPr/>
        </p:nvSpPr>
        <p:spPr>
          <a:xfrm>
            <a:off x="8476488" y="2011680"/>
            <a:ext cx="2843784" cy="1005840"/>
          </a:xfrm>
          <a:prstGeom prst="rect">
            <a:avLst/>
          </a:prstGeom>
          <a:noFill/>
          <a:ln/>
        </p:spPr>
        <p:txBody>
          <a:bodyPr wrap="square" lIns="0" tIns="0" rIns="0" bIns="0" rtlCol="0" anchor="ctr"/>
          <a:lstStyle/>
          <a:p>
            <a:pPr marL="0" indent="0">
              <a:buNone/>
            </a:pPr>
            <a:r>
              <a:rPr lang="en-US" sz="4800" b="1" dirty="0">
                <a:solidFill>
                  <a:srgbClr val="1E2B3A"/>
                </a:solidFill>
                <a:latin typeface="Cambria" pitchFamily="34" charset="0"/>
                <a:ea typeface="Cambria" pitchFamily="34" charset="-122"/>
                <a:cs typeface="Cambria" pitchFamily="34" charset="-120"/>
              </a:rPr>
              <a:t>2 models</a:t>
            </a:r>
            <a:endParaRPr lang="en-US" sz="4800" dirty="0"/>
          </a:p>
        </p:txBody>
      </p:sp>
      <p:sp>
        <p:nvSpPr>
          <p:cNvPr id="14" name="Text 12"/>
          <p:cNvSpPr txBox="1"/>
          <p:nvPr/>
        </p:nvSpPr>
        <p:spPr>
          <a:xfrm>
            <a:off x="8476488" y="3154680"/>
            <a:ext cx="2843784" cy="1097280"/>
          </a:xfrm>
          <a:prstGeom prst="rect">
            <a:avLst/>
          </a:prstGeom>
          <a:noFill/>
          <a:ln/>
        </p:spPr>
        <p:txBody>
          <a:bodyPr wrap="square" lIns="0" tIns="0" rIns="0" bIns="0" rtlCol="0" anchor="t"/>
          <a:lstStyle/>
          <a:p>
            <a:pPr marL="0" indent="0">
              <a:buNone/>
            </a:pPr>
            <a:r>
              <a:rPr lang="en-US" sz="1800" b="1" dirty="0">
                <a:solidFill>
                  <a:srgbClr val="1E2B3A"/>
                </a:solidFill>
                <a:latin typeface="Calibri" pitchFamily="34" charset="0"/>
                <a:ea typeface="Calibri" pitchFamily="34" charset="-122"/>
                <a:cs typeface="Calibri" pitchFamily="34" charset="-120"/>
              </a:rPr>
              <a:t>one for the run-up to Christmas, one for the rest of the year</a:t>
            </a:r>
            <a:endParaRPr lang="en-US" sz="1800" dirty="0"/>
          </a:p>
        </p:txBody>
      </p:sp>
      <p:sp>
        <p:nvSpPr>
          <p:cNvPr id="15" name="Text 13"/>
          <p:cNvSpPr txBox="1"/>
          <p:nvPr/>
        </p:nvSpPr>
        <p:spPr>
          <a:xfrm>
            <a:off x="8476488" y="4389120"/>
            <a:ext cx="2843784" cy="73152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Using the wrong one misstates churn by about 10 percentage points</a:t>
            </a:r>
            <a:endParaRPr lang="en-US" sz="1300" dirty="0"/>
          </a:p>
        </p:txBody>
      </p:sp>
      <p:sp>
        <p:nvSpPr>
          <p:cNvPr id="16" name="Shape 14"/>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17" name="Text 15"/>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The model improves on the RFM score by a modest, steady margin. Its biggest value to the team is showing where the money at risk sits.</a:t>
            </a:r>
            <a:endParaRPr lang="en-US" sz="1500" dirty="0"/>
          </a:p>
        </p:txBody>
      </p:sp>
      <p:sp>
        <p:nvSpPr>
          <p:cNvPr id="18" name="Text 16"/>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WHAT WE MEAN BY CHURN</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A customer has churned if they place no order in the 90 days after the cutoff date</a:t>
            </a:r>
            <a:endParaRPr lang="en-US" sz="2600" dirty="0"/>
          </a:p>
        </p:txBody>
      </p:sp>
      <p:sp>
        <p:nvSpPr>
          <p:cNvPr id="4" name="Text 2"/>
          <p:cNvSpPr txBox="1"/>
          <p:nvPr/>
        </p:nvSpPr>
        <p:spPr>
          <a:xfrm>
            <a:off x="548640" y="1783080"/>
            <a:ext cx="2103120" cy="365760"/>
          </a:xfrm>
          <a:prstGeom prst="rect">
            <a:avLst/>
          </a:prstGeom>
          <a:noFill/>
          <a:ln/>
        </p:spPr>
        <p:txBody>
          <a:bodyPr wrap="square" lIns="0" tIns="0" rIns="0" bIns="0" rtlCol="0" anchor="t"/>
          <a:lstStyle/>
          <a:p>
            <a:pPr marL="0" indent="0">
              <a:buNone/>
            </a:pPr>
            <a:r>
              <a:rPr lang="en-US" sz="1600" b="1" dirty="0">
                <a:solidFill>
                  <a:srgbClr val="1E2B3A"/>
                </a:solidFill>
                <a:latin typeface="Calibri" pitchFamily="34" charset="0"/>
                <a:ea typeface="Calibri" pitchFamily="34" charset="-122"/>
                <a:cs typeface="Calibri" pitchFamily="34" charset="-120"/>
              </a:rPr>
              <a:t>Non-holiday season</a:t>
            </a:r>
            <a:endParaRPr lang="en-US" sz="1600" dirty="0"/>
          </a:p>
        </p:txBody>
      </p:sp>
      <p:sp>
        <p:nvSpPr>
          <p:cNvPr id="5" name="Text 3"/>
          <p:cNvSpPr txBox="1"/>
          <p:nvPr/>
        </p:nvSpPr>
        <p:spPr>
          <a:xfrm>
            <a:off x="548640" y="2167128"/>
            <a:ext cx="2103120" cy="32004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Cutoff 10 Jun 2011</a:t>
            </a:r>
            <a:endParaRPr lang="en-US" sz="1300" dirty="0"/>
          </a:p>
        </p:txBody>
      </p:sp>
      <p:sp>
        <p:nvSpPr>
          <p:cNvPr id="6" name="Shape 4"/>
          <p:cNvSpPr/>
          <p:nvPr/>
        </p:nvSpPr>
        <p:spPr>
          <a:xfrm>
            <a:off x="2743200" y="1783080"/>
            <a:ext cx="4206240" cy="1097280"/>
          </a:xfrm>
          <a:prstGeom prst="roundRect">
            <a:avLst>
              <a:gd name="adj" fmla="val 6667"/>
            </a:avLst>
          </a:prstGeom>
          <a:solidFill>
            <a:srgbClr val="F3F5F8"/>
          </a:solidFill>
          <a:ln w="12700">
            <a:solidFill>
              <a:srgbClr val="F3F5F8"/>
            </a:solidFill>
            <a:prstDash val="solid"/>
          </a:ln>
        </p:spPr>
        <p:txBody>
          <a:bodyPr/>
          <a:lstStyle/>
          <a:p>
            <a:endParaRPr lang="en-CA"/>
          </a:p>
        </p:txBody>
      </p:sp>
      <p:sp>
        <p:nvSpPr>
          <p:cNvPr id="7" name="Text 5"/>
          <p:cNvSpPr txBox="1"/>
          <p:nvPr/>
        </p:nvSpPr>
        <p:spPr>
          <a:xfrm>
            <a:off x="2971800" y="1965960"/>
            <a:ext cx="3840480" cy="320040"/>
          </a:xfrm>
          <a:prstGeom prst="rect">
            <a:avLst/>
          </a:prstGeom>
          <a:noFill/>
          <a:ln/>
        </p:spPr>
        <p:txBody>
          <a:bodyPr wrap="square" lIns="0" tIns="0" rIns="0" bIns="0" rtlCol="0" anchor="t"/>
          <a:lstStyle/>
          <a:p>
            <a:pPr marL="0" indent="0">
              <a:buNone/>
            </a:pPr>
            <a:r>
              <a:rPr lang="en-US" sz="1400" b="1" dirty="0">
                <a:solidFill>
                  <a:srgbClr val="1E2B3A"/>
                </a:solidFill>
                <a:latin typeface="Calibri" pitchFamily="34" charset="0"/>
                <a:ea typeface="Calibri" pitchFamily="34" charset="-122"/>
                <a:cs typeface="Calibri" pitchFamily="34" charset="-120"/>
              </a:rPr>
              <a:t>Everything the customer did before the cutoff</a:t>
            </a:r>
            <a:endParaRPr lang="en-US" sz="1400" dirty="0"/>
          </a:p>
        </p:txBody>
      </p:sp>
      <p:sp>
        <p:nvSpPr>
          <p:cNvPr id="8" name="Text 6"/>
          <p:cNvSpPr txBox="1"/>
          <p:nvPr/>
        </p:nvSpPr>
        <p:spPr>
          <a:xfrm>
            <a:off x="2971800" y="2331720"/>
            <a:ext cx="3840480" cy="32004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This is all the model is allowed to use</a:t>
            </a:r>
            <a:endParaRPr lang="en-US" sz="1300" dirty="0"/>
          </a:p>
        </p:txBody>
      </p:sp>
      <p:sp>
        <p:nvSpPr>
          <p:cNvPr id="9" name="Shape 7"/>
          <p:cNvSpPr/>
          <p:nvPr/>
        </p:nvSpPr>
        <p:spPr>
          <a:xfrm>
            <a:off x="7132320" y="1691640"/>
            <a:ext cx="0" cy="1280160"/>
          </a:xfrm>
          <a:prstGeom prst="line">
            <a:avLst/>
          </a:prstGeom>
          <a:noFill/>
          <a:ln w="28575">
            <a:solidFill>
              <a:srgbClr val="1E2B3A"/>
            </a:solidFill>
            <a:prstDash val="dash"/>
          </a:ln>
        </p:spPr>
        <p:txBody>
          <a:bodyPr/>
          <a:lstStyle/>
          <a:p>
            <a:endParaRPr lang="en-CA"/>
          </a:p>
        </p:txBody>
      </p:sp>
      <p:sp>
        <p:nvSpPr>
          <p:cNvPr id="10" name="Shape 8"/>
          <p:cNvSpPr/>
          <p:nvPr/>
        </p:nvSpPr>
        <p:spPr>
          <a:xfrm>
            <a:off x="7315200" y="1783080"/>
            <a:ext cx="2331720" cy="1097280"/>
          </a:xfrm>
          <a:prstGeom prst="roundRect">
            <a:avLst>
              <a:gd name="adj" fmla="val 6667"/>
            </a:avLst>
          </a:prstGeom>
          <a:solidFill>
            <a:srgbClr val="E7EFF8"/>
          </a:solidFill>
          <a:ln w="12700">
            <a:solidFill>
              <a:srgbClr val="E7EFF8"/>
            </a:solidFill>
            <a:prstDash val="solid"/>
          </a:ln>
        </p:spPr>
        <p:txBody>
          <a:bodyPr/>
          <a:lstStyle/>
          <a:p>
            <a:endParaRPr lang="en-CA"/>
          </a:p>
        </p:txBody>
      </p:sp>
      <p:sp>
        <p:nvSpPr>
          <p:cNvPr id="11" name="Text 9"/>
          <p:cNvSpPr txBox="1"/>
          <p:nvPr/>
        </p:nvSpPr>
        <p:spPr>
          <a:xfrm>
            <a:off x="7498080" y="1965960"/>
            <a:ext cx="2011680" cy="320040"/>
          </a:xfrm>
          <a:prstGeom prst="rect">
            <a:avLst/>
          </a:prstGeom>
          <a:noFill/>
          <a:ln/>
        </p:spPr>
        <p:txBody>
          <a:bodyPr wrap="square" lIns="0" tIns="0" rIns="0" bIns="0" rtlCol="0" anchor="t"/>
          <a:lstStyle/>
          <a:p>
            <a:pPr marL="0" indent="0">
              <a:buNone/>
            </a:pPr>
            <a:r>
              <a:rPr lang="en-US" sz="1400" b="1" dirty="0">
                <a:solidFill>
                  <a:srgbClr val="1E2B3A"/>
                </a:solidFill>
                <a:latin typeface="Calibri" pitchFamily="34" charset="0"/>
                <a:ea typeface="Calibri" pitchFamily="34" charset="-122"/>
                <a:cs typeface="Calibri" pitchFamily="34" charset="-120"/>
              </a:rPr>
              <a:t>Next 90 days</a:t>
            </a:r>
            <a:endParaRPr lang="en-US" sz="1400" dirty="0"/>
          </a:p>
        </p:txBody>
      </p:sp>
      <p:sp>
        <p:nvSpPr>
          <p:cNvPr id="12" name="Text 10"/>
          <p:cNvSpPr txBox="1"/>
          <p:nvPr/>
        </p:nvSpPr>
        <p:spPr>
          <a:xfrm>
            <a:off x="7498080" y="2331720"/>
            <a:ext cx="2103120" cy="32004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10 Jun – 7 Sep 2011</a:t>
            </a:r>
            <a:endParaRPr lang="en-US" sz="1300" dirty="0"/>
          </a:p>
        </p:txBody>
      </p:sp>
      <p:sp>
        <p:nvSpPr>
          <p:cNvPr id="13" name="Text 11"/>
          <p:cNvSpPr txBox="1"/>
          <p:nvPr/>
        </p:nvSpPr>
        <p:spPr>
          <a:xfrm>
            <a:off x="9875520" y="1828800"/>
            <a:ext cx="1737360" cy="594360"/>
          </a:xfrm>
          <a:prstGeom prst="rect">
            <a:avLst/>
          </a:prstGeom>
          <a:noFill/>
          <a:ln/>
        </p:spPr>
        <p:txBody>
          <a:bodyPr wrap="square" lIns="0" tIns="0" rIns="0" bIns="0" rtlCol="0" anchor="t"/>
          <a:lstStyle/>
          <a:p>
            <a:pPr marL="0" indent="0">
              <a:buNone/>
            </a:pPr>
            <a:r>
              <a:rPr lang="en-US" sz="3200" b="1" dirty="0">
                <a:solidFill>
                  <a:srgbClr val="C0404A"/>
                </a:solidFill>
                <a:latin typeface="Cambria" pitchFamily="34" charset="0"/>
                <a:ea typeface="Cambria" pitchFamily="34" charset="-122"/>
                <a:cs typeface="Cambria" pitchFamily="34" charset="-120"/>
              </a:rPr>
              <a:t>68%</a:t>
            </a:r>
            <a:endParaRPr lang="en-US" sz="3200" dirty="0"/>
          </a:p>
        </p:txBody>
      </p:sp>
      <p:sp>
        <p:nvSpPr>
          <p:cNvPr id="14" name="Text 12"/>
          <p:cNvSpPr txBox="1"/>
          <p:nvPr/>
        </p:nvSpPr>
        <p:spPr>
          <a:xfrm>
            <a:off x="9875520" y="2441448"/>
            <a:ext cx="1737360" cy="32004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placed no order</a:t>
            </a:r>
            <a:endParaRPr lang="en-US" sz="1300" dirty="0"/>
          </a:p>
        </p:txBody>
      </p:sp>
      <p:sp>
        <p:nvSpPr>
          <p:cNvPr id="15" name="Text 13"/>
          <p:cNvSpPr txBox="1"/>
          <p:nvPr/>
        </p:nvSpPr>
        <p:spPr>
          <a:xfrm>
            <a:off x="548640" y="3429000"/>
            <a:ext cx="2103120" cy="365760"/>
          </a:xfrm>
          <a:prstGeom prst="rect">
            <a:avLst/>
          </a:prstGeom>
          <a:noFill/>
          <a:ln/>
        </p:spPr>
        <p:txBody>
          <a:bodyPr wrap="square" lIns="0" tIns="0" rIns="0" bIns="0" rtlCol="0" anchor="t"/>
          <a:lstStyle/>
          <a:p>
            <a:pPr marL="0" indent="0">
              <a:buNone/>
            </a:pPr>
            <a:r>
              <a:rPr lang="en-US" sz="1600" b="1" dirty="0">
                <a:solidFill>
                  <a:srgbClr val="1E2B3A"/>
                </a:solidFill>
                <a:latin typeface="Calibri" pitchFamily="34" charset="0"/>
                <a:ea typeface="Calibri" pitchFamily="34" charset="-122"/>
                <a:cs typeface="Calibri" pitchFamily="34" charset="-120"/>
              </a:rPr>
              <a:t>Holiday season</a:t>
            </a:r>
            <a:endParaRPr lang="en-US" sz="1600" dirty="0"/>
          </a:p>
        </p:txBody>
      </p:sp>
      <p:sp>
        <p:nvSpPr>
          <p:cNvPr id="16" name="Text 14"/>
          <p:cNvSpPr txBox="1"/>
          <p:nvPr/>
        </p:nvSpPr>
        <p:spPr>
          <a:xfrm>
            <a:off x="548640" y="3813048"/>
            <a:ext cx="2103120" cy="32004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Cutoff 9 Sep 2011</a:t>
            </a:r>
            <a:endParaRPr lang="en-US" sz="1300" dirty="0"/>
          </a:p>
        </p:txBody>
      </p:sp>
      <p:sp>
        <p:nvSpPr>
          <p:cNvPr id="17" name="Shape 15"/>
          <p:cNvSpPr/>
          <p:nvPr/>
        </p:nvSpPr>
        <p:spPr>
          <a:xfrm>
            <a:off x="2743200" y="3429000"/>
            <a:ext cx="4206240" cy="1097280"/>
          </a:xfrm>
          <a:prstGeom prst="roundRect">
            <a:avLst>
              <a:gd name="adj" fmla="val 6667"/>
            </a:avLst>
          </a:prstGeom>
          <a:solidFill>
            <a:srgbClr val="F3F5F8"/>
          </a:solidFill>
          <a:ln w="12700">
            <a:solidFill>
              <a:srgbClr val="F3F5F8"/>
            </a:solidFill>
            <a:prstDash val="solid"/>
          </a:ln>
        </p:spPr>
        <p:txBody>
          <a:bodyPr/>
          <a:lstStyle/>
          <a:p>
            <a:endParaRPr lang="en-CA"/>
          </a:p>
        </p:txBody>
      </p:sp>
      <p:sp>
        <p:nvSpPr>
          <p:cNvPr id="18" name="Text 16"/>
          <p:cNvSpPr txBox="1"/>
          <p:nvPr/>
        </p:nvSpPr>
        <p:spPr>
          <a:xfrm>
            <a:off x="2971800" y="3611880"/>
            <a:ext cx="3840480" cy="320040"/>
          </a:xfrm>
          <a:prstGeom prst="rect">
            <a:avLst/>
          </a:prstGeom>
          <a:noFill/>
          <a:ln/>
        </p:spPr>
        <p:txBody>
          <a:bodyPr wrap="square" lIns="0" tIns="0" rIns="0" bIns="0" rtlCol="0" anchor="t"/>
          <a:lstStyle/>
          <a:p>
            <a:pPr marL="0" indent="0">
              <a:buNone/>
            </a:pPr>
            <a:r>
              <a:rPr lang="en-US" sz="1400" b="1" dirty="0">
                <a:solidFill>
                  <a:srgbClr val="1E2B3A"/>
                </a:solidFill>
                <a:latin typeface="Calibri" pitchFamily="34" charset="0"/>
                <a:ea typeface="Calibri" pitchFamily="34" charset="-122"/>
                <a:cs typeface="Calibri" pitchFamily="34" charset="-120"/>
              </a:rPr>
              <a:t>Everything the customer did before the cutoff</a:t>
            </a:r>
            <a:endParaRPr lang="en-US" sz="1400" dirty="0"/>
          </a:p>
        </p:txBody>
      </p:sp>
      <p:sp>
        <p:nvSpPr>
          <p:cNvPr id="19" name="Text 17"/>
          <p:cNvSpPr txBox="1"/>
          <p:nvPr/>
        </p:nvSpPr>
        <p:spPr>
          <a:xfrm>
            <a:off x="2971800" y="3977640"/>
            <a:ext cx="3840480" cy="32004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This is all the model is allowed to use</a:t>
            </a:r>
            <a:endParaRPr lang="en-US" sz="1300" dirty="0"/>
          </a:p>
        </p:txBody>
      </p:sp>
      <p:sp>
        <p:nvSpPr>
          <p:cNvPr id="20" name="Shape 18"/>
          <p:cNvSpPr/>
          <p:nvPr/>
        </p:nvSpPr>
        <p:spPr>
          <a:xfrm>
            <a:off x="7132320" y="3337560"/>
            <a:ext cx="0" cy="1280160"/>
          </a:xfrm>
          <a:prstGeom prst="line">
            <a:avLst/>
          </a:prstGeom>
          <a:noFill/>
          <a:ln w="28575">
            <a:solidFill>
              <a:srgbClr val="1E2B3A"/>
            </a:solidFill>
            <a:prstDash val="dash"/>
          </a:ln>
        </p:spPr>
        <p:txBody>
          <a:bodyPr/>
          <a:lstStyle/>
          <a:p>
            <a:endParaRPr lang="en-CA"/>
          </a:p>
        </p:txBody>
      </p:sp>
      <p:sp>
        <p:nvSpPr>
          <p:cNvPr id="21" name="Shape 19"/>
          <p:cNvSpPr/>
          <p:nvPr/>
        </p:nvSpPr>
        <p:spPr>
          <a:xfrm>
            <a:off x="7315200" y="3429000"/>
            <a:ext cx="2331720" cy="1097280"/>
          </a:xfrm>
          <a:prstGeom prst="roundRect">
            <a:avLst>
              <a:gd name="adj" fmla="val 6667"/>
            </a:avLst>
          </a:prstGeom>
          <a:solidFill>
            <a:srgbClr val="E7EFF8"/>
          </a:solidFill>
          <a:ln w="12700">
            <a:solidFill>
              <a:srgbClr val="E7EFF8"/>
            </a:solidFill>
            <a:prstDash val="solid"/>
          </a:ln>
        </p:spPr>
        <p:txBody>
          <a:bodyPr/>
          <a:lstStyle/>
          <a:p>
            <a:endParaRPr lang="en-CA"/>
          </a:p>
        </p:txBody>
      </p:sp>
      <p:sp>
        <p:nvSpPr>
          <p:cNvPr id="22" name="Text 20"/>
          <p:cNvSpPr txBox="1"/>
          <p:nvPr/>
        </p:nvSpPr>
        <p:spPr>
          <a:xfrm>
            <a:off x="7498080" y="3611880"/>
            <a:ext cx="2011680" cy="320040"/>
          </a:xfrm>
          <a:prstGeom prst="rect">
            <a:avLst/>
          </a:prstGeom>
          <a:noFill/>
          <a:ln/>
        </p:spPr>
        <p:txBody>
          <a:bodyPr wrap="square" lIns="0" tIns="0" rIns="0" bIns="0" rtlCol="0" anchor="t"/>
          <a:lstStyle/>
          <a:p>
            <a:pPr marL="0" indent="0">
              <a:buNone/>
            </a:pPr>
            <a:r>
              <a:rPr lang="en-US" sz="1400" b="1" dirty="0">
                <a:solidFill>
                  <a:srgbClr val="1E2B3A"/>
                </a:solidFill>
                <a:latin typeface="Calibri" pitchFamily="34" charset="0"/>
                <a:ea typeface="Calibri" pitchFamily="34" charset="-122"/>
                <a:cs typeface="Calibri" pitchFamily="34" charset="-120"/>
              </a:rPr>
              <a:t>Next 90 days</a:t>
            </a:r>
            <a:endParaRPr lang="en-US" sz="1400" dirty="0"/>
          </a:p>
        </p:txBody>
      </p:sp>
      <p:sp>
        <p:nvSpPr>
          <p:cNvPr id="23" name="Text 21"/>
          <p:cNvSpPr txBox="1"/>
          <p:nvPr/>
        </p:nvSpPr>
        <p:spPr>
          <a:xfrm>
            <a:off x="7498080" y="3977640"/>
            <a:ext cx="2103120" cy="32004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9 Sep – 7 Dec 2011</a:t>
            </a:r>
            <a:endParaRPr lang="en-US" sz="1300" dirty="0"/>
          </a:p>
        </p:txBody>
      </p:sp>
      <p:sp>
        <p:nvSpPr>
          <p:cNvPr id="24" name="Text 22"/>
          <p:cNvSpPr txBox="1"/>
          <p:nvPr/>
        </p:nvSpPr>
        <p:spPr>
          <a:xfrm>
            <a:off x="9875520" y="3474720"/>
            <a:ext cx="1737360" cy="594360"/>
          </a:xfrm>
          <a:prstGeom prst="rect">
            <a:avLst/>
          </a:prstGeom>
          <a:noFill/>
          <a:ln/>
        </p:spPr>
        <p:txBody>
          <a:bodyPr wrap="square" lIns="0" tIns="0" rIns="0" bIns="0" rtlCol="0" anchor="t"/>
          <a:lstStyle/>
          <a:p>
            <a:pPr marL="0" indent="0">
              <a:buNone/>
            </a:pPr>
            <a:r>
              <a:rPr lang="en-US" sz="3200" b="1" dirty="0">
                <a:solidFill>
                  <a:srgbClr val="C0404A"/>
                </a:solidFill>
                <a:latin typeface="Cambria" pitchFamily="34" charset="0"/>
                <a:ea typeface="Cambria" pitchFamily="34" charset="-122"/>
                <a:cs typeface="Cambria" pitchFamily="34" charset="-120"/>
              </a:rPr>
              <a:t>57%</a:t>
            </a:r>
            <a:endParaRPr lang="en-US" sz="3200" dirty="0"/>
          </a:p>
        </p:txBody>
      </p:sp>
      <p:sp>
        <p:nvSpPr>
          <p:cNvPr id="25" name="Text 23"/>
          <p:cNvSpPr txBox="1"/>
          <p:nvPr/>
        </p:nvSpPr>
        <p:spPr>
          <a:xfrm>
            <a:off x="9875520" y="4087368"/>
            <a:ext cx="1737360" cy="32004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placed no order</a:t>
            </a:r>
            <a:endParaRPr lang="en-US" sz="1300" dirty="0"/>
          </a:p>
        </p:txBody>
      </p:sp>
      <p:sp>
        <p:nvSpPr>
          <p:cNvPr id="26" name="Text 24"/>
          <p:cNvSpPr txBox="1"/>
          <p:nvPr/>
        </p:nvSpPr>
        <p:spPr>
          <a:xfrm>
            <a:off x="548640" y="4846320"/>
            <a:ext cx="11064240" cy="548640"/>
          </a:xfrm>
          <a:prstGeom prst="rect">
            <a:avLst/>
          </a:prstGeom>
          <a:noFill/>
          <a:ln/>
        </p:spPr>
        <p:txBody>
          <a:bodyPr wrap="square" lIns="0" tIns="0" rIns="0" bIns="0" rtlCol="0" anchor="t"/>
          <a:lstStyle/>
          <a:p>
            <a:pPr marL="0" indent="0">
              <a:buNone/>
            </a:pPr>
            <a:r>
              <a:rPr lang="en-US" sz="1500" dirty="0">
                <a:solidFill>
                  <a:srgbClr val="5B6675"/>
                </a:solidFill>
                <a:latin typeface="Calibri" pitchFamily="34" charset="0"/>
                <a:ea typeface="Calibri" pitchFamily="34" charset="-122"/>
                <a:cs typeface="Calibri" pitchFamily="34" charset="-120"/>
              </a:rPr>
              <a:t>The model predicts churn separately for each season, from what we knew on the cutoff date. That is exactly how the team would use it on a real day.</a:t>
            </a:r>
            <a:endParaRPr lang="en-US" sz="1500" dirty="0"/>
          </a:p>
        </p:txBody>
      </p:sp>
      <p:sp>
        <p:nvSpPr>
          <p:cNvPr id="27" name="Shape 25"/>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28" name="Text 26"/>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Churn is a clear, checkable event: no order in 90 days. Every figure in this deck uses that one definition.</a:t>
            </a:r>
            <a:endParaRPr lang="en-US" sz="1500" dirty="0"/>
          </a:p>
        </p:txBody>
      </p:sp>
      <p:sp>
        <p:nvSpPr>
          <p:cNvPr id="29" name="Text 27"/>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WHY TWO MODELS</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Customers behave differently before Christmas, so each season needs its own model</a:t>
            </a:r>
            <a:endParaRPr lang="en-US" sz="2600" dirty="0"/>
          </a:p>
        </p:txBody>
      </p:sp>
      <p:sp>
        <p:nvSpPr>
          <p:cNvPr id="4" name="Text 2"/>
          <p:cNvSpPr txBox="1"/>
          <p:nvPr/>
        </p:nvSpPr>
        <p:spPr>
          <a:xfrm>
            <a:off x="548640" y="1600200"/>
            <a:ext cx="6675120" cy="27432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Share of customers expected to leave, against what really happened</a:t>
            </a:r>
            <a:endParaRPr lang="en-US" sz="1300" dirty="0"/>
          </a:p>
        </p:txBody>
      </p:sp>
      <p:graphicFrame>
        <p:nvGraphicFramePr>
          <p:cNvPr id="5" name="Chart 0"/>
          <p:cNvGraphicFramePr/>
          <p:nvPr/>
        </p:nvGraphicFramePr>
        <p:xfrm>
          <a:off x="548640" y="1874520"/>
          <a:ext cx="667512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589520" y="1737360"/>
            <a:ext cx="4050792" cy="1783080"/>
          </a:xfrm>
          <a:prstGeom prst="roundRect">
            <a:avLst>
              <a:gd name="adj" fmla="val 4103"/>
            </a:avLst>
          </a:prstGeom>
          <a:solidFill>
            <a:srgbClr val="F3F5F8"/>
          </a:solidFill>
          <a:ln w="12700">
            <a:solidFill>
              <a:srgbClr val="F3F5F8"/>
            </a:solidFill>
            <a:prstDash val="solid"/>
          </a:ln>
        </p:spPr>
        <p:txBody>
          <a:bodyPr/>
          <a:lstStyle/>
          <a:p>
            <a:endParaRPr lang="en-CA"/>
          </a:p>
        </p:txBody>
      </p:sp>
      <p:sp>
        <p:nvSpPr>
          <p:cNvPr id="7" name="Text 4"/>
          <p:cNvSpPr txBox="1"/>
          <p:nvPr/>
        </p:nvSpPr>
        <p:spPr>
          <a:xfrm>
            <a:off x="7863840" y="1920240"/>
            <a:ext cx="3566160" cy="594360"/>
          </a:xfrm>
          <a:prstGeom prst="rect">
            <a:avLst/>
          </a:prstGeom>
          <a:noFill/>
          <a:ln/>
        </p:spPr>
        <p:txBody>
          <a:bodyPr wrap="square" lIns="0" tIns="0" rIns="0" bIns="0" rtlCol="0" anchor="t"/>
          <a:lstStyle/>
          <a:p>
            <a:pPr marL="0" indent="0">
              <a:buNone/>
            </a:pPr>
            <a:r>
              <a:rPr lang="en-US" sz="3000" b="1" dirty="0">
                <a:solidFill>
                  <a:srgbClr val="C0404A"/>
                </a:solidFill>
                <a:latin typeface="Cambria" pitchFamily="34" charset="0"/>
                <a:ea typeface="Cambria" pitchFamily="34" charset="-122"/>
                <a:cs typeface="Cambria" pitchFamily="34" charset="-120"/>
              </a:rPr>
              <a:t>About 10 points</a:t>
            </a:r>
            <a:endParaRPr lang="en-US" sz="3000" dirty="0"/>
          </a:p>
        </p:txBody>
      </p:sp>
      <p:sp>
        <p:nvSpPr>
          <p:cNvPr id="8" name="Text 5"/>
          <p:cNvSpPr txBox="1"/>
          <p:nvPr/>
        </p:nvSpPr>
        <p:spPr>
          <a:xfrm>
            <a:off x="7863840" y="2560320"/>
            <a:ext cx="3566160" cy="868680"/>
          </a:xfrm>
          <a:prstGeom prst="rect">
            <a:avLst/>
          </a:prstGeom>
          <a:noFill/>
          <a:ln/>
        </p:spPr>
        <p:txBody>
          <a:bodyPr wrap="square" lIns="0" tIns="0" rIns="0" bIns="0" rtlCol="0" anchor="t"/>
          <a:lstStyle/>
          <a:p>
            <a:pPr marL="0" indent="0">
              <a:buNone/>
            </a:pPr>
            <a:r>
              <a:rPr lang="en-US" sz="1400" dirty="0">
                <a:solidFill>
                  <a:srgbClr val="1E2B3A"/>
                </a:solidFill>
                <a:latin typeface="Calibri" pitchFamily="34" charset="0"/>
                <a:ea typeface="Calibri" pitchFamily="34" charset="-122"/>
                <a:cs typeface="Calibri" pitchFamily="34" charset="-120"/>
              </a:rPr>
              <a:t>The wrong-season model gets the overall churn level wrong. The summer model expects 67% to leave before Christmas; 57% did.</a:t>
            </a:r>
            <a:endParaRPr lang="en-US" sz="1400" dirty="0"/>
          </a:p>
        </p:txBody>
      </p:sp>
      <p:sp>
        <p:nvSpPr>
          <p:cNvPr id="9" name="Shape 6"/>
          <p:cNvSpPr/>
          <p:nvPr/>
        </p:nvSpPr>
        <p:spPr>
          <a:xfrm>
            <a:off x="7589520" y="3703320"/>
            <a:ext cx="4050792" cy="1783080"/>
          </a:xfrm>
          <a:prstGeom prst="roundRect">
            <a:avLst>
              <a:gd name="adj" fmla="val 4103"/>
            </a:avLst>
          </a:prstGeom>
          <a:solidFill>
            <a:srgbClr val="F3F5F8"/>
          </a:solidFill>
          <a:ln w="12700">
            <a:solidFill>
              <a:srgbClr val="F3F5F8"/>
            </a:solidFill>
            <a:prstDash val="solid"/>
          </a:ln>
        </p:spPr>
        <p:txBody>
          <a:bodyPr/>
          <a:lstStyle/>
          <a:p>
            <a:endParaRPr lang="en-CA"/>
          </a:p>
        </p:txBody>
      </p:sp>
      <p:sp>
        <p:nvSpPr>
          <p:cNvPr id="10" name="Text 7"/>
          <p:cNvSpPr txBox="1"/>
          <p:nvPr/>
        </p:nvSpPr>
        <p:spPr>
          <a:xfrm>
            <a:off x="7863840" y="3886200"/>
            <a:ext cx="3566160" cy="365760"/>
          </a:xfrm>
          <a:prstGeom prst="rect">
            <a:avLst/>
          </a:prstGeom>
          <a:noFill/>
          <a:ln/>
        </p:spPr>
        <p:txBody>
          <a:bodyPr wrap="square" lIns="0" tIns="0" rIns="0" bIns="0" rtlCol="0" anchor="t"/>
          <a:lstStyle/>
          <a:p>
            <a:pPr marL="0" indent="0">
              <a:buNone/>
            </a:pPr>
            <a:r>
              <a:rPr lang="en-US" sz="1700" b="1" dirty="0">
                <a:solidFill>
                  <a:srgbClr val="1E2B3A"/>
                </a:solidFill>
                <a:latin typeface="Calibri" pitchFamily="34" charset="0"/>
                <a:ea typeface="Calibri" pitchFamily="34" charset="-122"/>
                <a:cs typeface="Calibri" pitchFamily="34" charset="-120"/>
              </a:rPr>
              <a:t>Same order, different level</a:t>
            </a:r>
            <a:endParaRPr lang="en-US" sz="1700" dirty="0"/>
          </a:p>
        </p:txBody>
      </p:sp>
      <p:sp>
        <p:nvSpPr>
          <p:cNvPr id="11" name="Text 8"/>
          <p:cNvSpPr txBox="1"/>
          <p:nvPr/>
        </p:nvSpPr>
        <p:spPr>
          <a:xfrm>
            <a:off x="7863840" y="4297680"/>
            <a:ext cx="3566160" cy="109728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Both models put customers in almost the same order from high to low risk. The difference is how much churn they expect in total.</a:t>
            </a:r>
            <a:endParaRPr lang="en-US" sz="1400" dirty="0"/>
          </a:p>
        </p:txBody>
      </p:sp>
      <p:sp>
        <p:nvSpPr>
          <p:cNvPr id="12" name="Shape 9"/>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13" name="Text 10"/>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Use the holiday model for the September to December run-up and the non-holiday model outside it, or forecasts of lost customers will be off.</a:t>
            </a:r>
            <a:endParaRPr lang="en-US" sz="1500" dirty="0"/>
          </a:p>
        </p:txBody>
      </p:sp>
      <p:sp>
        <p:nvSpPr>
          <p:cNvPr id="14" name="Text 11"/>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WHAT THE MODEL LOOKS AT</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The model uses 16 details about each customer, which answer six plain questions</a:t>
            </a:r>
            <a:endParaRPr lang="en-US" sz="2600" dirty="0"/>
          </a:p>
        </p:txBody>
      </p:sp>
      <p:sp>
        <p:nvSpPr>
          <p:cNvPr id="4" name="Shape 2"/>
          <p:cNvSpPr/>
          <p:nvPr/>
        </p:nvSpPr>
        <p:spPr>
          <a:xfrm>
            <a:off x="548640" y="1691640"/>
            <a:ext cx="3483864" cy="1737360"/>
          </a:xfrm>
          <a:prstGeom prst="roundRect">
            <a:avLst>
              <a:gd name="adj" fmla="val 4211"/>
            </a:avLst>
          </a:prstGeom>
          <a:solidFill>
            <a:srgbClr val="F3F5F8"/>
          </a:solidFill>
          <a:ln w="12700">
            <a:solidFill>
              <a:srgbClr val="F3F5F8"/>
            </a:solidFill>
            <a:prstDash val="solid"/>
          </a:ln>
        </p:spPr>
        <p:txBody>
          <a:bodyPr/>
          <a:lstStyle/>
          <a:p>
            <a:endParaRPr lang="en-CA"/>
          </a:p>
        </p:txBody>
      </p:sp>
      <p:sp>
        <p:nvSpPr>
          <p:cNvPr id="5" name="Shape 3"/>
          <p:cNvSpPr/>
          <p:nvPr/>
        </p:nvSpPr>
        <p:spPr>
          <a:xfrm>
            <a:off x="822960" y="1965960"/>
            <a:ext cx="502920" cy="502920"/>
          </a:xfrm>
          <a:prstGeom prst="ellipse">
            <a:avLst/>
          </a:prstGeom>
          <a:solidFill>
            <a:srgbClr val="1E2B3A"/>
          </a:solidFill>
          <a:ln w="12700">
            <a:solidFill>
              <a:srgbClr val="1E2B3A"/>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953719" y="2096719"/>
            <a:ext cx="241402" cy="241402"/>
          </a:xfrm>
          <a:prstGeom prst="rect">
            <a:avLst/>
          </a:prstGeom>
        </p:spPr>
      </p:pic>
      <p:sp>
        <p:nvSpPr>
          <p:cNvPr id="7" name="Text 4"/>
          <p:cNvSpPr txBox="1"/>
          <p:nvPr/>
        </p:nvSpPr>
        <p:spPr>
          <a:xfrm>
            <a:off x="1463040" y="1947672"/>
            <a:ext cx="2468880" cy="32004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Recency and recent activity</a:t>
            </a:r>
            <a:endParaRPr lang="en-US" sz="1500" dirty="0"/>
          </a:p>
        </p:txBody>
      </p:sp>
      <p:sp>
        <p:nvSpPr>
          <p:cNvPr id="8" name="Text 5"/>
          <p:cNvSpPr txBox="1"/>
          <p:nvPr/>
        </p:nvSpPr>
        <p:spPr>
          <a:xfrm>
            <a:off x="1463040" y="2258568"/>
            <a:ext cx="2468880" cy="27432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6 details</a:t>
            </a:r>
            <a:endParaRPr lang="en-US" sz="1200" dirty="0"/>
          </a:p>
        </p:txBody>
      </p:sp>
      <p:sp>
        <p:nvSpPr>
          <p:cNvPr id="9" name="Text 6"/>
          <p:cNvSpPr txBox="1"/>
          <p:nvPr/>
        </p:nvSpPr>
        <p:spPr>
          <a:xfrm>
            <a:off x="822960" y="2606040"/>
            <a:ext cx="3017520" cy="73152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How long since their last order? How much did they buy in the last 30, 90 and 180 days? Are they overdue against their usual rhythm?</a:t>
            </a:r>
            <a:endParaRPr lang="en-US" sz="1250" dirty="0"/>
          </a:p>
        </p:txBody>
      </p:sp>
      <p:sp>
        <p:nvSpPr>
          <p:cNvPr id="10" name="Shape 7"/>
          <p:cNvSpPr/>
          <p:nvPr/>
        </p:nvSpPr>
        <p:spPr>
          <a:xfrm>
            <a:off x="4352544" y="1691640"/>
            <a:ext cx="3483864" cy="1737360"/>
          </a:xfrm>
          <a:prstGeom prst="roundRect">
            <a:avLst>
              <a:gd name="adj" fmla="val 4211"/>
            </a:avLst>
          </a:prstGeom>
          <a:solidFill>
            <a:srgbClr val="F3F5F8"/>
          </a:solidFill>
          <a:ln w="12700">
            <a:solidFill>
              <a:srgbClr val="F3F5F8"/>
            </a:solidFill>
            <a:prstDash val="solid"/>
          </a:ln>
        </p:spPr>
        <p:txBody>
          <a:bodyPr/>
          <a:lstStyle/>
          <a:p>
            <a:endParaRPr lang="en-CA"/>
          </a:p>
        </p:txBody>
      </p:sp>
      <p:sp>
        <p:nvSpPr>
          <p:cNvPr id="11" name="Shape 8"/>
          <p:cNvSpPr/>
          <p:nvPr/>
        </p:nvSpPr>
        <p:spPr>
          <a:xfrm>
            <a:off x="4626864" y="1965960"/>
            <a:ext cx="502920" cy="502920"/>
          </a:xfrm>
          <a:prstGeom prst="ellipse">
            <a:avLst/>
          </a:prstGeom>
          <a:solidFill>
            <a:srgbClr val="1E2B3A"/>
          </a:solidFill>
          <a:ln w="12700">
            <a:solidFill>
              <a:srgbClr val="1E2B3A"/>
            </a:solidFill>
            <a:prstDash val="solid"/>
          </a:ln>
        </p:spPr>
        <p:txBody>
          <a:bodyPr/>
          <a:lstStyle/>
          <a:p>
            <a:endParaRPr lang="en-CA"/>
          </a:p>
        </p:txBody>
      </p:sp>
      <p:pic>
        <p:nvPicPr>
          <p:cNvPr id="12" name="Image 1" descr="preencoded.png"/>
          <p:cNvPicPr>
            <a:picLocks noChangeAspect="1"/>
          </p:cNvPicPr>
          <p:nvPr/>
        </p:nvPicPr>
        <p:blipFill>
          <a:blip r:embed="rId4"/>
          <a:stretch>
            <a:fillRect/>
          </a:stretch>
        </p:blipFill>
        <p:spPr>
          <a:xfrm>
            <a:off x="4757623" y="2096719"/>
            <a:ext cx="241402" cy="241402"/>
          </a:xfrm>
          <a:prstGeom prst="rect">
            <a:avLst/>
          </a:prstGeom>
        </p:spPr>
      </p:pic>
      <p:sp>
        <p:nvSpPr>
          <p:cNvPr id="13" name="Text 9"/>
          <p:cNvSpPr txBox="1"/>
          <p:nvPr/>
        </p:nvSpPr>
        <p:spPr>
          <a:xfrm>
            <a:off x="5266944" y="1947672"/>
            <a:ext cx="2468880" cy="32004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Purchase frequency and spend</a:t>
            </a:r>
            <a:endParaRPr lang="en-US" sz="1500" dirty="0"/>
          </a:p>
        </p:txBody>
      </p:sp>
      <p:sp>
        <p:nvSpPr>
          <p:cNvPr id="14" name="Text 10"/>
          <p:cNvSpPr txBox="1"/>
          <p:nvPr/>
        </p:nvSpPr>
        <p:spPr>
          <a:xfrm>
            <a:off x="5266944" y="2258568"/>
            <a:ext cx="2468880" cy="27432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3 details</a:t>
            </a:r>
            <a:endParaRPr lang="en-US" sz="1200" dirty="0"/>
          </a:p>
        </p:txBody>
      </p:sp>
      <p:sp>
        <p:nvSpPr>
          <p:cNvPr id="15" name="Text 11"/>
          <p:cNvSpPr txBox="1"/>
          <p:nvPr/>
        </p:nvSpPr>
        <p:spPr>
          <a:xfrm>
            <a:off x="4626864" y="2606040"/>
            <a:ext cx="3017520" cy="73152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How many orders have they placed, how many different products have they bought, and how much have they spent in total?</a:t>
            </a:r>
            <a:endParaRPr lang="en-US" sz="1250" dirty="0"/>
          </a:p>
        </p:txBody>
      </p:sp>
      <p:sp>
        <p:nvSpPr>
          <p:cNvPr id="16" name="Shape 12"/>
          <p:cNvSpPr/>
          <p:nvPr/>
        </p:nvSpPr>
        <p:spPr>
          <a:xfrm>
            <a:off x="8156448" y="1691640"/>
            <a:ext cx="3483864" cy="1737360"/>
          </a:xfrm>
          <a:prstGeom prst="roundRect">
            <a:avLst>
              <a:gd name="adj" fmla="val 4211"/>
            </a:avLst>
          </a:prstGeom>
          <a:solidFill>
            <a:srgbClr val="F3F5F8"/>
          </a:solidFill>
          <a:ln w="12700">
            <a:solidFill>
              <a:srgbClr val="F3F5F8"/>
            </a:solidFill>
            <a:prstDash val="solid"/>
          </a:ln>
        </p:spPr>
        <p:txBody>
          <a:bodyPr/>
          <a:lstStyle/>
          <a:p>
            <a:endParaRPr lang="en-CA"/>
          </a:p>
        </p:txBody>
      </p:sp>
      <p:sp>
        <p:nvSpPr>
          <p:cNvPr id="17" name="Shape 13"/>
          <p:cNvSpPr/>
          <p:nvPr/>
        </p:nvSpPr>
        <p:spPr>
          <a:xfrm>
            <a:off x="8430768" y="1965960"/>
            <a:ext cx="502920" cy="502920"/>
          </a:xfrm>
          <a:prstGeom prst="ellipse">
            <a:avLst/>
          </a:prstGeom>
          <a:solidFill>
            <a:srgbClr val="1E2B3A"/>
          </a:solidFill>
          <a:ln w="12700">
            <a:solidFill>
              <a:srgbClr val="1E2B3A"/>
            </a:solidFill>
            <a:prstDash val="solid"/>
          </a:ln>
        </p:spPr>
        <p:txBody>
          <a:bodyPr/>
          <a:lstStyle/>
          <a:p>
            <a:endParaRPr lang="en-CA"/>
          </a:p>
        </p:txBody>
      </p:sp>
      <p:pic>
        <p:nvPicPr>
          <p:cNvPr id="18" name="Image 2" descr="preencoded.png"/>
          <p:cNvPicPr>
            <a:picLocks noChangeAspect="1"/>
          </p:cNvPicPr>
          <p:nvPr/>
        </p:nvPicPr>
        <p:blipFill>
          <a:blip r:embed="rId5"/>
          <a:stretch>
            <a:fillRect/>
          </a:stretch>
        </p:blipFill>
        <p:spPr>
          <a:xfrm>
            <a:off x="8561527" y="2096719"/>
            <a:ext cx="241402" cy="241402"/>
          </a:xfrm>
          <a:prstGeom prst="rect">
            <a:avLst/>
          </a:prstGeom>
        </p:spPr>
      </p:pic>
      <p:sp>
        <p:nvSpPr>
          <p:cNvPr id="19" name="Text 14"/>
          <p:cNvSpPr txBox="1"/>
          <p:nvPr/>
        </p:nvSpPr>
        <p:spPr>
          <a:xfrm>
            <a:off x="9070848" y="1947672"/>
            <a:ext cx="2468880" cy="32004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Seasonal buying</a:t>
            </a:r>
            <a:endParaRPr lang="en-US" sz="1500" dirty="0"/>
          </a:p>
        </p:txBody>
      </p:sp>
      <p:sp>
        <p:nvSpPr>
          <p:cNvPr id="20" name="Text 15"/>
          <p:cNvSpPr txBox="1"/>
          <p:nvPr/>
        </p:nvSpPr>
        <p:spPr>
          <a:xfrm>
            <a:off x="9070848" y="2258568"/>
            <a:ext cx="2468880" cy="27432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1 detail</a:t>
            </a:r>
            <a:endParaRPr lang="en-US" sz="1200" dirty="0"/>
          </a:p>
        </p:txBody>
      </p:sp>
      <p:sp>
        <p:nvSpPr>
          <p:cNvPr id="21" name="Text 16"/>
          <p:cNvSpPr txBox="1"/>
          <p:nvPr/>
        </p:nvSpPr>
        <p:spPr>
          <a:xfrm>
            <a:off x="8430768" y="2606040"/>
            <a:ext cx="3017520" cy="73152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Did they order in the same 90 days one year earlier?</a:t>
            </a:r>
            <a:endParaRPr lang="en-US" sz="1250" dirty="0"/>
          </a:p>
        </p:txBody>
      </p:sp>
      <p:sp>
        <p:nvSpPr>
          <p:cNvPr id="22" name="Shape 17"/>
          <p:cNvSpPr/>
          <p:nvPr/>
        </p:nvSpPr>
        <p:spPr>
          <a:xfrm>
            <a:off x="548640" y="3611880"/>
            <a:ext cx="3483864" cy="1737360"/>
          </a:xfrm>
          <a:prstGeom prst="roundRect">
            <a:avLst>
              <a:gd name="adj" fmla="val 4211"/>
            </a:avLst>
          </a:prstGeom>
          <a:solidFill>
            <a:srgbClr val="F3F5F8"/>
          </a:solidFill>
          <a:ln w="12700">
            <a:solidFill>
              <a:srgbClr val="F3F5F8"/>
            </a:solidFill>
            <a:prstDash val="solid"/>
          </a:ln>
        </p:spPr>
        <p:txBody>
          <a:bodyPr/>
          <a:lstStyle/>
          <a:p>
            <a:endParaRPr lang="en-CA"/>
          </a:p>
        </p:txBody>
      </p:sp>
      <p:sp>
        <p:nvSpPr>
          <p:cNvPr id="23" name="Shape 18"/>
          <p:cNvSpPr/>
          <p:nvPr/>
        </p:nvSpPr>
        <p:spPr>
          <a:xfrm>
            <a:off x="822960" y="3886200"/>
            <a:ext cx="502920" cy="502920"/>
          </a:xfrm>
          <a:prstGeom prst="ellipse">
            <a:avLst/>
          </a:prstGeom>
          <a:solidFill>
            <a:srgbClr val="1E2B3A"/>
          </a:solidFill>
          <a:ln w="12700">
            <a:solidFill>
              <a:srgbClr val="1E2B3A"/>
            </a:solidFill>
            <a:prstDash val="solid"/>
          </a:ln>
        </p:spPr>
        <p:txBody>
          <a:bodyPr/>
          <a:lstStyle/>
          <a:p>
            <a:endParaRPr lang="en-CA"/>
          </a:p>
        </p:txBody>
      </p:sp>
      <p:pic>
        <p:nvPicPr>
          <p:cNvPr id="24" name="Image 3" descr="preencoded.png"/>
          <p:cNvPicPr>
            <a:picLocks noChangeAspect="1"/>
          </p:cNvPicPr>
          <p:nvPr/>
        </p:nvPicPr>
        <p:blipFill>
          <a:blip r:embed="rId6"/>
          <a:stretch>
            <a:fillRect/>
          </a:stretch>
        </p:blipFill>
        <p:spPr>
          <a:xfrm>
            <a:off x="953719" y="4016959"/>
            <a:ext cx="241402" cy="241402"/>
          </a:xfrm>
          <a:prstGeom prst="rect">
            <a:avLst/>
          </a:prstGeom>
        </p:spPr>
      </p:pic>
      <p:sp>
        <p:nvSpPr>
          <p:cNvPr id="25" name="Text 19"/>
          <p:cNvSpPr txBox="1"/>
          <p:nvPr/>
        </p:nvSpPr>
        <p:spPr>
          <a:xfrm>
            <a:off x="1463040" y="3867912"/>
            <a:ext cx="2468880" cy="32004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Customer history</a:t>
            </a:r>
            <a:endParaRPr lang="en-US" sz="1500" dirty="0"/>
          </a:p>
        </p:txBody>
      </p:sp>
      <p:sp>
        <p:nvSpPr>
          <p:cNvPr id="26" name="Text 20"/>
          <p:cNvSpPr txBox="1"/>
          <p:nvPr/>
        </p:nvSpPr>
        <p:spPr>
          <a:xfrm>
            <a:off x="1463040" y="4178808"/>
            <a:ext cx="2468880" cy="27432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1 detail</a:t>
            </a:r>
            <a:endParaRPr lang="en-US" sz="1200" dirty="0"/>
          </a:p>
        </p:txBody>
      </p:sp>
      <p:sp>
        <p:nvSpPr>
          <p:cNvPr id="27" name="Text 21"/>
          <p:cNvSpPr txBox="1"/>
          <p:nvPr/>
        </p:nvSpPr>
        <p:spPr>
          <a:xfrm>
            <a:off x="822960" y="4526280"/>
            <a:ext cx="3017520" cy="73152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How long have they been a customer?</a:t>
            </a:r>
            <a:endParaRPr lang="en-US" sz="1250" dirty="0"/>
          </a:p>
        </p:txBody>
      </p:sp>
      <p:sp>
        <p:nvSpPr>
          <p:cNvPr id="28" name="Shape 22"/>
          <p:cNvSpPr/>
          <p:nvPr/>
        </p:nvSpPr>
        <p:spPr>
          <a:xfrm>
            <a:off x="4352544" y="3611880"/>
            <a:ext cx="3483864" cy="1737360"/>
          </a:xfrm>
          <a:prstGeom prst="roundRect">
            <a:avLst>
              <a:gd name="adj" fmla="val 4211"/>
            </a:avLst>
          </a:prstGeom>
          <a:solidFill>
            <a:srgbClr val="F3F5F8"/>
          </a:solidFill>
          <a:ln w="12700">
            <a:solidFill>
              <a:srgbClr val="F3F5F8"/>
            </a:solidFill>
            <a:prstDash val="solid"/>
          </a:ln>
        </p:spPr>
        <p:txBody>
          <a:bodyPr/>
          <a:lstStyle/>
          <a:p>
            <a:endParaRPr lang="en-CA"/>
          </a:p>
        </p:txBody>
      </p:sp>
      <p:sp>
        <p:nvSpPr>
          <p:cNvPr id="29" name="Shape 23"/>
          <p:cNvSpPr/>
          <p:nvPr/>
        </p:nvSpPr>
        <p:spPr>
          <a:xfrm>
            <a:off x="4626864" y="3886200"/>
            <a:ext cx="502920" cy="502920"/>
          </a:xfrm>
          <a:prstGeom prst="ellipse">
            <a:avLst/>
          </a:prstGeom>
          <a:solidFill>
            <a:srgbClr val="1E2B3A"/>
          </a:solidFill>
          <a:ln w="12700">
            <a:solidFill>
              <a:srgbClr val="1E2B3A"/>
            </a:solidFill>
            <a:prstDash val="solid"/>
          </a:ln>
        </p:spPr>
        <p:txBody>
          <a:bodyPr/>
          <a:lstStyle/>
          <a:p>
            <a:endParaRPr lang="en-CA"/>
          </a:p>
        </p:txBody>
      </p:sp>
      <p:pic>
        <p:nvPicPr>
          <p:cNvPr id="30" name="Image 4" descr="preencoded.png"/>
          <p:cNvPicPr>
            <a:picLocks noChangeAspect="1"/>
          </p:cNvPicPr>
          <p:nvPr/>
        </p:nvPicPr>
        <p:blipFill>
          <a:blip r:embed="rId7"/>
          <a:stretch>
            <a:fillRect/>
          </a:stretch>
        </p:blipFill>
        <p:spPr>
          <a:xfrm>
            <a:off x="4757623" y="4016959"/>
            <a:ext cx="241402" cy="241402"/>
          </a:xfrm>
          <a:prstGeom prst="rect">
            <a:avLst/>
          </a:prstGeom>
        </p:spPr>
      </p:pic>
      <p:sp>
        <p:nvSpPr>
          <p:cNvPr id="31" name="Text 24"/>
          <p:cNvSpPr txBox="1"/>
          <p:nvPr/>
        </p:nvSpPr>
        <p:spPr>
          <a:xfrm>
            <a:off x="5266944" y="3867912"/>
            <a:ext cx="2468880" cy="32004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Order habits</a:t>
            </a:r>
            <a:endParaRPr lang="en-US" sz="1500" dirty="0"/>
          </a:p>
        </p:txBody>
      </p:sp>
      <p:sp>
        <p:nvSpPr>
          <p:cNvPr id="32" name="Text 25"/>
          <p:cNvSpPr txBox="1"/>
          <p:nvPr/>
        </p:nvSpPr>
        <p:spPr>
          <a:xfrm>
            <a:off x="5266944" y="4178808"/>
            <a:ext cx="2468880" cy="27432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3 details</a:t>
            </a:r>
            <a:endParaRPr lang="en-US" sz="1200" dirty="0"/>
          </a:p>
        </p:txBody>
      </p:sp>
      <p:sp>
        <p:nvSpPr>
          <p:cNvPr id="33" name="Text 26"/>
          <p:cNvSpPr txBox="1"/>
          <p:nvPr/>
        </p:nvSpPr>
        <p:spPr>
          <a:xfrm>
            <a:off x="4626864" y="4526280"/>
            <a:ext cx="3017520" cy="73152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How big is a typical order and basket, and how many days usually pass between orders?</a:t>
            </a:r>
            <a:endParaRPr lang="en-US" sz="1250" dirty="0"/>
          </a:p>
        </p:txBody>
      </p:sp>
      <p:sp>
        <p:nvSpPr>
          <p:cNvPr id="34" name="Shape 27"/>
          <p:cNvSpPr/>
          <p:nvPr/>
        </p:nvSpPr>
        <p:spPr>
          <a:xfrm>
            <a:off x="8156448" y="3611880"/>
            <a:ext cx="3483864" cy="1737360"/>
          </a:xfrm>
          <a:prstGeom prst="roundRect">
            <a:avLst>
              <a:gd name="adj" fmla="val 4211"/>
            </a:avLst>
          </a:prstGeom>
          <a:solidFill>
            <a:srgbClr val="F3F5F8"/>
          </a:solidFill>
          <a:ln w="12700">
            <a:solidFill>
              <a:srgbClr val="F3F5F8"/>
            </a:solidFill>
            <a:prstDash val="solid"/>
          </a:ln>
        </p:spPr>
        <p:txBody>
          <a:bodyPr/>
          <a:lstStyle/>
          <a:p>
            <a:endParaRPr lang="en-CA"/>
          </a:p>
        </p:txBody>
      </p:sp>
      <p:sp>
        <p:nvSpPr>
          <p:cNvPr id="35" name="Shape 28"/>
          <p:cNvSpPr/>
          <p:nvPr/>
        </p:nvSpPr>
        <p:spPr>
          <a:xfrm>
            <a:off x="8430768" y="3886200"/>
            <a:ext cx="502920" cy="502920"/>
          </a:xfrm>
          <a:prstGeom prst="ellipse">
            <a:avLst/>
          </a:prstGeom>
          <a:solidFill>
            <a:srgbClr val="1E2B3A"/>
          </a:solidFill>
          <a:ln w="12700">
            <a:solidFill>
              <a:srgbClr val="1E2B3A"/>
            </a:solidFill>
            <a:prstDash val="solid"/>
          </a:ln>
        </p:spPr>
        <p:txBody>
          <a:bodyPr/>
          <a:lstStyle/>
          <a:p>
            <a:endParaRPr lang="en-CA"/>
          </a:p>
        </p:txBody>
      </p:sp>
      <p:pic>
        <p:nvPicPr>
          <p:cNvPr id="36" name="Image 5" descr="preencoded.png"/>
          <p:cNvPicPr>
            <a:picLocks noChangeAspect="1"/>
          </p:cNvPicPr>
          <p:nvPr/>
        </p:nvPicPr>
        <p:blipFill>
          <a:blip r:embed="rId8"/>
          <a:stretch>
            <a:fillRect/>
          </a:stretch>
        </p:blipFill>
        <p:spPr>
          <a:xfrm>
            <a:off x="8561527" y="4016959"/>
            <a:ext cx="241402" cy="241402"/>
          </a:xfrm>
          <a:prstGeom prst="rect">
            <a:avLst/>
          </a:prstGeom>
        </p:spPr>
      </p:pic>
      <p:sp>
        <p:nvSpPr>
          <p:cNvPr id="37" name="Text 29"/>
          <p:cNvSpPr txBox="1"/>
          <p:nvPr/>
        </p:nvSpPr>
        <p:spPr>
          <a:xfrm>
            <a:off x="9070848" y="3867912"/>
            <a:ext cx="2468880" cy="32004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Account details</a:t>
            </a:r>
            <a:endParaRPr lang="en-US" sz="1500" dirty="0"/>
          </a:p>
        </p:txBody>
      </p:sp>
      <p:sp>
        <p:nvSpPr>
          <p:cNvPr id="38" name="Text 30"/>
          <p:cNvSpPr txBox="1"/>
          <p:nvPr/>
        </p:nvSpPr>
        <p:spPr>
          <a:xfrm>
            <a:off x="9070848" y="4178808"/>
            <a:ext cx="2468880" cy="27432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2 details</a:t>
            </a:r>
            <a:endParaRPr lang="en-US" sz="1200" dirty="0"/>
          </a:p>
        </p:txBody>
      </p:sp>
      <p:sp>
        <p:nvSpPr>
          <p:cNvPr id="39" name="Text 31"/>
          <p:cNvSpPr txBox="1"/>
          <p:nvPr/>
        </p:nvSpPr>
        <p:spPr>
          <a:xfrm>
            <a:off x="8430768" y="4526280"/>
            <a:ext cx="3017520" cy="73152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How often do they cancel, and are they based in the UK?</a:t>
            </a:r>
            <a:endParaRPr lang="en-US" sz="1250" dirty="0"/>
          </a:p>
        </p:txBody>
      </p:sp>
      <p:sp>
        <p:nvSpPr>
          <p:cNvPr id="40" name="Shape 32"/>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41" name="Text 33"/>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Every one of these details is already in our sales records on the cutoff date. No new data has to be collected.</a:t>
            </a:r>
            <a:endParaRPr lang="en-US" sz="1500" dirty="0"/>
          </a:p>
        </p:txBody>
      </p:sp>
      <p:sp>
        <p:nvSpPr>
          <p:cNvPr id="42" name="Text 34"/>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WHAT SIGNALS CHURN</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Recent activity and overall buying tell us the most about who will leave</a:t>
            </a:r>
            <a:endParaRPr lang="en-US" sz="2600" dirty="0"/>
          </a:p>
        </p:txBody>
      </p:sp>
      <p:sp>
        <p:nvSpPr>
          <p:cNvPr id="4" name="Text 2"/>
          <p:cNvSpPr txBox="1"/>
          <p:nvPr/>
        </p:nvSpPr>
        <p:spPr>
          <a:xfrm>
            <a:off x="548640" y="1600200"/>
            <a:ext cx="6949440" cy="27432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How much the model's ranking gets worse when each type of information is hidden (points out of 100)</a:t>
            </a:r>
            <a:endParaRPr lang="en-US" sz="1300" dirty="0"/>
          </a:p>
        </p:txBody>
      </p:sp>
      <p:graphicFrame>
        <p:nvGraphicFramePr>
          <p:cNvPr id="5" name="Chart 0"/>
          <p:cNvGraphicFramePr/>
          <p:nvPr/>
        </p:nvGraphicFramePr>
        <p:xfrm>
          <a:off x="548640" y="1874520"/>
          <a:ext cx="69494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818120" y="1737360"/>
            <a:ext cx="3822192" cy="1188720"/>
          </a:xfrm>
          <a:prstGeom prst="roundRect">
            <a:avLst>
              <a:gd name="adj" fmla="val 6154"/>
            </a:avLst>
          </a:prstGeom>
          <a:solidFill>
            <a:srgbClr val="F3F5F8"/>
          </a:solidFill>
          <a:ln w="12700">
            <a:solidFill>
              <a:srgbClr val="F3F5F8"/>
            </a:solidFill>
            <a:prstDash val="solid"/>
          </a:ln>
        </p:spPr>
        <p:txBody>
          <a:bodyPr/>
          <a:lstStyle/>
          <a:p>
            <a:endParaRPr lang="en-CA"/>
          </a:p>
        </p:txBody>
      </p:sp>
      <p:sp>
        <p:nvSpPr>
          <p:cNvPr id="7" name="Text 4"/>
          <p:cNvSpPr txBox="1"/>
          <p:nvPr/>
        </p:nvSpPr>
        <p:spPr>
          <a:xfrm>
            <a:off x="8046720" y="1847088"/>
            <a:ext cx="3474720" cy="292608"/>
          </a:xfrm>
          <a:prstGeom prst="rect">
            <a:avLst/>
          </a:prstGeom>
          <a:noFill/>
          <a:ln/>
        </p:spPr>
        <p:txBody>
          <a:bodyPr wrap="square" lIns="0" tIns="0" rIns="0" bIns="0" rtlCol="0" anchor="t"/>
          <a:lstStyle/>
          <a:p>
            <a:pPr marL="0" indent="0">
              <a:buNone/>
            </a:pPr>
            <a:r>
              <a:rPr lang="en-US" sz="1500" b="1" dirty="0">
                <a:solidFill>
                  <a:srgbClr val="5B6675"/>
                </a:solidFill>
                <a:latin typeface="Calibri" pitchFamily="34" charset="0"/>
                <a:ea typeface="Calibri" pitchFamily="34" charset="-122"/>
                <a:cs typeface="Calibri" pitchFamily="34" charset="-120"/>
              </a:rPr>
              <a:t>Outside Christmas</a:t>
            </a:r>
            <a:endParaRPr lang="en-US" sz="1500" dirty="0"/>
          </a:p>
        </p:txBody>
      </p:sp>
      <p:sp>
        <p:nvSpPr>
          <p:cNvPr id="8" name="Text 5"/>
          <p:cNvSpPr txBox="1"/>
          <p:nvPr/>
        </p:nvSpPr>
        <p:spPr>
          <a:xfrm>
            <a:off x="8046720" y="2157984"/>
            <a:ext cx="3429000" cy="731520"/>
          </a:xfrm>
          <a:prstGeom prst="rect">
            <a:avLst/>
          </a:prstGeom>
          <a:noFill/>
          <a:ln/>
        </p:spPr>
        <p:txBody>
          <a:bodyPr wrap="square" lIns="0" tIns="0" rIns="0" bIns="0" rtlCol="0" anchor="t"/>
          <a:lstStyle/>
          <a:p>
            <a:pPr marL="0" indent="0">
              <a:buNone/>
            </a:pPr>
            <a:r>
              <a:rPr lang="en-US" sz="1300" dirty="0">
                <a:solidFill>
                  <a:srgbClr val="1E2B3A"/>
                </a:solidFill>
                <a:latin typeface="Calibri" pitchFamily="34" charset="0"/>
                <a:ea typeface="Calibri" pitchFamily="34" charset="-122"/>
                <a:cs typeface="Calibri" pitchFamily="34" charset="-120"/>
              </a:rPr>
              <a:t>Overall buying is the strongest signal: how many orders, how many products, how much spent.</a:t>
            </a:r>
            <a:endParaRPr lang="en-US" sz="1300" dirty="0"/>
          </a:p>
        </p:txBody>
      </p:sp>
      <p:sp>
        <p:nvSpPr>
          <p:cNvPr id="9" name="Shape 6"/>
          <p:cNvSpPr/>
          <p:nvPr/>
        </p:nvSpPr>
        <p:spPr>
          <a:xfrm>
            <a:off x="7818120" y="3063240"/>
            <a:ext cx="3822192" cy="1188720"/>
          </a:xfrm>
          <a:prstGeom prst="roundRect">
            <a:avLst>
              <a:gd name="adj" fmla="val 6154"/>
            </a:avLst>
          </a:prstGeom>
          <a:solidFill>
            <a:srgbClr val="F3F5F8"/>
          </a:solidFill>
          <a:ln w="12700">
            <a:solidFill>
              <a:srgbClr val="F3F5F8"/>
            </a:solidFill>
            <a:prstDash val="solid"/>
          </a:ln>
        </p:spPr>
        <p:txBody>
          <a:bodyPr/>
          <a:lstStyle/>
          <a:p>
            <a:endParaRPr lang="en-CA"/>
          </a:p>
        </p:txBody>
      </p:sp>
      <p:sp>
        <p:nvSpPr>
          <p:cNvPr id="10" name="Text 7"/>
          <p:cNvSpPr txBox="1"/>
          <p:nvPr/>
        </p:nvSpPr>
        <p:spPr>
          <a:xfrm>
            <a:off x="8046720" y="3172968"/>
            <a:ext cx="3474720" cy="292608"/>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Before Christmas</a:t>
            </a:r>
            <a:endParaRPr lang="en-US" sz="1500" dirty="0"/>
          </a:p>
        </p:txBody>
      </p:sp>
      <p:sp>
        <p:nvSpPr>
          <p:cNvPr id="11" name="Text 8"/>
          <p:cNvSpPr txBox="1"/>
          <p:nvPr/>
        </p:nvSpPr>
        <p:spPr>
          <a:xfrm>
            <a:off x="8046720" y="3483864"/>
            <a:ext cx="3429000" cy="731520"/>
          </a:xfrm>
          <a:prstGeom prst="rect">
            <a:avLst/>
          </a:prstGeom>
          <a:noFill/>
          <a:ln/>
        </p:spPr>
        <p:txBody>
          <a:bodyPr wrap="square" lIns="0" tIns="0" rIns="0" bIns="0" rtlCol="0" anchor="t"/>
          <a:lstStyle/>
          <a:p>
            <a:pPr marL="0" indent="0">
              <a:buNone/>
            </a:pPr>
            <a:r>
              <a:rPr lang="en-US" sz="1300" dirty="0">
                <a:solidFill>
                  <a:srgbClr val="1E2B3A"/>
                </a:solidFill>
                <a:latin typeface="Calibri" pitchFamily="34" charset="0"/>
                <a:ea typeface="Calibri" pitchFamily="34" charset="-122"/>
                <a:cs typeface="Calibri" pitchFamily="34" charset="-120"/>
              </a:rPr>
              <a:t>Recent activity is the strongest signal: when they last ordered and what they bought in recent months.</a:t>
            </a:r>
            <a:endParaRPr lang="en-US" sz="1300" dirty="0"/>
          </a:p>
        </p:txBody>
      </p:sp>
      <p:sp>
        <p:nvSpPr>
          <p:cNvPr id="12" name="Shape 9"/>
          <p:cNvSpPr/>
          <p:nvPr/>
        </p:nvSpPr>
        <p:spPr>
          <a:xfrm>
            <a:off x="7818120" y="4389120"/>
            <a:ext cx="3822192" cy="1143000"/>
          </a:xfrm>
          <a:prstGeom prst="roundRect">
            <a:avLst>
              <a:gd name="adj" fmla="val 6400"/>
            </a:avLst>
          </a:prstGeom>
          <a:solidFill>
            <a:srgbClr val="FFFFFF"/>
          </a:solidFill>
          <a:ln w="12700">
            <a:solidFill>
              <a:srgbClr val="D9DEE5"/>
            </a:solidFill>
            <a:prstDash val="solid"/>
          </a:ln>
        </p:spPr>
        <p:txBody>
          <a:bodyPr/>
          <a:lstStyle/>
          <a:p>
            <a:endParaRPr lang="en-CA"/>
          </a:p>
        </p:txBody>
      </p:sp>
      <p:sp>
        <p:nvSpPr>
          <p:cNvPr id="13" name="Text 10"/>
          <p:cNvSpPr txBox="1"/>
          <p:nvPr/>
        </p:nvSpPr>
        <p:spPr>
          <a:xfrm>
            <a:off x="8046720" y="4526280"/>
            <a:ext cx="3429000" cy="914400"/>
          </a:xfrm>
          <a:prstGeom prst="rect">
            <a:avLst/>
          </a:prstGeom>
          <a:noFill/>
          <a:ln/>
        </p:spPr>
        <p:txBody>
          <a:bodyPr wrap="square" lIns="0" tIns="0" rIns="0" bIns="0" rtlCol="0" anchor="ctr"/>
          <a:lstStyle/>
          <a:p>
            <a:pPr marL="0" indent="0">
              <a:buNone/>
            </a:pPr>
            <a:r>
              <a:rPr lang="en-US" sz="1300" dirty="0">
                <a:solidFill>
                  <a:srgbClr val="5B6675"/>
                </a:solidFill>
                <a:latin typeface="Calibri" pitchFamily="34" charset="0"/>
                <a:ea typeface="Calibri" pitchFamily="34" charset="-122"/>
                <a:cs typeface="Calibri" pitchFamily="34" charset="-120"/>
              </a:rPr>
              <a:t>Order size, order gap, cancellations and country add almost nothing, so they are not a basis for action.</a:t>
            </a:r>
            <a:endParaRPr lang="en-US" sz="1300" dirty="0"/>
          </a:p>
        </p:txBody>
      </p:sp>
      <p:sp>
        <p:nvSpPr>
          <p:cNvPr id="14" name="Shape 11"/>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15" name="Text 12"/>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A customer whose recent orders have dried up is the clearest warning sign, especially from September onwards.</a:t>
            </a:r>
            <a:endParaRPr lang="en-US" sz="1500" dirty="0"/>
          </a:p>
        </p:txBody>
      </p:sp>
      <p:sp>
        <p:nvSpPr>
          <p:cNvPr id="16" name="Text 13"/>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THE SEASONAL SIGNAL</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Last year's Christmas buying is one of the best guides to this Christmas</a:t>
            </a:r>
            <a:endParaRPr lang="en-US" sz="2600" dirty="0"/>
          </a:p>
        </p:txBody>
      </p:sp>
      <p:sp>
        <p:nvSpPr>
          <p:cNvPr id="4" name="Text 2"/>
          <p:cNvSpPr txBox="1"/>
          <p:nvPr/>
        </p:nvSpPr>
        <p:spPr>
          <a:xfrm>
            <a:off x="548640" y="1600200"/>
            <a:ext cx="6675120" cy="27432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Share of customers who placed no order in the next 90 days</a:t>
            </a:r>
            <a:endParaRPr lang="en-US" sz="1300" dirty="0"/>
          </a:p>
        </p:txBody>
      </p:sp>
      <p:graphicFrame>
        <p:nvGraphicFramePr>
          <p:cNvPr id="5" name="Chart 0"/>
          <p:cNvGraphicFramePr/>
          <p:nvPr/>
        </p:nvGraphicFramePr>
        <p:xfrm>
          <a:off x="548640" y="1874520"/>
          <a:ext cx="667512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589520" y="1737360"/>
            <a:ext cx="4050792" cy="1783080"/>
          </a:xfrm>
          <a:prstGeom prst="roundRect">
            <a:avLst>
              <a:gd name="adj" fmla="val 4103"/>
            </a:avLst>
          </a:prstGeom>
          <a:solidFill>
            <a:srgbClr val="F3F5F8"/>
          </a:solidFill>
          <a:ln w="12700">
            <a:solidFill>
              <a:srgbClr val="F3F5F8"/>
            </a:solidFill>
            <a:prstDash val="solid"/>
          </a:ln>
        </p:spPr>
        <p:txBody>
          <a:bodyPr/>
          <a:lstStyle/>
          <a:p>
            <a:endParaRPr lang="en-CA"/>
          </a:p>
        </p:txBody>
      </p:sp>
      <p:sp>
        <p:nvSpPr>
          <p:cNvPr id="7" name="Text 4"/>
          <p:cNvSpPr txBox="1"/>
          <p:nvPr/>
        </p:nvSpPr>
        <p:spPr>
          <a:xfrm>
            <a:off x="7863840" y="1874520"/>
            <a:ext cx="3566160" cy="685800"/>
          </a:xfrm>
          <a:prstGeom prst="rect">
            <a:avLst/>
          </a:prstGeom>
          <a:noFill/>
          <a:ln/>
        </p:spPr>
        <p:txBody>
          <a:bodyPr wrap="square" lIns="0" tIns="0" rIns="0" bIns="0" rtlCol="0" anchor="t"/>
          <a:lstStyle/>
          <a:p>
            <a:pPr marL="0" indent="0">
              <a:buNone/>
            </a:pPr>
            <a:r>
              <a:rPr lang="en-US" sz="4000" b="1" dirty="0">
                <a:solidFill>
                  <a:srgbClr val="1F7A5C"/>
                </a:solidFill>
                <a:latin typeface="Cambria" pitchFamily="34" charset="0"/>
                <a:ea typeface="Cambria" pitchFamily="34" charset="-122"/>
                <a:cs typeface="Cambria" pitchFamily="34" charset="-120"/>
              </a:rPr>
              <a:t>7×</a:t>
            </a:r>
            <a:endParaRPr lang="en-US" sz="4000" dirty="0"/>
          </a:p>
        </p:txBody>
      </p:sp>
      <p:sp>
        <p:nvSpPr>
          <p:cNvPr id="8" name="Text 5"/>
          <p:cNvSpPr txBox="1"/>
          <p:nvPr/>
        </p:nvSpPr>
        <p:spPr>
          <a:xfrm>
            <a:off x="7863840" y="2606040"/>
            <a:ext cx="3566160" cy="822960"/>
          </a:xfrm>
          <a:prstGeom prst="rect">
            <a:avLst/>
          </a:prstGeom>
          <a:noFill/>
          <a:ln/>
        </p:spPr>
        <p:txBody>
          <a:bodyPr wrap="square" lIns="0" tIns="0" rIns="0" bIns="0" rtlCol="0" anchor="t"/>
          <a:lstStyle/>
          <a:p>
            <a:pPr marL="0" indent="0">
              <a:buNone/>
            </a:pPr>
            <a:r>
              <a:rPr lang="en-US" sz="1400" dirty="0">
                <a:solidFill>
                  <a:srgbClr val="1E2B3A"/>
                </a:solidFill>
                <a:latin typeface="Calibri" pitchFamily="34" charset="0"/>
                <a:ea typeface="Calibri" pitchFamily="34" charset="-122"/>
                <a:cs typeface="Calibri" pitchFamily="34" charset="-120"/>
              </a:rPr>
              <a:t>more important in the holiday model than in the non-holiday model (3.5 points against 0.5)</a:t>
            </a:r>
            <a:endParaRPr lang="en-US" sz="1400" dirty="0"/>
          </a:p>
        </p:txBody>
      </p:sp>
      <p:sp>
        <p:nvSpPr>
          <p:cNvPr id="9" name="Shape 6"/>
          <p:cNvSpPr/>
          <p:nvPr/>
        </p:nvSpPr>
        <p:spPr>
          <a:xfrm>
            <a:off x="7589520" y="3703320"/>
            <a:ext cx="4050792" cy="1783080"/>
          </a:xfrm>
          <a:prstGeom prst="roundRect">
            <a:avLst>
              <a:gd name="adj" fmla="val 4103"/>
            </a:avLst>
          </a:prstGeom>
          <a:solidFill>
            <a:srgbClr val="F3F5F8"/>
          </a:solidFill>
          <a:ln w="12700">
            <a:solidFill>
              <a:srgbClr val="F3F5F8"/>
            </a:solidFill>
            <a:prstDash val="solid"/>
          </a:ln>
        </p:spPr>
        <p:txBody>
          <a:bodyPr/>
          <a:lstStyle/>
          <a:p>
            <a:endParaRPr lang="en-CA"/>
          </a:p>
        </p:txBody>
      </p:sp>
      <p:sp>
        <p:nvSpPr>
          <p:cNvPr id="10" name="Text 7"/>
          <p:cNvSpPr txBox="1"/>
          <p:nvPr/>
        </p:nvSpPr>
        <p:spPr>
          <a:xfrm>
            <a:off x="7863840" y="3840480"/>
            <a:ext cx="3566160" cy="320040"/>
          </a:xfrm>
          <a:prstGeom prst="rect">
            <a:avLst/>
          </a:prstGeom>
          <a:noFill/>
          <a:ln/>
        </p:spPr>
        <p:txBody>
          <a:bodyPr wrap="square" lIns="0" tIns="0" rIns="0" bIns="0" rtlCol="0" anchor="t"/>
          <a:lstStyle/>
          <a:p>
            <a:pPr marL="0" indent="0">
              <a:buNone/>
            </a:pPr>
            <a:r>
              <a:rPr lang="en-US" sz="1600" b="1" dirty="0">
                <a:solidFill>
                  <a:srgbClr val="1E2B3A"/>
                </a:solidFill>
                <a:latin typeface="Calibri" pitchFamily="34" charset="0"/>
                <a:ea typeface="Calibri" pitchFamily="34" charset="-122"/>
                <a:cs typeface="Calibri" pitchFamily="34" charset="-120"/>
              </a:rPr>
              <a:t>Who to look for</a:t>
            </a:r>
            <a:endParaRPr lang="en-US" sz="1600" dirty="0"/>
          </a:p>
        </p:txBody>
      </p:sp>
      <p:sp>
        <p:nvSpPr>
          <p:cNvPr id="11" name="Text 8"/>
          <p:cNvSpPr txBox="1"/>
          <p:nvPr/>
        </p:nvSpPr>
        <p:spPr>
          <a:xfrm>
            <a:off x="7863840" y="4206240"/>
            <a:ext cx="3566160" cy="1188720"/>
          </a:xfrm>
          <a:prstGeom prst="rect">
            <a:avLst/>
          </a:prstGeom>
          <a:noFill/>
          <a:ln/>
        </p:spPr>
        <p:txBody>
          <a:bodyPr wrap="square" lIns="0" tIns="0" rIns="0" bIns="0" rtlCol="0" anchor="t"/>
          <a:lstStyle/>
          <a:p>
            <a:pPr marL="0" indent="0">
              <a:buNone/>
            </a:pPr>
            <a:r>
              <a:rPr lang="en-US" sz="1350" dirty="0">
                <a:solidFill>
                  <a:srgbClr val="5B6675"/>
                </a:solidFill>
                <a:latin typeface="Calibri" pitchFamily="34" charset="0"/>
                <a:ea typeface="Calibri" pitchFamily="34" charset="-122"/>
                <a:cs typeface="Calibri" pitchFamily="34" charset="-120"/>
              </a:rPr>
              <a:t>Customers who ordered last September to December but have not ordered yet this autumn. Before Christmas, 55 in 100 of last year's buyers came back, against 29 in 100 of the rest.</a:t>
            </a:r>
            <a:endParaRPr lang="en-US" sz="1350" dirty="0"/>
          </a:p>
        </p:txBody>
      </p:sp>
      <p:sp>
        <p:nvSpPr>
          <p:cNvPr id="12" name="Shape 9"/>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13" name="Text 10"/>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In early September, pull last year's Christmas buyers who have not ordered yet, and remind them before the rush.</a:t>
            </a:r>
            <a:endParaRPr lang="en-US" sz="1500" dirty="0"/>
          </a:p>
        </p:txBody>
      </p:sp>
      <p:sp>
        <p:nvSpPr>
          <p:cNvPr id="14" name="Text 11"/>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HOW WELL IT WORKS</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The model ranks customers better than the RFM score in both seasons, by a modest but steady margin</a:t>
            </a:r>
            <a:endParaRPr lang="en-US" sz="2600" dirty="0"/>
          </a:p>
        </p:txBody>
      </p:sp>
      <p:sp>
        <p:nvSpPr>
          <p:cNvPr id="4" name="Text 2"/>
          <p:cNvSpPr txBox="1"/>
          <p:nvPr/>
        </p:nvSpPr>
        <p:spPr>
          <a:xfrm>
            <a:off x="548640" y="1600200"/>
            <a:ext cx="11064240" cy="320040"/>
          </a:xfrm>
          <a:prstGeom prst="rect">
            <a:avLst/>
          </a:prstGeom>
          <a:noFill/>
          <a:ln/>
        </p:spPr>
        <p:txBody>
          <a:bodyPr wrap="square" lIns="0" tIns="0" rIns="0" bIns="0" rtlCol="0" anchor="t"/>
          <a:lstStyle/>
          <a:p>
            <a:pPr marL="0" indent="0">
              <a:buNone/>
            </a:pPr>
            <a:r>
              <a:rPr lang="en-US" sz="1500" dirty="0">
                <a:solidFill>
                  <a:srgbClr val="5B6675"/>
                </a:solidFill>
                <a:latin typeface="Calibri" pitchFamily="34" charset="0"/>
                <a:ea typeface="Calibri" pitchFamily="34" charset="-122"/>
                <a:cs typeface="Calibri" pitchFamily="34" charset="-120"/>
              </a:rPr>
              <a:t>Pick one customer who left and one who stayed. How often does each method rank the one who left as riskier?</a:t>
            </a:r>
            <a:endParaRPr lang="en-US" sz="1500" dirty="0"/>
          </a:p>
        </p:txBody>
      </p:sp>
      <p:sp>
        <p:nvSpPr>
          <p:cNvPr id="5" name="Shape 3"/>
          <p:cNvSpPr/>
          <p:nvPr/>
        </p:nvSpPr>
        <p:spPr>
          <a:xfrm>
            <a:off x="548640" y="2103120"/>
            <a:ext cx="3483864" cy="3291840"/>
          </a:xfrm>
          <a:prstGeom prst="roundRect">
            <a:avLst>
              <a:gd name="adj" fmla="val 2222"/>
            </a:avLst>
          </a:prstGeom>
          <a:solidFill>
            <a:srgbClr val="F3F5F8"/>
          </a:solidFill>
          <a:ln w="12700">
            <a:solidFill>
              <a:srgbClr val="F3F5F8"/>
            </a:solidFill>
            <a:prstDash val="solid"/>
          </a:ln>
        </p:spPr>
        <p:txBody>
          <a:bodyPr/>
          <a:lstStyle/>
          <a:p>
            <a:endParaRPr lang="en-CA"/>
          </a:p>
        </p:txBody>
      </p:sp>
      <p:sp>
        <p:nvSpPr>
          <p:cNvPr id="6" name="Text 4"/>
          <p:cNvSpPr txBox="1"/>
          <p:nvPr/>
        </p:nvSpPr>
        <p:spPr>
          <a:xfrm>
            <a:off x="868680" y="2286000"/>
            <a:ext cx="2834640" cy="320040"/>
          </a:xfrm>
          <a:prstGeom prst="rect">
            <a:avLst/>
          </a:prstGeom>
          <a:noFill/>
          <a:ln/>
        </p:spPr>
        <p:txBody>
          <a:bodyPr wrap="square" lIns="0" tIns="0" rIns="0" bIns="0" rtlCol="0" anchor="t"/>
          <a:lstStyle/>
          <a:p>
            <a:pPr marL="0" indent="0">
              <a:buNone/>
            </a:pPr>
            <a:r>
              <a:rPr lang="en-US" sz="1600" b="1" dirty="0">
                <a:solidFill>
                  <a:srgbClr val="1E2B3A"/>
                </a:solidFill>
                <a:latin typeface="Calibri" pitchFamily="34" charset="0"/>
                <a:ea typeface="Calibri" pitchFamily="34" charset="-122"/>
                <a:cs typeface="Calibri" pitchFamily="34" charset="-120"/>
              </a:rPr>
              <a:t>Non-holiday season</a:t>
            </a:r>
            <a:endParaRPr lang="en-US" sz="1600" dirty="0"/>
          </a:p>
        </p:txBody>
      </p:sp>
      <p:sp>
        <p:nvSpPr>
          <p:cNvPr id="7" name="Text 5"/>
          <p:cNvSpPr txBox="1"/>
          <p:nvPr/>
        </p:nvSpPr>
        <p:spPr>
          <a:xfrm>
            <a:off x="868680" y="2743200"/>
            <a:ext cx="2834640" cy="502920"/>
          </a:xfrm>
          <a:prstGeom prst="rect">
            <a:avLst/>
          </a:prstGeom>
          <a:noFill/>
          <a:ln/>
        </p:spPr>
        <p:txBody>
          <a:bodyPr wrap="square" lIns="0" tIns="0" rIns="0" bIns="0" rtlCol="0" anchor="b"/>
          <a:lstStyle/>
          <a:p>
            <a:pPr marL="0" indent="0">
              <a:buNone/>
            </a:pPr>
            <a:r>
              <a:rPr lang="en-US" sz="3000" b="1" dirty="0">
                <a:solidFill>
                  <a:srgbClr val="1E2B3A"/>
                </a:solidFill>
                <a:latin typeface="Cambria" pitchFamily="34" charset="0"/>
                <a:ea typeface="Cambria" pitchFamily="34" charset="-122"/>
                <a:cs typeface="Cambria" pitchFamily="34" charset="-120"/>
              </a:rPr>
              <a:t>85</a:t>
            </a:r>
            <a:r>
              <a:rPr lang="en-US" sz="1500" dirty="0">
                <a:solidFill>
                  <a:srgbClr val="5B6675"/>
                </a:solidFill>
                <a:latin typeface="Calibri" pitchFamily="34" charset="0"/>
                <a:ea typeface="Calibri" pitchFamily="34" charset="-122"/>
                <a:cs typeface="Calibri" pitchFamily="34" charset="-120"/>
              </a:rPr>
              <a:t> in 100</a:t>
            </a:r>
            <a:endParaRPr lang="en-US" sz="3000" dirty="0"/>
          </a:p>
        </p:txBody>
      </p:sp>
      <p:sp>
        <p:nvSpPr>
          <p:cNvPr id="8" name="Text 6"/>
          <p:cNvSpPr txBox="1"/>
          <p:nvPr/>
        </p:nvSpPr>
        <p:spPr>
          <a:xfrm>
            <a:off x="868680" y="3273552"/>
            <a:ext cx="1371600" cy="27432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Churn model</a:t>
            </a:r>
            <a:endParaRPr lang="en-US" sz="1200" dirty="0"/>
          </a:p>
        </p:txBody>
      </p:sp>
      <p:sp>
        <p:nvSpPr>
          <p:cNvPr id="9" name="Shape 7"/>
          <p:cNvSpPr/>
          <p:nvPr/>
        </p:nvSpPr>
        <p:spPr>
          <a:xfrm>
            <a:off x="1965960" y="3346704"/>
            <a:ext cx="1737360" cy="128016"/>
          </a:xfrm>
          <a:prstGeom prst="rect">
            <a:avLst/>
          </a:prstGeom>
          <a:solidFill>
            <a:srgbClr val="E1E5EA"/>
          </a:solidFill>
          <a:ln w="12700">
            <a:solidFill>
              <a:srgbClr val="E1E5EA"/>
            </a:solidFill>
            <a:prstDash val="solid"/>
          </a:ln>
        </p:spPr>
        <p:txBody>
          <a:bodyPr/>
          <a:lstStyle/>
          <a:p>
            <a:endParaRPr lang="en-CA"/>
          </a:p>
        </p:txBody>
      </p:sp>
      <p:sp>
        <p:nvSpPr>
          <p:cNvPr id="10" name="Shape 8"/>
          <p:cNvSpPr/>
          <p:nvPr/>
        </p:nvSpPr>
        <p:spPr>
          <a:xfrm>
            <a:off x="1965960" y="3346704"/>
            <a:ext cx="1476756" cy="128016"/>
          </a:xfrm>
          <a:prstGeom prst="rect">
            <a:avLst/>
          </a:prstGeom>
          <a:solidFill>
            <a:srgbClr val="1E2B3A"/>
          </a:solidFill>
          <a:ln w="12700">
            <a:solidFill>
              <a:srgbClr val="1E2B3A"/>
            </a:solidFill>
            <a:prstDash val="solid"/>
          </a:ln>
        </p:spPr>
        <p:txBody>
          <a:bodyPr/>
          <a:lstStyle/>
          <a:p>
            <a:endParaRPr lang="en-CA"/>
          </a:p>
        </p:txBody>
      </p:sp>
      <p:sp>
        <p:nvSpPr>
          <p:cNvPr id="11" name="Text 9"/>
          <p:cNvSpPr txBox="1"/>
          <p:nvPr/>
        </p:nvSpPr>
        <p:spPr>
          <a:xfrm>
            <a:off x="868680" y="3749040"/>
            <a:ext cx="2834640" cy="502920"/>
          </a:xfrm>
          <a:prstGeom prst="rect">
            <a:avLst/>
          </a:prstGeom>
          <a:noFill/>
          <a:ln/>
        </p:spPr>
        <p:txBody>
          <a:bodyPr wrap="square" lIns="0" tIns="0" rIns="0" bIns="0" rtlCol="0" anchor="b"/>
          <a:lstStyle/>
          <a:p>
            <a:pPr marL="0" indent="0">
              <a:buNone/>
            </a:pPr>
            <a:r>
              <a:rPr lang="en-US" sz="3000" b="1" dirty="0">
                <a:solidFill>
                  <a:srgbClr val="8A94A3"/>
                </a:solidFill>
                <a:latin typeface="Cambria" pitchFamily="34" charset="0"/>
                <a:ea typeface="Cambria" pitchFamily="34" charset="-122"/>
                <a:cs typeface="Cambria" pitchFamily="34" charset="-120"/>
              </a:rPr>
              <a:t>81</a:t>
            </a:r>
            <a:r>
              <a:rPr lang="en-US" sz="1500" dirty="0">
                <a:solidFill>
                  <a:srgbClr val="5B6675"/>
                </a:solidFill>
                <a:latin typeface="Calibri" pitchFamily="34" charset="0"/>
                <a:ea typeface="Calibri" pitchFamily="34" charset="-122"/>
                <a:cs typeface="Calibri" pitchFamily="34" charset="-120"/>
              </a:rPr>
              <a:t> in 100</a:t>
            </a:r>
            <a:endParaRPr lang="en-US" sz="3000" dirty="0"/>
          </a:p>
        </p:txBody>
      </p:sp>
      <p:sp>
        <p:nvSpPr>
          <p:cNvPr id="12" name="Text 10"/>
          <p:cNvSpPr txBox="1"/>
          <p:nvPr/>
        </p:nvSpPr>
        <p:spPr>
          <a:xfrm>
            <a:off x="868680" y="4279392"/>
            <a:ext cx="1371600" cy="27432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RFM score</a:t>
            </a:r>
            <a:endParaRPr lang="en-US" sz="1200" dirty="0"/>
          </a:p>
        </p:txBody>
      </p:sp>
      <p:sp>
        <p:nvSpPr>
          <p:cNvPr id="13" name="Shape 11"/>
          <p:cNvSpPr/>
          <p:nvPr/>
        </p:nvSpPr>
        <p:spPr>
          <a:xfrm>
            <a:off x="1965960" y="4352544"/>
            <a:ext cx="1737360" cy="128016"/>
          </a:xfrm>
          <a:prstGeom prst="rect">
            <a:avLst/>
          </a:prstGeom>
          <a:solidFill>
            <a:srgbClr val="E1E5EA"/>
          </a:solidFill>
          <a:ln w="12700">
            <a:solidFill>
              <a:srgbClr val="E1E5EA"/>
            </a:solidFill>
            <a:prstDash val="solid"/>
          </a:ln>
        </p:spPr>
        <p:txBody>
          <a:bodyPr/>
          <a:lstStyle/>
          <a:p>
            <a:endParaRPr lang="en-CA"/>
          </a:p>
        </p:txBody>
      </p:sp>
      <p:sp>
        <p:nvSpPr>
          <p:cNvPr id="14" name="Shape 12"/>
          <p:cNvSpPr/>
          <p:nvPr/>
        </p:nvSpPr>
        <p:spPr>
          <a:xfrm>
            <a:off x="1965960" y="4352544"/>
            <a:ext cx="1407262" cy="128016"/>
          </a:xfrm>
          <a:prstGeom prst="rect">
            <a:avLst/>
          </a:prstGeom>
          <a:solidFill>
            <a:srgbClr val="8A94A3"/>
          </a:solidFill>
          <a:ln w="12700">
            <a:solidFill>
              <a:srgbClr val="8A94A3"/>
            </a:solidFill>
            <a:prstDash val="solid"/>
          </a:ln>
        </p:spPr>
        <p:txBody>
          <a:bodyPr/>
          <a:lstStyle/>
          <a:p>
            <a:endParaRPr lang="en-CA"/>
          </a:p>
        </p:txBody>
      </p:sp>
      <p:sp>
        <p:nvSpPr>
          <p:cNvPr id="15" name="Text 13"/>
          <p:cNvSpPr txBox="1"/>
          <p:nvPr/>
        </p:nvSpPr>
        <p:spPr>
          <a:xfrm>
            <a:off x="868680" y="4846320"/>
            <a:ext cx="2834640" cy="27432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AUC 0.851 against 0.806</a:t>
            </a:r>
            <a:endParaRPr lang="en-US" sz="1200" dirty="0"/>
          </a:p>
        </p:txBody>
      </p:sp>
      <p:sp>
        <p:nvSpPr>
          <p:cNvPr id="16" name="Shape 14"/>
          <p:cNvSpPr/>
          <p:nvPr/>
        </p:nvSpPr>
        <p:spPr>
          <a:xfrm>
            <a:off x="4352544" y="2103120"/>
            <a:ext cx="3483864" cy="3291840"/>
          </a:xfrm>
          <a:prstGeom prst="roundRect">
            <a:avLst>
              <a:gd name="adj" fmla="val 2222"/>
            </a:avLst>
          </a:prstGeom>
          <a:solidFill>
            <a:srgbClr val="F3F5F8"/>
          </a:solidFill>
          <a:ln w="12700">
            <a:solidFill>
              <a:srgbClr val="F3F5F8"/>
            </a:solidFill>
            <a:prstDash val="solid"/>
          </a:ln>
        </p:spPr>
        <p:txBody>
          <a:bodyPr/>
          <a:lstStyle/>
          <a:p>
            <a:endParaRPr lang="en-CA"/>
          </a:p>
        </p:txBody>
      </p:sp>
      <p:sp>
        <p:nvSpPr>
          <p:cNvPr id="17" name="Text 15"/>
          <p:cNvSpPr txBox="1"/>
          <p:nvPr/>
        </p:nvSpPr>
        <p:spPr>
          <a:xfrm>
            <a:off x="4672584" y="2286000"/>
            <a:ext cx="2834640" cy="320040"/>
          </a:xfrm>
          <a:prstGeom prst="rect">
            <a:avLst/>
          </a:prstGeom>
          <a:noFill/>
          <a:ln/>
        </p:spPr>
        <p:txBody>
          <a:bodyPr wrap="square" lIns="0" tIns="0" rIns="0" bIns="0" rtlCol="0" anchor="t"/>
          <a:lstStyle/>
          <a:p>
            <a:pPr marL="0" indent="0">
              <a:buNone/>
            </a:pPr>
            <a:r>
              <a:rPr lang="en-US" sz="1600" b="1" dirty="0">
                <a:solidFill>
                  <a:srgbClr val="1E2B3A"/>
                </a:solidFill>
                <a:latin typeface="Calibri" pitchFamily="34" charset="0"/>
                <a:ea typeface="Calibri" pitchFamily="34" charset="-122"/>
                <a:cs typeface="Calibri" pitchFamily="34" charset="-120"/>
              </a:rPr>
              <a:t>Holiday season</a:t>
            </a:r>
            <a:endParaRPr lang="en-US" sz="1600" dirty="0"/>
          </a:p>
        </p:txBody>
      </p:sp>
      <p:sp>
        <p:nvSpPr>
          <p:cNvPr id="18" name="Text 16"/>
          <p:cNvSpPr txBox="1"/>
          <p:nvPr/>
        </p:nvSpPr>
        <p:spPr>
          <a:xfrm>
            <a:off x="4672584" y="2743200"/>
            <a:ext cx="2834640" cy="502920"/>
          </a:xfrm>
          <a:prstGeom prst="rect">
            <a:avLst/>
          </a:prstGeom>
          <a:noFill/>
          <a:ln/>
        </p:spPr>
        <p:txBody>
          <a:bodyPr wrap="square" lIns="0" tIns="0" rIns="0" bIns="0" rtlCol="0" anchor="b"/>
          <a:lstStyle/>
          <a:p>
            <a:pPr marL="0" indent="0">
              <a:buNone/>
            </a:pPr>
            <a:r>
              <a:rPr lang="en-US" sz="3000" b="1" dirty="0">
                <a:solidFill>
                  <a:srgbClr val="1E2B3A"/>
                </a:solidFill>
                <a:latin typeface="Cambria" pitchFamily="34" charset="0"/>
                <a:ea typeface="Cambria" pitchFamily="34" charset="-122"/>
                <a:cs typeface="Cambria" pitchFamily="34" charset="-120"/>
              </a:rPr>
              <a:t>81</a:t>
            </a:r>
            <a:r>
              <a:rPr lang="en-US" sz="1500" dirty="0">
                <a:solidFill>
                  <a:srgbClr val="5B6675"/>
                </a:solidFill>
                <a:latin typeface="Calibri" pitchFamily="34" charset="0"/>
                <a:ea typeface="Calibri" pitchFamily="34" charset="-122"/>
                <a:cs typeface="Calibri" pitchFamily="34" charset="-120"/>
              </a:rPr>
              <a:t> in 100</a:t>
            </a:r>
            <a:endParaRPr lang="en-US" sz="3000" dirty="0"/>
          </a:p>
        </p:txBody>
      </p:sp>
      <p:sp>
        <p:nvSpPr>
          <p:cNvPr id="19" name="Text 17"/>
          <p:cNvSpPr txBox="1"/>
          <p:nvPr/>
        </p:nvSpPr>
        <p:spPr>
          <a:xfrm>
            <a:off x="4672584" y="3273552"/>
            <a:ext cx="1371600" cy="27432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Churn model</a:t>
            </a:r>
            <a:endParaRPr lang="en-US" sz="1200" dirty="0"/>
          </a:p>
        </p:txBody>
      </p:sp>
      <p:sp>
        <p:nvSpPr>
          <p:cNvPr id="20" name="Shape 18"/>
          <p:cNvSpPr/>
          <p:nvPr/>
        </p:nvSpPr>
        <p:spPr>
          <a:xfrm>
            <a:off x="5769864" y="3346704"/>
            <a:ext cx="1737360" cy="128016"/>
          </a:xfrm>
          <a:prstGeom prst="rect">
            <a:avLst/>
          </a:prstGeom>
          <a:solidFill>
            <a:srgbClr val="E1E5EA"/>
          </a:solidFill>
          <a:ln w="12700">
            <a:solidFill>
              <a:srgbClr val="E1E5EA"/>
            </a:solidFill>
            <a:prstDash val="solid"/>
          </a:ln>
        </p:spPr>
        <p:txBody>
          <a:bodyPr/>
          <a:lstStyle/>
          <a:p>
            <a:endParaRPr lang="en-CA"/>
          </a:p>
        </p:txBody>
      </p:sp>
      <p:sp>
        <p:nvSpPr>
          <p:cNvPr id="21" name="Shape 19"/>
          <p:cNvSpPr/>
          <p:nvPr/>
        </p:nvSpPr>
        <p:spPr>
          <a:xfrm>
            <a:off x="5769864" y="3346704"/>
            <a:ext cx="1407262" cy="128016"/>
          </a:xfrm>
          <a:prstGeom prst="rect">
            <a:avLst/>
          </a:prstGeom>
          <a:solidFill>
            <a:srgbClr val="1E2B3A"/>
          </a:solidFill>
          <a:ln w="12700">
            <a:solidFill>
              <a:srgbClr val="1E2B3A"/>
            </a:solidFill>
            <a:prstDash val="solid"/>
          </a:ln>
        </p:spPr>
        <p:txBody>
          <a:bodyPr/>
          <a:lstStyle/>
          <a:p>
            <a:endParaRPr lang="en-CA"/>
          </a:p>
        </p:txBody>
      </p:sp>
      <p:sp>
        <p:nvSpPr>
          <p:cNvPr id="22" name="Text 20"/>
          <p:cNvSpPr txBox="1"/>
          <p:nvPr/>
        </p:nvSpPr>
        <p:spPr>
          <a:xfrm>
            <a:off x="4672584" y="3749040"/>
            <a:ext cx="2834640" cy="502920"/>
          </a:xfrm>
          <a:prstGeom prst="rect">
            <a:avLst/>
          </a:prstGeom>
          <a:noFill/>
          <a:ln/>
        </p:spPr>
        <p:txBody>
          <a:bodyPr wrap="square" lIns="0" tIns="0" rIns="0" bIns="0" rtlCol="0" anchor="b"/>
          <a:lstStyle/>
          <a:p>
            <a:pPr marL="0" indent="0">
              <a:buNone/>
            </a:pPr>
            <a:r>
              <a:rPr lang="en-US" sz="3000" b="1" dirty="0">
                <a:solidFill>
                  <a:srgbClr val="8A94A3"/>
                </a:solidFill>
                <a:latin typeface="Cambria" pitchFamily="34" charset="0"/>
                <a:ea typeface="Cambria" pitchFamily="34" charset="-122"/>
                <a:cs typeface="Cambria" pitchFamily="34" charset="-120"/>
              </a:rPr>
              <a:t>78</a:t>
            </a:r>
            <a:r>
              <a:rPr lang="en-US" sz="1500" dirty="0">
                <a:solidFill>
                  <a:srgbClr val="5B6675"/>
                </a:solidFill>
                <a:latin typeface="Calibri" pitchFamily="34" charset="0"/>
                <a:ea typeface="Calibri" pitchFamily="34" charset="-122"/>
                <a:cs typeface="Calibri" pitchFamily="34" charset="-120"/>
              </a:rPr>
              <a:t> in 100</a:t>
            </a:r>
            <a:endParaRPr lang="en-US" sz="3000" dirty="0"/>
          </a:p>
        </p:txBody>
      </p:sp>
      <p:sp>
        <p:nvSpPr>
          <p:cNvPr id="23" name="Text 21"/>
          <p:cNvSpPr txBox="1"/>
          <p:nvPr/>
        </p:nvSpPr>
        <p:spPr>
          <a:xfrm>
            <a:off x="4672584" y="4279392"/>
            <a:ext cx="1371600" cy="27432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RFM score</a:t>
            </a:r>
            <a:endParaRPr lang="en-US" sz="1200" dirty="0"/>
          </a:p>
        </p:txBody>
      </p:sp>
      <p:sp>
        <p:nvSpPr>
          <p:cNvPr id="24" name="Shape 22"/>
          <p:cNvSpPr/>
          <p:nvPr/>
        </p:nvSpPr>
        <p:spPr>
          <a:xfrm>
            <a:off x="5769864" y="4352544"/>
            <a:ext cx="1737360" cy="128016"/>
          </a:xfrm>
          <a:prstGeom prst="rect">
            <a:avLst/>
          </a:prstGeom>
          <a:solidFill>
            <a:srgbClr val="E1E5EA"/>
          </a:solidFill>
          <a:ln w="12700">
            <a:solidFill>
              <a:srgbClr val="E1E5EA"/>
            </a:solidFill>
            <a:prstDash val="solid"/>
          </a:ln>
        </p:spPr>
        <p:txBody>
          <a:bodyPr/>
          <a:lstStyle/>
          <a:p>
            <a:endParaRPr lang="en-CA"/>
          </a:p>
        </p:txBody>
      </p:sp>
      <p:sp>
        <p:nvSpPr>
          <p:cNvPr id="25" name="Shape 23"/>
          <p:cNvSpPr/>
          <p:nvPr/>
        </p:nvSpPr>
        <p:spPr>
          <a:xfrm>
            <a:off x="5769864" y="4352544"/>
            <a:ext cx="1355141" cy="128016"/>
          </a:xfrm>
          <a:prstGeom prst="rect">
            <a:avLst/>
          </a:prstGeom>
          <a:solidFill>
            <a:srgbClr val="8A94A3"/>
          </a:solidFill>
          <a:ln w="12700">
            <a:solidFill>
              <a:srgbClr val="8A94A3"/>
            </a:solidFill>
            <a:prstDash val="solid"/>
          </a:ln>
        </p:spPr>
        <p:txBody>
          <a:bodyPr/>
          <a:lstStyle/>
          <a:p>
            <a:endParaRPr lang="en-CA"/>
          </a:p>
        </p:txBody>
      </p:sp>
      <p:sp>
        <p:nvSpPr>
          <p:cNvPr id="26" name="Text 24"/>
          <p:cNvSpPr txBox="1"/>
          <p:nvPr/>
        </p:nvSpPr>
        <p:spPr>
          <a:xfrm>
            <a:off x="4672584" y="4846320"/>
            <a:ext cx="2834640" cy="27432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AUC 0.809 against 0.778</a:t>
            </a:r>
            <a:endParaRPr lang="en-US" sz="1200" dirty="0"/>
          </a:p>
        </p:txBody>
      </p:sp>
      <p:sp>
        <p:nvSpPr>
          <p:cNvPr id="27" name="Shape 25"/>
          <p:cNvSpPr/>
          <p:nvPr/>
        </p:nvSpPr>
        <p:spPr>
          <a:xfrm>
            <a:off x="8156448" y="2103120"/>
            <a:ext cx="3483864" cy="3291840"/>
          </a:xfrm>
          <a:prstGeom prst="roundRect">
            <a:avLst>
              <a:gd name="adj" fmla="val 2222"/>
            </a:avLst>
          </a:prstGeom>
          <a:solidFill>
            <a:srgbClr val="F3F5F8"/>
          </a:solidFill>
          <a:ln w="12700">
            <a:solidFill>
              <a:srgbClr val="F3F5F8"/>
            </a:solidFill>
            <a:prstDash val="solid"/>
          </a:ln>
        </p:spPr>
        <p:txBody>
          <a:bodyPr/>
          <a:lstStyle/>
          <a:p>
            <a:endParaRPr lang="en-CA"/>
          </a:p>
        </p:txBody>
      </p:sp>
      <p:sp>
        <p:nvSpPr>
          <p:cNvPr id="28" name="Text 26"/>
          <p:cNvSpPr txBox="1"/>
          <p:nvPr/>
        </p:nvSpPr>
        <p:spPr>
          <a:xfrm>
            <a:off x="8476488" y="2331720"/>
            <a:ext cx="2926080" cy="640080"/>
          </a:xfrm>
          <a:prstGeom prst="rect">
            <a:avLst/>
          </a:prstGeom>
          <a:noFill/>
          <a:ln/>
        </p:spPr>
        <p:txBody>
          <a:bodyPr wrap="square" lIns="0" tIns="0" rIns="0" bIns="0" rtlCol="0" anchor="t"/>
          <a:lstStyle/>
          <a:p>
            <a:pPr marL="0" indent="0">
              <a:buNone/>
            </a:pPr>
            <a:r>
              <a:rPr lang="en-US" sz="3000" b="1" dirty="0">
                <a:solidFill>
                  <a:srgbClr val="1F7A5C"/>
                </a:solidFill>
                <a:latin typeface="Cambria" pitchFamily="34" charset="0"/>
                <a:ea typeface="Cambria" pitchFamily="34" charset="-122"/>
                <a:cs typeface="Cambria" pitchFamily="34" charset="-120"/>
              </a:rPr>
              <a:t>1,000 of 1,000</a:t>
            </a:r>
            <a:endParaRPr lang="en-US" sz="3000" dirty="0"/>
          </a:p>
        </p:txBody>
      </p:sp>
      <p:sp>
        <p:nvSpPr>
          <p:cNvPr id="29" name="Text 27"/>
          <p:cNvSpPr txBox="1"/>
          <p:nvPr/>
        </p:nvSpPr>
        <p:spPr>
          <a:xfrm>
            <a:off x="8476488" y="3017520"/>
            <a:ext cx="2880360" cy="73152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random re-checks in which the model stayed ahead of the RFM score</a:t>
            </a:r>
            <a:endParaRPr lang="en-US" sz="1500" dirty="0"/>
          </a:p>
        </p:txBody>
      </p:sp>
      <p:sp>
        <p:nvSpPr>
          <p:cNvPr id="30" name="Text 28"/>
          <p:cNvSpPr txBox="1"/>
          <p:nvPr/>
        </p:nvSpPr>
        <p:spPr>
          <a:xfrm>
            <a:off x="8476488" y="4069080"/>
            <a:ext cx="2880360" cy="100584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Tested on 2,040 customers the model had never seen. A coin flip would score 50 in 100.</a:t>
            </a:r>
            <a:endParaRPr lang="en-US" sz="1300" dirty="0"/>
          </a:p>
        </p:txBody>
      </p:sp>
      <p:sp>
        <p:nvSpPr>
          <p:cNvPr id="31" name="Shape 29"/>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32" name="Text 30"/>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A modest, steady improvement, not a dramatic one. The model sharpens the RFM score; it does not replace what the team already uses.</a:t>
            </a:r>
            <a:endParaRPr lang="en-US" sz="1500" dirty="0"/>
          </a:p>
        </p:txBody>
      </p:sp>
      <p:sp>
        <p:nvSpPr>
          <p:cNvPr id="33" name="Text 31"/>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READING THE RISK SCORE</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A risk score is a likelihood, not a verdict</a:t>
            </a:r>
            <a:endParaRPr lang="en-US" sz="2600" dirty="0"/>
          </a:p>
        </p:txBody>
      </p:sp>
      <p:sp>
        <p:nvSpPr>
          <p:cNvPr id="4" name="Text 2"/>
          <p:cNvSpPr txBox="1"/>
          <p:nvPr/>
        </p:nvSpPr>
        <p:spPr>
          <a:xfrm>
            <a:off x="548640" y="1600200"/>
            <a:ext cx="6675120" cy="27432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Holiday test customers, split into 10 equal groups from lowest to highest risk</a:t>
            </a:r>
            <a:endParaRPr lang="en-US" sz="1300" dirty="0"/>
          </a:p>
        </p:txBody>
      </p:sp>
      <p:graphicFrame>
        <p:nvGraphicFramePr>
          <p:cNvPr id="5" name="Chart 0"/>
          <p:cNvGraphicFramePr/>
          <p:nvPr/>
        </p:nvGraphicFramePr>
        <p:xfrm>
          <a:off x="548640" y="1874520"/>
          <a:ext cx="66751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589520" y="1737360"/>
            <a:ext cx="4050792" cy="1143000"/>
          </a:xfrm>
          <a:prstGeom prst="roundRect">
            <a:avLst>
              <a:gd name="adj" fmla="val 6400"/>
            </a:avLst>
          </a:prstGeom>
          <a:solidFill>
            <a:srgbClr val="F3F5F8"/>
          </a:solidFill>
          <a:ln w="12700">
            <a:solidFill>
              <a:srgbClr val="F3F5F8"/>
            </a:solidFill>
            <a:prstDash val="solid"/>
          </a:ln>
        </p:spPr>
        <p:txBody>
          <a:bodyPr/>
          <a:lstStyle/>
          <a:p>
            <a:endParaRPr lang="en-CA"/>
          </a:p>
        </p:txBody>
      </p:sp>
      <p:sp>
        <p:nvSpPr>
          <p:cNvPr id="7" name="Text 4"/>
          <p:cNvSpPr txBox="1"/>
          <p:nvPr/>
        </p:nvSpPr>
        <p:spPr>
          <a:xfrm>
            <a:off x="7818120" y="1874520"/>
            <a:ext cx="3657600" cy="292608"/>
          </a:xfrm>
          <a:prstGeom prst="rect">
            <a:avLst/>
          </a:prstGeom>
          <a:noFill/>
          <a:ln/>
        </p:spPr>
        <p:txBody>
          <a:bodyPr wrap="square" lIns="0" tIns="0" rIns="0" bIns="0" rtlCol="0" anchor="t"/>
          <a:lstStyle/>
          <a:p>
            <a:pPr marL="0" indent="0">
              <a:buNone/>
            </a:pPr>
            <a:r>
              <a:rPr lang="en-US" sz="1450" b="1" dirty="0">
                <a:solidFill>
                  <a:srgbClr val="1E2B3A"/>
                </a:solidFill>
                <a:latin typeface="Calibri" pitchFamily="34" charset="0"/>
                <a:ea typeface="Calibri" pitchFamily="34" charset="-122"/>
                <a:cs typeface="Calibri" pitchFamily="34" charset="-120"/>
              </a:rPr>
              <a:t>The numbers can be read as they are</a:t>
            </a:r>
            <a:endParaRPr lang="en-US" sz="1450" dirty="0"/>
          </a:p>
        </p:txBody>
      </p:sp>
      <p:sp>
        <p:nvSpPr>
          <p:cNvPr id="8" name="Text 5"/>
          <p:cNvSpPr txBox="1"/>
          <p:nvPr/>
        </p:nvSpPr>
        <p:spPr>
          <a:xfrm>
            <a:off x="7818120" y="2194560"/>
            <a:ext cx="3657600" cy="64008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In every group, predicted and actual churn are within 5 points. When the model says 70%, about 70 in 100 such customers leave.</a:t>
            </a:r>
            <a:endParaRPr lang="en-US" sz="1250" dirty="0"/>
          </a:p>
        </p:txBody>
      </p:sp>
      <p:sp>
        <p:nvSpPr>
          <p:cNvPr id="9" name="Shape 6"/>
          <p:cNvSpPr/>
          <p:nvPr/>
        </p:nvSpPr>
        <p:spPr>
          <a:xfrm>
            <a:off x="7589520" y="3017520"/>
            <a:ext cx="4050792" cy="1143000"/>
          </a:xfrm>
          <a:prstGeom prst="roundRect">
            <a:avLst>
              <a:gd name="adj" fmla="val 6400"/>
            </a:avLst>
          </a:prstGeom>
          <a:solidFill>
            <a:srgbClr val="F3F5F8"/>
          </a:solidFill>
          <a:ln w="12700">
            <a:solidFill>
              <a:srgbClr val="F3F5F8"/>
            </a:solidFill>
            <a:prstDash val="solid"/>
          </a:ln>
        </p:spPr>
        <p:txBody>
          <a:bodyPr/>
          <a:lstStyle/>
          <a:p>
            <a:endParaRPr lang="en-CA"/>
          </a:p>
        </p:txBody>
      </p:sp>
      <p:sp>
        <p:nvSpPr>
          <p:cNvPr id="10" name="Text 7"/>
          <p:cNvSpPr txBox="1"/>
          <p:nvPr/>
        </p:nvSpPr>
        <p:spPr>
          <a:xfrm>
            <a:off x="7818120" y="3154680"/>
            <a:ext cx="3657600" cy="292608"/>
          </a:xfrm>
          <a:prstGeom prst="rect">
            <a:avLst/>
          </a:prstGeom>
          <a:noFill/>
          <a:ln/>
        </p:spPr>
        <p:txBody>
          <a:bodyPr wrap="square" lIns="0" tIns="0" rIns="0" bIns="0" rtlCol="0" anchor="t"/>
          <a:lstStyle/>
          <a:p>
            <a:pPr marL="0" indent="0">
              <a:buNone/>
            </a:pPr>
            <a:r>
              <a:rPr lang="en-US" sz="1450" b="1" dirty="0">
                <a:solidFill>
                  <a:srgbClr val="1E2B3A"/>
                </a:solidFill>
                <a:latin typeface="Calibri" pitchFamily="34" charset="0"/>
                <a:ea typeface="Calibri" pitchFamily="34" charset="-122"/>
                <a:cs typeface="Calibri" pitchFamily="34" charset="-120"/>
              </a:rPr>
              <a:t>High risk is not certain</a:t>
            </a:r>
            <a:endParaRPr lang="en-US" sz="1450" dirty="0"/>
          </a:p>
        </p:txBody>
      </p:sp>
      <p:sp>
        <p:nvSpPr>
          <p:cNvPr id="11" name="Text 8"/>
          <p:cNvSpPr txBox="1"/>
          <p:nvPr/>
        </p:nvSpPr>
        <p:spPr>
          <a:xfrm>
            <a:off x="7818120" y="3474720"/>
            <a:ext cx="3657600" cy="64008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In the highest-risk group, 13 in 100 still came back. In the lowest, 3 in 100 still left.</a:t>
            </a:r>
            <a:endParaRPr lang="en-US" sz="1250" dirty="0"/>
          </a:p>
        </p:txBody>
      </p:sp>
      <p:sp>
        <p:nvSpPr>
          <p:cNvPr id="12" name="Shape 9"/>
          <p:cNvSpPr/>
          <p:nvPr/>
        </p:nvSpPr>
        <p:spPr>
          <a:xfrm>
            <a:off x="7589520" y="4297680"/>
            <a:ext cx="4050792" cy="1143000"/>
          </a:xfrm>
          <a:prstGeom prst="roundRect">
            <a:avLst>
              <a:gd name="adj" fmla="val 6400"/>
            </a:avLst>
          </a:prstGeom>
          <a:solidFill>
            <a:srgbClr val="F3F5F8"/>
          </a:solidFill>
          <a:ln w="12700">
            <a:solidFill>
              <a:srgbClr val="F3F5F8"/>
            </a:solidFill>
            <a:prstDash val="solid"/>
          </a:ln>
        </p:spPr>
        <p:txBody>
          <a:bodyPr/>
          <a:lstStyle/>
          <a:p>
            <a:endParaRPr lang="en-CA"/>
          </a:p>
        </p:txBody>
      </p:sp>
      <p:sp>
        <p:nvSpPr>
          <p:cNvPr id="13" name="Text 10"/>
          <p:cNvSpPr txBox="1"/>
          <p:nvPr/>
        </p:nvSpPr>
        <p:spPr>
          <a:xfrm>
            <a:off x="7818120" y="4434840"/>
            <a:ext cx="3657600" cy="292608"/>
          </a:xfrm>
          <a:prstGeom prst="rect">
            <a:avLst/>
          </a:prstGeom>
          <a:noFill/>
          <a:ln/>
        </p:spPr>
        <p:txBody>
          <a:bodyPr wrap="square" lIns="0" tIns="0" rIns="0" bIns="0" rtlCol="0" anchor="t"/>
          <a:lstStyle/>
          <a:p>
            <a:pPr marL="0" indent="0">
              <a:buNone/>
            </a:pPr>
            <a:r>
              <a:rPr lang="en-US" sz="1450" b="1" dirty="0">
                <a:solidFill>
                  <a:srgbClr val="1E2B3A"/>
                </a:solidFill>
                <a:latin typeface="Calibri" pitchFamily="34" charset="0"/>
                <a:ea typeface="Calibri" pitchFamily="34" charset="-122"/>
                <a:cs typeface="Calibri" pitchFamily="34" charset="-120"/>
              </a:rPr>
              <a:t>A real example</a:t>
            </a:r>
            <a:endParaRPr lang="en-US" sz="1450" dirty="0"/>
          </a:p>
        </p:txBody>
      </p:sp>
      <p:sp>
        <p:nvSpPr>
          <p:cNvPr id="14" name="Text 11"/>
          <p:cNvSpPr txBox="1"/>
          <p:nvPr/>
        </p:nvSpPr>
        <p:spPr>
          <a:xfrm>
            <a:off x="7818120" y="4754880"/>
            <a:ext cx="3657600" cy="64008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Customer 12357 had one order of £11,230 and a 59% risk. They ordered again.</a:t>
            </a:r>
            <a:endParaRPr lang="en-US" sz="1250" dirty="0"/>
          </a:p>
        </p:txBody>
      </p:sp>
      <p:sp>
        <p:nvSpPr>
          <p:cNvPr id="15" name="Shape 12"/>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16" name="Text 13"/>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Use the score to decide who to contact first, not to write customers off. Some high-risk customers still come back.</a:t>
            </a:r>
            <a:endParaRPr lang="en-US" sz="1500" dirty="0"/>
          </a:p>
        </p:txBody>
      </p:sp>
      <p:sp>
        <p:nvSpPr>
          <p:cNvPr id="17" name="Text 14"/>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THE MAIN RECOMMENDATION</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Rank customers by value at risk: the chance they leave multiplied by what they have spent</a:t>
            </a:r>
            <a:endParaRPr lang="en-US" sz="2600" dirty="0"/>
          </a:p>
        </p:txBody>
      </p:sp>
      <p:sp>
        <p:nvSpPr>
          <p:cNvPr id="4" name="Shape 2"/>
          <p:cNvSpPr/>
          <p:nvPr/>
        </p:nvSpPr>
        <p:spPr>
          <a:xfrm>
            <a:off x="548640" y="1783080"/>
            <a:ext cx="3291840" cy="1234440"/>
          </a:xfrm>
          <a:prstGeom prst="roundRect">
            <a:avLst>
              <a:gd name="adj" fmla="val 5926"/>
            </a:avLst>
          </a:prstGeom>
          <a:solidFill>
            <a:srgbClr val="F3F5F8"/>
          </a:solidFill>
          <a:ln w="12700">
            <a:solidFill>
              <a:srgbClr val="F3F5F8"/>
            </a:solidFill>
            <a:prstDash val="solid"/>
          </a:ln>
        </p:spPr>
        <p:txBody>
          <a:bodyPr/>
          <a:lstStyle/>
          <a:p>
            <a:endParaRPr lang="en-CA"/>
          </a:p>
        </p:txBody>
      </p:sp>
      <p:sp>
        <p:nvSpPr>
          <p:cNvPr id="5" name="Text 3"/>
          <p:cNvSpPr txBox="1"/>
          <p:nvPr/>
        </p:nvSpPr>
        <p:spPr>
          <a:xfrm>
            <a:off x="868680" y="1938528"/>
            <a:ext cx="2651760" cy="457200"/>
          </a:xfrm>
          <a:prstGeom prst="rect">
            <a:avLst/>
          </a:prstGeom>
          <a:noFill/>
          <a:ln/>
        </p:spPr>
        <p:txBody>
          <a:bodyPr wrap="square" lIns="0" tIns="0" rIns="0" bIns="0" rtlCol="0" anchor="t"/>
          <a:lstStyle/>
          <a:p>
            <a:pPr marL="0" indent="0" algn="ctr">
              <a:buNone/>
            </a:pPr>
            <a:r>
              <a:rPr lang="en-US" sz="2200" b="1" dirty="0">
                <a:solidFill>
                  <a:srgbClr val="1E2B3A"/>
                </a:solidFill>
                <a:latin typeface="Cambria" pitchFamily="34" charset="0"/>
                <a:ea typeface="Cambria" pitchFamily="34" charset="-122"/>
                <a:cs typeface="Cambria" pitchFamily="34" charset="-120"/>
              </a:rPr>
              <a:t>Chance of leaving</a:t>
            </a:r>
            <a:endParaRPr lang="en-US" sz="2200" dirty="0"/>
          </a:p>
        </p:txBody>
      </p:sp>
      <p:sp>
        <p:nvSpPr>
          <p:cNvPr id="6" name="Text 4"/>
          <p:cNvSpPr txBox="1"/>
          <p:nvPr/>
        </p:nvSpPr>
        <p:spPr>
          <a:xfrm>
            <a:off x="868680" y="2450592"/>
            <a:ext cx="2651760" cy="320040"/>
          </a:xfrm>
          <a:prstGeom prst="rect">
            <a:avLst/>
          </a:prstGeom>
          <a:noFill/>
          <a:ln/>
        </p:spPr>
        <p:txBody>
          <a:bodyPr wrap="square" lIns="0" tIns="0" rIns="0" bIns="0" rtlCol="0" anchor="t"/>
          <a:lstStyle/>
          <a:p>
            <a:pPr marL="0" indent="0" algn="ctr">
              <a:buNone/>
            </a:pPr>
            <a:r>
              <a:rPr lang="en-US" sz="1300" dirty="0">
                <a:solidFill>
                  <a:srgbClr val="5B6675"/>
                </a:solidFill>
                <a:latin typeface="Calibri" pitchFamily="34" charset="0"/>
                <a:ea typeface="Calibri" pitchFamily="34" charset="-122"/>
                <a:cs typeface="Calibri" pitchFamily="34" charset="-120"/>
              </a:rPr>
              <a:t>from the churn model</a:t>
            </a:r>
            <a:endParaRPr lang="en-US" sz="1300" dirty="0"/>
          </a:p>
        </p:txBody>
      </p:sp>
      <p:sp>
        <p:nvSpPr>
          <p:cNvPr id="7" name="Text 5"/>
          <p:cNvSpPr txBox="1"/>
          <p:nvPr/>
        </p:nvSpPr>
        <p:spPr>
          <a:xfrm>
            <a:off x="3840480" y="1920240"/>
            <a:ext cx="608076" cy="822960"/>
          </a:xfrm>
          <a:prstGeom prst="rect">
            <a:avLst/>
          </a:prstGeom>
          <a:noFill/>
          <a:ln/>
        </p:spPr>
        <p:txBody>
          <a:bodyPr wrap="square" lIns="0" tIns="0" rIns="0" bIns="0" rtlCol="0" anchor="ctr"/>
          <a:lstStyle/>
          <a:p>
            <a:pPr marL="0" indent="0" algn="ctr">
              <a:buNone/>
            </a:pPr>
            <a:r>
              <a:rPr lang="en-US" sz="3600" b="1" dirty="0">
                <a:solidFill>
                  <a:srgbClr val="5B6675"/>
                </a:solidFill>
                <a:latin typeface="Cambria" pitchFamily="34" charset="0"/>
                <a:ea typeface="Cambria" pitchFamily="34" charset="-122"/>
                <a:cs typeface="Cambria" pitchFamily="34" charset="-120"/>
              </a:rPr>
              <a:t>×</a:t>
            </a:r>
            <a:endParaRPr lang="en-US" sz="3600" dirty="0"/>
          </a:p>
        </p:txBody>
      </p:sp>
      <p:sp>
        <p:nvSpPr>
          <p:cNvPr id="8" name="Shape 6"/>
          <p:cNvSpPr/>
          <p:nvPr/>
        </p:nvSpPr>
        <p:spPr>
          <a:xfrm>
            <a:off x="4448556" y="1783080"/>
            <a:ext cx="3291840" cy="1234440"/>
          </a:xfrm>
          <a:prstGeom prst="roundRect">
            <a:avLst>
              <a:gd name="adj" fmla="val 5926"/>
            </a:avLst>
          </a:prstGeom>
          <a:solidFill>
            <a:srgbClr val="F3F5F8"/>
          </a:solidFill>
          <a:ln w="12700">
            <a:solidFill>
              <a:srgbClr val="F3F5F8"/>
            </a:solidFill>
            <a:prstDash val="solid"/>
          </a:ln>
        </p:spPr>
        <p:txBody>
          <a:bodyPr/>
          <a:lstStyle/>
          <a:p>
            <a:endParaRPr lang="en-CA"/>
          </a:p>
        </p:txBody>
      </p:sp>
      <p:sp>
        <p:nvSpPr>
          <p:cNvPr id="9" name="Text 7"/>
          <p:cNvSpPr txBox="1"/>
          <p:nvPr/>
        </p:nvSpPr>
        <p:spPr>
          <a:xfrm>
            <a:off x="4768596" y="1938528"/>
            <a:ext cx="2651760" cy="457200"/>
          </a:xfrm>
          <a:prstGeom prst="rect">
            <a:avLst/>
          </a:prstGeom>
          <a:noFill/>
          <a:ln/>
        </p:spPr>
        <p:txBody>
          <a:bodyPr wrap="square" lIns="0" tIns="0" rIns="0" bIns="0" rtlCol="0" anchor="t"/>
          <a:lstStyle/>
          <a:p>
            <a:pPr marL="0" indent="0" algn="ctr">
              <a:buNone/>
            </a:pPr>
            <a:r>
              <a:rPr lang="en-US" sz="2200" b="1" dirty="0">
                <a:solidFill>
                  <a:srgbClr val="1E2B3A"/>
                </a:solidFill>
                <a:latin typeface="Cambria" pitchFamily="34" charset="0"/>
                <a:ea typeface="Cambria" pitchFamily="34" charset="-122"/>
                <a:cs typeface="Cambria" pitchFamily="34" charset="-120"/>
              </a:rPr>
              <a:t>Past spend</a:t>
            </a:r>
            <a:endParaRPr lang="en-US" sz="2200" dirty="0"/>
          </a:p>
        </p:txBody>
      </p:sp>
      <p:sp>
        <p:nvSpPr>
          <p:cNvPr id="10" name="Text 8"/>
          <p:cNvSpPr txBox="1"/>
          <p:nvPr/>
        </p:nvSpPr>
        <p:spPr>
          <a:xfrm>
            <a:off x="4768596" y="2450592"/>
            <a:ext cx="2651760" cy="320040"/>
          </a:xfrm>
          <a:prstGeom prst="rect">
            <a:avLst/>
          </a:prstGeom>
          <a:noFill/>
          <a:ln/>
        </p:spPr>
        <p:txBody>
          <a:bodyPr wrap="square" lIns="0" tIns="0" rIns="0" bIns="0" rtlCol="0" anchor="t"/>
          <a:lstStyle/>
          <a:p>
            <a:pPr marL="0" indent="0" algn="ctr">
              <a:buNone/>
            </a:pPr>
            <a:r>
              <a:rPr lang="en-US" sz="1300" dirty="0">
                <a:solidFill>
                  <a:srgbClr val="5B6675"/>
                </a:solidFill>
                <a:latin typeface="Calibri" pitchFamily="34" charset="0"/>
                <a:ea typeface="Calibri" pitchFamily="34" charset="-122"/>
                <a:cs typeface="Calibri" pitchFamily="34" charset="-120"/>
              </a:rPr>
              <a:t>total spend with us</a:t>
            </a:r>
            <a:endParaRPr lang="en-US" sz="1300" dirty="0"/>
          </a:p>
        </p:txBody>
      </p:sp>
      <p:sp>
        <p:nvSpPr>
          <p:cNvPr id="11" name="Text 9"/>
          <p:cNvSpPr txBox="1"/>
          <p:nvPr/>
        </p:nvSpPr>
        <p:spPr>
          <a:xfrm>
            <a:off x="7740396" y="1920240"/>
            <a:ext cx="608076" cy="822960"/>
          </a:xfrm>
          <a:prstGeom prst="rect">
            <a:avLst/>
          </a:prstGeom>
          <a:noFill/>
          <a:ln/>
        </p:spPr>
        <p:txBody>
          <a:bodyPr wrap="square" lIns="0" tIns="0" rIns="0" bIns="0" rtlCol="0" anchor="ctr"/>
          <a:lstStyle/>
          <a:p>
            <a:pPr marL="0" indent="0" algn="ctr">
              <a:buNone/>
            </a:pPr>
            <a:r>
              <a:rPr lang="en-US" sz="3600" b="1" dirty="0">
                <a:solidFill>
                  <a:srgbClr val="5B6675"/>
                </a:solidFill>
                <a:latin typeface="Cambria" pitchFamily="34" charset="0"/>
                <a:ea typeface="Cambria" pitchFamily="34" charset="-122"/>
                <a:cs typeface="Cambria" pitchFamily="34" charset="-120"/>
              </a:rPr>
              <a:t>=</a:t>
            </a:r>
            <a:endParaRPr lang="en-US" sz="3600" dirty="0"/>
          </a:p>
        </p:txBody>
      </p:sp>
      <p:sp>
        <p:nvSpPr>
          <p:cNvPr id="12" name="Shape 10"/>
          <p:cNvSpPr/>
          <p:nvPr/>
        </p:nvSpPr>
        <p:spPr>
          <a:xfrm>
            <a:off x="8348472" y="1783080"/>
            <a:ext cx="3291840" cy="1234440"/>
          </a:xfrm>
          <a:prstGeom prst="roundRect">
            <a:avLst>
              <a:gd name="adj" fmla="val 5926"/>
            </a:avLst>
          </a:prstGeom>
          <a:solidFill>
            <a:srgbClr val="1E2B3A"/>
          </a:solidFill>
          <a:ln w="12700">
            <a:solidFill>
              <a:srgbClr val="1E2B3A"/>
            </a:solidFill>
            <a:prstDash val="solid"/>
          </a:ln>
        </p:spPr>
        <p:txBody>
          <a:bodyPr/>
          <a:lstStyle/>
          <a:p>
            <a:endParaRPr lang="en-CA"/>
          </a:p>
        </p:txBody>
      </p:sp>
      <p:sp>
        <p:nvSpPr>
          <p:cNvPr id="13" name="Text 11"/>
          <p:cNvSpPr txBox="1"/>
          <p:nvPr/>
        </p:nvSpPr>
        <p:spPr>
          <a:xfrm>
            <a:off x="8668512" y="1938528"/>
            <a:ext cx="2651760" cy="457200"/>
          </a:xfrm>
          <a:prstGeom prst="rect">
            <a:avLst/>
          </a:prstGeom>
          <a:noFill/>
          <a:ln/>
        </p:spPr>
        <p:txBody>
          <a:bodyPr wrap="square" lIns="0" tIns="0" rIns="0" bIns="0" rtlCol="0" anchor="t"/>
          <a:lstStyle/>
          <a:p>
            <a:pPr marL="0" indent="0" algn="ctr">
              <a:buNone/>
            </a:pPr>
            <a:r>
              <a:rPr lang="en-US" sz="2200" b="1" dirty="0">
                <a:solidFill>
                  <a:srgbClr val="FFFFFF"/>
                </a:solidFill>
                <a:latin typeface="Cambria" pitchFamily="34" charset="0"/>
                <a:ea typeface="Cambria" pitchFamily="34" charset="-122"/>
                <a:cs typeface="Cambria" pitchFamily="34" charset="-120"/>
              </a:rPr>
              <a:t>Value at risk</a:t>
            </a:r>
            <a:endParaRPr lang="en-US" sz="2200" dirty="0"/>
          </a:p>
        </p:txBody>
      </p:sp>
      <p:sp>
        <p:nvSpPr>
          <p:cNvPr id="14" name="Text 12"/>
          <p:cNvSpPr txBox="1"/>
          <p:nvPr/>
        </p:nvSpPr>
        <p:spPr>
          <a:xfrm>
            <a:off x="8668512" y="2450592"/>
            <a:ext cx="2651760" cy="320040"/>
          </a:xfrm>
          <a:prstGeom prst="rect">
            <a:avLst/>
          </a:prstGeom>
          <a:noFill/>
          <a:ln/>
        </p:spPr>
        <p:txBody>
          <a:bodyPr wrap="square" lIns="0" tIns="0" rIns="0" bIns="0" rtlCol="0" anchor="t"/>
          <a:lstStyle/>
          <a:p>
            <a:pPr marL="0" indent="0" algn="ctr">
              <a:buNone/>
            </a:pPr>
            <a:r>
              <a:rPr lang="en-US" sz="1300" dirty="0">
                <a:solidFill>
                  <a:srgbClr val="C9D3DE"/>
                </a:solidFill>
                <a:latin typeface="Calibri" pitchFamily="34" charset="0"/>
                <a:ea typeface="Calibri" pitchFamily="34" charset="-122"/>
                <a:cs typeface="Calibri" pitchFamily="34" charset="-120"/>
              </a:rPr>
              <a:t>what we stand to lose</a:t>
            </a:r>
            <a:endParaRPr lang="en-US" sz="1300" dirty="0"/>
          </a:p>
        </p:txBody>
      </p:sp>
      <p:sp>
        <p:nvSpPr>
          <p:cNvPr id="15" name="Shape 13"/>
          <p:cNvSpPr/>
          <p:nvPr/>
        </p:nvSpPr>
        <p:spPr>
          <a:xfrm>
            <a:off x="548640" y="3337560"/>
            <a:ext cx="11091672" cy="914400"/>
          </a:xfrm>
          <a:prstGeom prst="roundRect">
            <a:avLst>
              <a:gd name="adj" fmla="val 8000"/>
            </a:avLst>
          </a:prstGeom>
          <a:solidFill>
            <a:srgbClr val="EEEFF1"/>
          </a:solidFill>
          <a:ln w="12700">
            <a:solidFill>
              <a:srgbClr val="EEEFF1"/>
            </a:solidFill>
            <a:prstDash val="solid"/>
          </a:ln>
        </p:spPr>
        <p:txBody>
          <a:bodyPr/>
          <a:lstStyle/>
          <a:p>
            <a:endParaRPr lang="en-CA"/>
          </a:p>
        </p:txBody>
      </p:sp>
      <p:sp>
        <p:nvSpPr>
          <p:cNvPr id="16" name="Shape 14"/>
          <p:cNvSpPr/>
          <p:nvPr/>
        </p:nvSpPr>
        <p:spPr>
          <a:xfrm>
            <a:off x="777240" y="3538728"/>
            <a:ext cx="512064" cy="512064"/>
          </a:xfrm>
          <a:prstGeom prst="ellipse">
            <a:avLst/>
          </a:prstGeom>
          <a:solidFill>
            <a:srgbClr val="7F8691"/>
          </a:solidFill>
          <a:ln w="12700">
            <a:solidFill>
              <a:srgbClr val="7F8691"/>
            </a:solidFill>
            <a:prstDash val="solid"/>
          </a:ln>
        </p:spPr>
        <p:txBody>
          <a:bodyPr/>
          <a:lstStyle/>
          <a:p>
            <a:endParaRPr lang="en-CA"/>
          </a:p>
        </p:txBody>
      </p:sp>
      <p:pic>
        <p:nvPicPr>
          <p:cNvPr id="17" name="Image 0" descr="preencoded.png"/>
          <p:cNvPicPr>
            <a:picLocks noChangeAspect="1"/>
          </p:cNvPicPr>
          <p:nvPr/>
        </p:nvPicPr>
        <p:blipFill>
          <a:blip r:embed="rId3"/>
          <a:stretch>
            <a:fillRect/>
          </a:stretch>
        </p:blipFill>
        <p:spPr>
          <a:xfrm>
            <a:off x="910377" y="3671865"/>
            <a:ext cx="245791" cy="245791"/>
          </a:xfrm>
          <a:prstGeom prst="rect">
            <a:avLst/>
          </a:prstGeom>
        </p:spPr>
      </p:pic>
      <p:sp>
        <p:nvSpPr>
          <p:cNvPr id="18" name="Text 15"/>
          <p:cNvSpPr txBox="1"/>
          <p:nvPr/>
        </p:nvSpPr>
        <p:spPr>
          <a:xfrm>
            <a:off x="1463040" y="3447288"/>
            <a:ext cx="2103120" cy="365760"/>
          </a:xfrm>
          <a:prstGeom prst="rect">
            <a:avLst/>
          </a:prstGeom>
          <a:noFill/>
          <a:ln/>
        </p:spPr>
        <p:txBody>
          <a:bodyPr wrap="square" lIns="0" tIns="0" rIns="0" bIns="0" rtlCol="0" anchor="t"/>
          <a:lstStyle/>
          <a:p>
            <a:pPr marL="0" indent="0">
              <a:buNone/>
            </a:pPr>
            <a:r>
              <a:rPr lang="en-US" sz="1600" b="1" dirty="0">
                <a:solidFill>
                  <a:srgbClr val="1E2B3A"/>
                </a:solidFill>
                <a:latin typeface="Calibri" pitchFamily="34" charset="0"/>
                <a:ea typeface="Calibri" pitchFamily="34" charset="-122"/>
                <a:cs typeface="Calibri" pitchFamily="34" charset="-120"/>
              </a:rPr>
              <a:t>Customer A</a:t>
            </a:r>
            <a:endParaRPr lang="en-US" sz="1600" dirty="0"/>
          </a:p>
        </p:txBody>
      </p:sp>
      <p:sp>
        <p:nvSpPr>
          <p:cNvPr id="19" name="Text 16"/>
          <p:cNvSpPr txBox="1"/>
          <p:nvPr/>
        </p:nvSpPr>
        <p:spPr>
          <a:xfrm>
            <a:off x="1463040" y="3813048"/>
            <a:ext cx="3291840" cy="32004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Very likely to leave, but little to save</a:t>
            </a:r>
            <a:endParaRPr lang="en-US" sz="1250" dirty="0"/>
          </a:p>
        </p:txBody>
      </p:sp>
      <p:sp>
        <p:nvSpPr>
          <p:cNvPr id="20" name="Text 17"/>
          <p:cNvSpPr txBox="1"/>
          <p:nvPr/>
        </p:nvSpPr>
        <p:spPr>
          <a:xfrm>
            <a:off x="4846320" y="3337560"/>
            <a:ext cx="1371600" cy="914400"/>
          </a:xfrm>
          <a:prstGeom prst="rect">
            <a:avLst/>
          </a:prstGeom>
          <a:noFill/>
          <a:ln/>
        </p:spPr>
        <p:txBody>
          <a:bodyPr wrap="square" lIns="0" tIns="0" rIns="0" bIns="0" rtlCol="0" anchor="ctr"/>
          <a:lstStyle/>
          <a:p>
            <a:pPr marL="0" indent="0" algn="ctr">
              <a:buNone/>
            </a:pPr>
            <a:r>
              <a:rPr lang="en-US" sz="2400" b="1" dirty="0">
                <a:solidFill>
                  <a:srgbClr val="1E2B3A"/>
                </a:solidFill>
                <a:latin typeface="Cambria" pitchFamily="34" charset="0"/>
                <a:ea typeface="Cambria" pitchFamily="34" charset="-122"/>
                <a:cs typeface="Cambria" pitchFamily="34" charset="-120"/>
              </a:rPr>
              <a:t>95%</a:t>
            </a:r>
            <a:endParaRPr lang="en-US" sz="2400" dirty="0"/>
          </a:p>
        </p:txBody>
      </p:sp>
      <p:sp>
        <p:nvSpPr>
          <p:cNvPr id="21" name="Text 18"/>
          <p:cNvSpPr txBox="1"/>
          <p:nvPr/>
        </p:nvSpPr>
        <p:spPr>
          <a:xfrm>
            <a:off x="6217920" y="3337560"/>
            <a:ext cx="548640" cy="914400"/>
          </a:xfrm>
          <a:prstGeom prst="rect">
            <a:avLst/>
          </a:prstGeom>
          <a:noFill/>
          <a:ln/>
        </p:spPr>
        <p:txBody>
          <a:bodyPr wrap="square" lIns="0" tIns="0" rIns="0" bIns="0" rtlCol="0" anchor="ctr"/>
          <a:lstStyle/>
          <a:p>
            <a:pPr marL="0" indent="0" algn="ctr">
              <a:buNone/>
            </a:pPr>
            <a:r>
              <a:rPr lang="en-US" sz="2200" dirty="0">
                <a:solidFill>
                  <a:srgbClr val="5B6675"/>
                </a:solidFill>
                <a:latin typeface="Calibri" pitchFamily="34" charset="0"/>
                <a:ea typeface="Calibri" pitchFamily="34" charset="-122"/>
                <a:cs typeface="Calibri" pitchFamily="34" charset="-120"/>
              </a:rPr>
              <a:t>×</a:t>
            </a:r>
            <a:endParaRPr lang="en-US" sz="2200" dirty="0"/>
          </a:p>
        </p:txBody>
      </p:sp>
      <p:sp>
        <p:nvSpPr>
          <p:cNvPr id="22" name="Text 19"/>
          <p:cNvSpPr txBox="1"/>
          <p:nvPr/>
        </p:nvSpPr>
        <p:spPr>
          <a:xfrm>
            <a:off x="6766560" y="3337560"/>
            <a:ext cx="1828800" cy="914400"/>
          </a:xfrm>
          <a:prstGeom prst="rect">
            <a:avLst/>
          </a:prstGeom>
          <a:noFill/>
          <a:ln/>
        </p:spPr>
        <p:txBody>
          <a:bodyPr wrap="square" lIns="0" tIns="0" rIns="0" bIns="0" rtlCol="0" anchor="ctr"/>
          <a:lstStyle/>
          <a:p>
            <a:pPr marL="0" indent="0" algn="ctr">
              <a:buNone/>
            </a:pPr>
            <a:r>
              <a:rPr lang="en-US" sz="2400" b="1" dirty="0">
                <a:solidFill>
                  <a:srgbClr val="1E2B3A"/>
                </a:solidFill>
                <a:latin typeface="Cambria" pitchFamily="34" charset="0"/>
                <a:ea typeface="Cambria" pitchFamily="34" charset="-122"/>
                <a:cs typeface="Cambria" pitchFamily="34" charset="-120"/>
              </a:rPr>
              <a:t>£200</a:t>
            </a:r>
            <a:endParaRPr lang="en-US" sz="2400" dirty="0"/>
          </a:p>
        </p:txBody>
      </p:sp>
      <p:sp>
        <p:nvSpPr>
          <p:cNvPr id="23" name="Text 20"/>
          <p:cNvSpPr txBox="1"/>
          <p:nvPr/>
        </p:nvSpPr>
        <p:spPr>
          <a:xfrm>
            <a:off x="8595360" y="3337560"/>
            <a:ext cx="548640" cy="914400"/>
          </a:xfrm>
          <a:prstGeom prst="rect">
            <a:avLst/>
          </a:prstGeom>
          <a:noFill/>
          <a:ln/>
        </p:spPr>
        <p:txBody>
          <a:bodyPr wrap="square" lIns="0" tIns="0" rIns="0" bIns="0" rtlCol="0" anchor="ctr"/>
          <a:lstStyle/>
          <a:p>
            <a:pPr marL="0" indent="0" algn="ctr">
              <a:buNone/>
            </a:pPr>
            <a:r>
              <a:rPr lang="en-US" sz="2200" dirty="0">
                <a:solidFill>
                  <a:srgbClr val="5B6675"/>
                </a:solidFill>
                <a:latin typeface="Calibri" pitchFamily="34" charset="0"/>
                <a:ea typeface="Calibri" pitchFamily="34" charset="-122"/>
                <a:cs typeface="Calibri" pitchFamily="34" charset="-120"/>
              </a:rPr>
              <a:t>=</a:t>
            </a:r>
            <a:endParaRPr lang="en-US" sz="2200" dirty="0"/>
          </a:p>
        </p:txBody>
      </p:sp>
      <p:sp>
        <p:nvSpPr>
          <p:cNvPr id="24" name="Text 21"/>
          <p:cNvSpPr txBox="1"/>
          <p:nvPr/>
        </p:nvSpPr>
        <p:spPr>
          <a:xfrm>
            <a:off x="9144000" y="3337560"/>
            <a:ext cx="2286000" cy="914400"/>
          </a:xfrm>
          <a:prstGeom prst="rect">
            <a:avLst/>
          </a:prstGeom>
          <a:noFill/>
          <a:ln/>
        </p:spPr>
        <p:txBody>
          <a:bodyPr wrap="square" lIns="0" tIns="0" rIns="0" bIns="0" rtlCol="0" anchor="ctr"/>
          <a:lstStyle/>
          <a:p>
            <a:pPr marL="0" indent="0" algn="ctr">
              <a:buNone/>
            </a:pPr>
            <a:r>
              <a:rPr lang="en-US" sz="2600" b="1" dirty="0">
                <a:solidFill>
                  <a:srgbClr val="5B6675"/>
                </a:solidFill>
                <a:latin typeface="Cambria" pitchFamily="34" charset="0"/>
                <a:ea typeface="Cambria" pitchFamily="34" charset="-122"/>
                <a:cs typeface="Cambria" pitchFamily="34" charset="-120"/>
              </a:rPr>
              <a:t>£190</a:t>
            </a:r>
            <a:endParaRPr lang="en-US" sz="2600" dirty="0"/>
          </a:p>
        </p:txBody>
      </p:sp>
      <p:sp>
        <p:nvSpPr>
          <p:cNvPr id="25" name="Shape 22"/>
          <p:cNvSpPr/>
          <p:nvPr/>
        </p:nvSpPr>
        <p:spPr>
          <a:xfrm>
            <a:off x="548640" y="4416552"/>
            <a:ext cx="11091672" cy="914400"/>
          </a:xfrm>
          <a:prstGeom prst="roundRect">
            <a:avLst>
              <a:gd name="adj" fmla="val 8000"/>
            </a:avLst>
          </a:prstGeom>
          <a:solidFill>
            <a:srgbClr val="E7EFF8"/>
          </a:solidFill>
          <a:ln w="12700">
            <a:solidFill>
              <a:srgbClr val="E7EFF8"/>
            </a:solidFill>
            <a:prstDash val="solid"/>
          </a:ln>
        </p:spPr>
        <p:txBody>
          <a:bodyPr/>
          <a:lstStyle/>
          <a:p>
            <a:endParaRPr lang="en-CA"/>
          </a:p>
        </p:txBody>
      </p:sp>
      <p:sp>
        <p:nvSpPr>
          <p:cNvPr id="26" name="Shape 23"/>
          <p:cNvSpPr/>
          <p:nvPr/>
        </p:nvSpPr>
        <p:spPr>
          <a:xfrm>
            <a:off x="777240" y="4617720"/>
            <a:ext cx="512064" cy="512064"/>
          </a:xfrm>
          <a:prstGeom prst="ellipse">
            <a:avLst/>
          </a:prstGeom>
          <a:solidFill>
            <a:srgbClr val="2E6FB0"/>
          </a:solidFill>
          <a:ln w="12700">
            <a:solidFill>
              <a:srgbClr val="2E6FB0"/>
            </a:solidFill>
            <a:prstDash val="solid"/>
          </a:ln>
        </p:spPr>
        <p:txBody>
          <a:bodyPr/>
          <a:lstStyle/>
          <a:p>
            <a:endParaRPr lang="en-CA"/>
          </a:p>
        </p:txBody>
      </p:sp>
      <p:pic>
        <p:nvPicPr>
          <p:cNvPr id="27" name="Image 1" descr="preencoded.png"/>
          <p:cNvPicPr>
            <a:picLocks noChangeAspect="1"/>
          </p:cNvPicPr>
          <p:nvPr/>
        </p:nvPicPr>
        <p:blipFill>
          <a:blip r:embed="rId4"/>
          <a:stretch>
            <a:fillRect/>
          </a:stretch>
        </p:blipFill>
        <p:spPr>
          <a:xfrm>
            <a:off x="910377" y="4750857"/>
            <a:ext cx="245791" cy="245791"/>
          </a:xfrm>
          <a:prstGeom prst="rect">
            <a:avLst/>
          </a:prstGeom>
        </p:spPr>
      </p:pic>
      <p:sp>
        <p:nvSpPr>
          <p:cNvPr id="28" name="Text 24"/>
          <p:cNvSpPr txBox="1"/>
          <p:nvPr/>
        </p:nvSpPr>
        <p:spPr>
          <a:xfrm>
            <a:off x="1463040" y="4526280"/>
            <a:ext cx="2103120" cy="365760"/>
          </a:xfrm>
          <a:prstGeom prst="rect">
            <a:avLst/>
          </a:prstGeom>
          <a:noFill/>
          <a:ln/>
        </p:spPr>
        <p:txBody>
          <a:bodyPr wrap="square" lIns="0" tIns="0" rIns="0" bIns="0" rtlCol="0" anchor="t"/>
          <a:lstStyle/>
          <a:p>
            <a:pPr marL="0" indent="0">
              <a:buNone/>
            </a:pPr>
            <a:r>
              <a:rPr lang="en-US" sz="1600" b="1" dirty="0">
                <a:solidFill>
                  <a:srgbClr val="1E2B3A"/>
                </a:solidFill>
                <a:latin typeface="Calibri" pitchFamily="34" charset="0"/>
                <a:ea typeface="Calibri" pitchFamily="34" charset="-122"/>
                <a:cs typeface="Calibri" pitchFamily="34" charset="-120"/>
              </a:rPr>
              <a:t>Customer B</a:t>
            </a:r>
            <a:endParaRPr lang="en-US" sz="1600" dirty="0"/>
          </a:p>
        </p:txBody>
      </p:sp>
      <p:sp>
        <p:nvSpPr>
          <p:cNvPr id="29" name="Text 25"/>
          <p:cNvSpPr txBox="1"/>
          <p:nvPr/>
        </p:nvSpPr>
        <p:spPr>
          <a:xfrm>
            <a:off x="1463040" y="4892040"/>
            <a:ext cx="3291840" cy="32004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More likely to stay, yet far more worth a call</a:t>
            </a:r>
            <a:endParaRPr lang="en-US" sz="1250" dirty="0"/>
          </a:p>
        </p:txBody>
      </p:sp>
      <p:sp>
        <p:nvSpPr>
          <p:cNvPr id="30" name="Text 26"/>
          <p:cNvSpPr txBox="1"/>
          <p:nvPr/>
        </p:nvSpPr>
        <p:spPr>
          <a:xfrm>
            <a:off x="4846320" y="4416552"/>
            <a:ext cx="1371600" cy="914400"/>
          </a:xfrm>
          <a:prstGeom prst="rect">
            <a:avLst/>
          </a:prstGeom>
          <a:noFill/>
          <a:ln/>
        </p:spPr>
        <p:txBody>
          <a:bodyPr wrap="square" lIns="0" tIns="0" rIns="0" bIns="0" rtlCol="0" anchor="ctr"/>
          <a:lstStyle/>
          <a:p>
            <a:pPr marL="0" indent="0" algn="ctr">
              <a:buNone/>
            </a:pPr>
            <a:r>
              <a:rPr lang="en-US" sz="2400" b="1" dirty="0">
                <a:solidFill>
                  <a:srgbClr val="1E2B3A"/>
                </a:solidFill>
                <a:latin typeface="Cambria" pitchFamily="34" charset="0"/>
                <a:ea typeface="Cambria" pitchFamily="34" charset="-122"/>
                <a:cs typeface="Cambria" pitchFamily="34" charset="-120"/>
              </a:rPr>
              <a:t>50%</a:t>
            </a:r>
            <a:endParaRPr lang="en-US" sz="2400" dirty="0"/>
          </a:p>
        </p:txBody>
      </p:sp>
      <p:sp>
        <p:nvSpPr>
          <p:cNvPr id="31" name="Text 27"/>
          <p:cNvSpPr txBox="1"/>
          <p:nvPr/>
        </p:nvSpPr>
        <p:spPr>
          <a:xfrm>
            <a:off x="6217920" y="4416552"/>
            <a:ext cx="548640" cy="914400"/>
          </a:xfrm>
          <a:prstGeom prst="rect">
            <a:avLst/>
          </a:prstGeom>
          <a:noFill/>
          <a:ln/>
        </p:spPr>
        <p:txBody>
          <a:bodyPr wrap="square" lIns="0" tIns="0" rIns="0" bIns="0" rtlCol="0" anchor="ctr"/>
          <a:lstStyle/>
          <a:p>
            <a:pPr marL="0" indent="0" algn="ctr">
              <a:buNone/>
            </a:pPr>
            <a:r>
              <a:rPr lang="en-US" sz="2200" dirty="0">
                <a:solidFill>
                  <a:srgbClr val="5B6675"/>
                </a:solidFill>
                <a:latin typeface="Calibri" pitchFamily="34" charset="0"/>
                <a:ea typeface="Calibri" pitchFamily="34" charset="-122"/>
                <a:cs typeface="Calibri" pitchFamily="34" charset="-120"/>
              </a:rPr>
              <a:t>×</a:t>
            </a:r>
            <a:endParaRPr lang="en-US" sz="2200" dirty="0"/>
          </a:p>
        </p:txBody>
      </p:sp>
      <p:sp>
        <p:nvSpPr>
          <p:cNvPr id="32" name="Text 28"/>
          <p:cNvSpPr txBox="1"/>
          <p:nvPr/>
        </p:nvSpPr>
        <p:spPr>
          <a:xfrm>
            <a:off x="6766560" y="4416552"/>
            <a:ext cx="1828800" cy="914400"/>
          </a:xfrm>
          <a:prstGeom prst="rect">
            <a:avLst/>
          </a:prstGeom>
          <a:noFill/>
          <a:ln/>
        </p:spPr>
        <p:txBody>
          <a:bodyPr wrap="square" lIns="0" tIns="0" rIns="0" bIns="0" rtlCol="0" anchor="ctr"/>
          <a:lstStyle/>
          <a:p>
            <a:pPr marL="0" indent="0" algn="ctr">
              <a:buNone/>
            </a:pPr>
            <a:r>
              <a:rPr lang="en-US" sz="2400" b="1" dirty="0">
                <a:solidFill>
                  <a:srgbClr val="1E2B3A"/>
                </a:solidFill>
                <a:latin typeface="Cambria" pitchFamily="34" charset="0"/>
                <a:ea typeface="Cambria" pitchFamily="34" charset="-122"/>
                <a:cs typeface="Cambria" pitchFamily="34" charset="-120"/>
              </a:rPr>
              <a:t>£20,000</a:t>
            </a:r>
            <a:endParaRPr lang="en-US" sz="2400" dirty="0"/>
          </a:p>
        </p:txBody>
      </p:sp>
      <p:sp>
        <p:nvSpPr>
          <p:cNvPr id="33" name="Text 29"/>
          <p:cNvSpPr txBox="1"/>
          <p:nvPr/>
        </p:nvSpPr>
        <p:spPr>
          <a:xfrm>
            <a:off x="8595360" y="4416552"/>
            <a:ext cx="548640" cy="914400"/>
          </a:xfrm>
          <a:prstGeom prst="rect">
            <a:avLst/>
          </a:prstGeom>
          <a:noFill/>
          <a:ln/>
        </p:spPr>
        <p:txBody>
          <a:bodyPr wrap="square" lIns="0" tIns="0" rIns="0" bIns="0" rtlCol="0" anchor="ctr"/>
          <a:lstStyle/>
          <a:p>
            <a:pPr marL="0" indent="0" algn="ctr">
              <a:buNone/>
            </a:pPr>
            <a:r>
              <a:rPr lang="en-US" sz="2200" dirty="0">
                <a:solidFill>
                  <a:srgbClr val="5B6675"/>
                </a:solidFill>
                <a:latin typeface="Calibri" pitchFamily="34" charset="0"/>
                <a:ea typeface="Calibri" pitchFamily="34" charset="-122"/>
                <a:cs typeface="Calibri" pitchFamily="34" charset="-120"/>
              </a:rPr>
              <a:t>=</a:t>
            </a:r>
            <a:endParaRPr lang="en-US" sz="2200" dirty="0"/>
          </a:p>
        </p:txBody>
      </p:sp>
      <p:sp>
        <p:nvSpPr>
          <p:cNvPr id="34" name="Text 30"/>
          <p:cNvSpPr txBox="1"/>
          <p:nvPr/>
        </p:nvSpPr>
        <p:spPr>
          <a:xfrm>
            <a:off x="9144000" y="4416552"/>
            <a:ext cx="2286000" cy="914400"/>
          </a:xfrm>
          <a:prstGeom prst="rect">
            <a:avLst/>
          </a:prstGeom>
          <a:noFill/>
          <a:ln/>
        </p:spPr>
        <p:txBody>
          <a:bodyPr wrap="square" lIns="0" tIns="0" rIns="0" bIns="0" rtlCol="0" anchor="ctr"/>
          <a:lstStyle/>
          <a:p>
            <a:pPr marL="0" indent="0" algn="ctr">
              <a:buNone/>
            </a:pPr>
            <a:r>
              <a:rPr lang="en-US" sz="2600" b="1" dirty="0">
                <a:solidFill>
                  <a:srgbClr val="1F7A5C"/>
                </a:solidFill>
                <a:latin typeface="Cambria" pitchFamily="34" charset="0"/>
                <a:ea typeface="Cambria" pitchFamily="34" charset="-122"/>
                <a:cs typeface="Cambria" pitchFamily="34" charset="-120"/>
              </a:rPr>
              <a:t>£10,000</a:t>
            </a:r>
            <a:endParaRPr lang="en-US" sz="2600" dirty="0"/>
          </a:p>
        </p:txBody>
      </p:sp>
      <p:sp>
        <p:nvSpPr>
          <p:cNvPr id="35" name="Shape 31"/>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36" name="Text 32"/>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A list sorted by risk alone fills up with customers who spent little and left long ago. Value at risk puts the money first.</a:t>
            </a:r>
            <a:endParaRPr lang="en-US" sz="1500" dirty="0"/>
          </a:p>
        </p:txBody>
      </p:sp>
      <p:sp>
        <p:nvSpPr>
          <p:cNvPr id="37" name="Text 33"/>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THE EVIDENCE</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The value at risk list finds 15 times more lost spend</a:t>
            </a:r>
            <a:endParaRPr lang="en-US" sz="2600" dirty="0"/>
          </a:p>
        </p:txBody>
      </p:sp>
      <p:sp>
        <p:nvSpPr>
          <p:cNvPr id="4" name="Shape 2"/>
          <p:cNvSpPr/>
          <p:nvPr/>
        </p:nvSpPr>
        <p:spPr>
          <a:xfrm>
            <a:off x="548640" y="1691640"/>
            <a:ext cx="5422392" cy="3794760"/>
          </a:xfrm>
          <a:prstGeom prst="roundRect">
            <a:avLst>
              <a:gd name="adj" fmla="val 1928"/>
            </a:avLst>
          </a:prstGeom>
          <a:solidFill>
            <a:srgbClr val="F3F5F8"/>
          </a:solidFill>
          <a:ln w="12700">
            <a:solidFill>
              <a:srgbClr val="F3F5F8"/>
            </a:solidFill>
            <a:prstDash val="solid"/>
          </a:ln>
        </p:spPr>
        <p:txBody>
          <a:bodyPr/>
          <a:lstStyle/>
          <a:p>
            <a:endParaRPr lang="en-CA"/>
          </a:p>
        </p:txBody>
      </p:sp>
      <p:sp>
        <p:nvSpPr>
          <p:cNvPr id="5" name="Text 3"/>
          <p:cNvSpPr txBox="1"/>
          <p:nvPr/>
        </p:nvSpPr>
        <p:spPr>
          <a:xfrm>
            <a:off x="868680" y="1828800"/>
            <a:ext cx="4754880" cy="365760"/>
          </a:xfrm>
          <a:prstGeom prst="rect">
            <a:avLst/>
          </a:prstGeom>
          <a:noFill/>
          <a:ln/>
        </p:spPr>
        <p:txBody>
          <a:bodyPr wrap="square" lIns="0" tIns="0" rIns="0" bIns="0" rtlCol="0" anchor="t"/>
          <a:lstStyle/>
          <a:p>
            <a:pPr marL="0" indent="0">
              <a:buNone/>
            </a:pPr>
            <a:r>
              <a:rPr lang="en-US" sz="1700" b="1" dirty="0">
                <a:solidFill>
                  <a:srgbClr val="1E2B3A"/>
                </a:solidFill>
                <a:latin typeface="Calibri" pitchFamily="34" charset="0"/>
                <a:ea typeface="Calibri" pitchFamily="34" charset="-122"/>
                <a:cs typeface="Calibri" pitchFamily="34" charset="-120"/>
              </a:rPr>
              <a:t>Top 100 by churn risk</a:t>
            </a:r>
            <a:endParaRPr lang="en-US" sz="1700" dirty="0"/>
          </a:p>
        </p:txBody>
      </p:sp>
      <p:sp>
        <p:nvSpPr>
          <p:cNvPr id="6" name="Text 4"/>
          <p:cNvSpPr txBox="1"/>
          <p:nvPr/>
        </p:nvSpPr>
        <p:spPr>
          <a:xfrm>
            <a:off x="868680" y="2194560"/>
            <a:ext cx="1463040" cy="685800"/>
          </a:xfrm>
          <a:prstGeom prst="rect">
            <a:avLst/>
          </a:prstGeom>
          <a:noFill/>
          <a:ln/>
        </p:spPr>
        <p:txBody>
          <a:bodyPr wrap="square" lIns="0" tIns="0" rIns="0" bIns="0" rtlCol="0" anchor="t"/>
          <a:lstStyle/>
          <a:p>
            <a:pPr marL="0" indent="0">
              <a:buNone/>
            </a:pPr>
            <a:r>
              <a:rPr lang="en-US" sz="3800" b="1" dirty="0">
                <a:solidFill>
                  <a:srgbClr val="1E2B3A"/>
                </a:solidFill>
                <a:latin typeface="Cambria" pitchFamily="34" charset="0"/>
                <a:ea typeface="Cambria" pitchFamily="34" charset="-122"/>
                <a:cs typeface="Cambria" pitchFamily="34" charset="-120"/>
              </a:rPr>
              <a:t>87</a:t>
            </a:r>
            <a:endParaRPr lang="en-US" sz="3800" dirty="0"/>
          </a:p>
        </p:txBody>
      </p:sp>
      <p:sp>
        <p:nvSpPr>
          <p:cNvPr id="7" name="Text 5"/>
          <p:cNvSpPr txBox="1"/>
          <p:nvPr/>
        </p:nvSpPr>
        <p:spPr>
          <a:xfrm>
            <a:off x="868680" y="2880360"/>
            <a:ext cx="1645920"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of 100 left</a:t>
            </a:r>
            <a:endParaRPr lang="en-US" sz="1250" dirty="0"/>
          </a:p>
        </p:txBody>
      </p:sp>
      <p:sp>
        <p:nvSpPr>
          <p:cNvPr id="8" name="Text 6"/>
          <p:cNvSpPr txBox="1"/>
          <p:nvPr/>
        </p:nvSpPr>
        <p:spPr>
          <a:xfrm>
            <a:off x="2651760" y="2194560"/>
            <a:ext cx="3017520" cy="685800"/>
          </a:xfrm>
          <a:prstGeom prst="rect">
            <a:avLst/>
          </a:prstGeom>
          <a:noFill/>
          <a:ln/>
        </p:spPr>
        <p:txBody>
          <a:bodyPr wrap="square" lIns="0" tIns="0" rIns="0" bIns="0" rtlCol="0" anchor="t"/>
          <a:lstStyle/>
          <a:p>
            <a:pPr marL="0" indent="0">
              <a:buNone/>
            </a:pPr>
            <a:r>
              <a:rPr lang="en-US" sz="3800" b="1" dirty="0">
                <a:solidFill>
                  <a:srgbClr val="8A94A3"/>
                </a:solidFill>
                <a:latin typeface="Cambria" pitchFamily="34" charset="0"/>
                <a:ea typeface="Cambria" pitchFamily="34" charset="-122"/>
                <a:cs typeface="Cambria" pitchFamily="34" charset="-120"/>
              </a:rPr>
              <a:t>£16,157</a:t>
            </a:r>
            <a:endParaRPr lang="en-US" sz="3800" dirty="0"/>
          </a:p>
        </p:txBody>
      </p:sp>
      <p:sp>
        <p:nvSpPr>
          <p:cNvPr id="9" name="Text 7"/>
          <p:cNvSpPr txBox="1"/>
          <p:nvPr/>
        </p:nvSpPr>
        <p:spPr>
          <a:xfrm>
            <a:off x="2651760" y="2880360"/>
            <a:ext cx="3108960"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past spend among those who left</a:t>
            </a:r>
            <a:endParaRPr lang="en-US" sz="1250" dirty="0"/>
          </a:p>
        </p:txBody>
      </p:sp>
      <p:sp>
        <p:nvSpPr>
          <p:cNvPr id="10" name="Shape 8"/>
          <p:cNvSpPr/>
          <p:nvPr/>
        </p:nvSpPr>
        <p:spPr>
          <a:xfrm>
            <a:off x="868680" y="3291840"/>
            <a:ext cx="4754880" cy="182880"/>
          </a:xfrm>
          <a:prstGeom prst="rect">
            <a:avLst/>
          </a:prstGeom>
          <a:solidFill>
            <a:srgbClr val="FFFFFF"/>
          </a:solidFill>
          <a:ln w="12700">
            <a:solidFill>
              <a:srgbClr val="FFFFFF"/>
            </a:solidFill>
            <a:prstDash val="solid"/>
          </a:ln>
        </p:spPr>
        <p:txBody>
          <a:bodyPr/>
          <a:lstStyle/>
          <a:p>
            <a:endParaRPr lang="en-CA"/>
          </a:p>
        </p:txBody>
      </p:sp>
      <p:sp>
        <p:nvSpPr>
          <p:cNvPr id="11" name="Shape 9"/>
          <p:cNvSpPr/>
          <p:nvPr/>
        </p:nvSpPr>
        <p:spPr>
          <a:xfrm>
            <a:off x="868680" y="3291840"/>
            <a:ext cx="310896" cy="182880"/>
          </a:xfrm>
          <a:prstGeom prst="rect">
            <a:avLst/>
          </a:prstGeom>
          <a:solidFill>
            <a:srgbClr val="8A94A3"/>
          </a:solidFill>
          <a:ln w="12700">
            <a:solidFill>
              <a:srgbClr val="8A94A3"/>
            </a:solidFill>
            <a:prstDash val="solid"/>
          </a:ln>
        </p:spPr>
        <p:txBody>
          <a:bodyPr/>
          <a:lstStyle/>
          <a:p>
            <a:endParaRPr lang="en-CA"/>
          </a:p>
        </p:txBody>
      </p:sp>
      <p:sp>
        <p:nvSpPr>
          <p:cNvPr id="12" name="Text 10"/>
          <p:cNvSpPr txBox="1"/>
          <p:nvPr/>
        </p:nvSpPr>
        <p:spPr>
          <a:xfrm>
            <a:off x="868680" y="3749040"/>
            <a:ext cx="4754880" cy="228600"/>
          </a:xfrm>
          <a:prstGeom prst="rect">
            <a:avLst/>
          </a:prstGeom>
          <a:noFill/>
          <a:ln/>
        </p:spPr>
        <p:txBody>
          <a:bodyPr wrap="square" lIns="0" tIns="0" rIns="0" bIns="0" rtlCol="0" anchor="t"/>
          <a:lstStyle/>
          <a:p>
            <a:pPr marL="0" indent="0">
              <a:buNone/>
            </a:pPr>
            <a:r>
              <a:rPr lang="en-US" sz="950" b="1" kern="0" spc="100" dirty="0">
                <a:solidFill>
                  <a:srgbClr val="5B6675"/>
                </a:solidFill>
                <a:latin typeface="Calibri" pitchFamily="34" charset="0"/>
                <a:ea typeface="Calibri" pitchFamily="34" charset="-122"/>
                <a:cs typeface="Calibri" pitchFamily="34" charset="-120"/>
              </a:rPr>
              <a:t>WHO IS ON THE LIST</a:t>
            </a:r>
            <a:endParaRPr lang="en-US" sz="950" dirty="0"/>
          </a:p>
        </p:txBody>
      </p:sp>
      <p:sp>
        <p:nvSpPr>
          <p:cNvPr id="13" name="Shape 11"/>
          <p:cNvSpPr/>
          <p:nvPr/>
        </p:nvSpPr>
        <p:spPr>
          <a:xfrm>
            <a:off x="868680" y="4023360"/>
            <a:ext cx="4754880" cy="384048"/>
          </a:xfrm>
          <a:prstGeom prst="rect">
            <a:avLst/>
          </a:prstGeom>
          <a:solidFill>
            <a:srgbClr val="7F8691"/>
          </a:solidFill>
          <a:ln w="12700">
            <a:solidFill>
              <a:srgbClr val="FFFFFF"/>
            </a:solidFill>
            <a:prstDash val="solid"/>
          </a:ln>
        </p:spPr>
        <p:txBody>
          <a:bodyPr/>
          <a:lstStyle/>
          <a:p>
            <a:endParaRPr lang="en-CA"/>
          </a:p>
        </p:txBody>
      </p:sp>
      <p:sp>
        <p:nvSpPr>
          <p:cNvPr id="14" name="Text 12"/>
          <p:cNvSpPr txBox="1"/>
          <p:nvPr/>
        </p:nvSpPr>
        <p:spPr>
          <a:xfrm>
            <a:off x="868680" y="4023360"/>
            <a:ext cx="47548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100 Gone Quiet</a:t>
            </a:r>
            <a:endParaRPr lang="en-US" sz="1200" dirty="0"/>
          </a:p>
        </p:txBody>
      </p:sp>
      <p:sp>
        <p:nvSpPr>
          <p:cNvPr id="15" name="Text 13"/>
          <p:cNvSpPr txBox="1"/>
          <p:nvPr/>
        </p:nvSpPr>
        <p:spPr>
          <a:xfrm>
            <a:off x="868680" y="4480560"/>
            <a:ext cx="4846320" cy="256032"/>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Every one is a Gone Quiet customer</a:t>
            </a:r>
            <a:endParaRPr lang="en-US" sz="1150" dirty="0"/>
          </a:p>
        </p:txBody>
      </p:sp>
      <p:sp>
        <p:nvSpPr>
          <p:cNvPr id="16" name="Text 14"/>
          <p:cNvSpPr txBox="1"/>
          <p:nvPr/>
        </p:nvSpPr>
        <p:spPr>
          <a:xfrm>
            <a:off x="868680" y="4846320"/>
            <a:ext cx="4846320" cy="502920"/>
          </a:xfrm>
          <a:prstGeom prst="rect">
            <a:avLst/>
          </a:prstGeom>
          <a:noFill/>
          <a:ln/>
        </p:spPr>
        <p:txBody>
          <a:bodyPr wrap="square" lIns="0" tIns="0" rIns="0" bIns="0" rtlCol="0" anchor="t"/>
          <a:lstStyle/>
          <a:p>
            <a:pPr marL="0" indent="0">
              <a:buNone/>
            </a:pPr>
            <a:r>
              <a:rPr lang="en-US" sz="1350" dirty="0">
                <a:solidFill>
                  <a:srgbClr val="1E2B3A"/>
                </a:solidFill>
                <a:latin typeface="Calibri" pitchFamily="34" charset="0"/>
                <a:ea typeface="Calibri" pitchFamily="34" charset="-122"/>
                <a:cs typeface="Calibri" pitchFamily="34" charset="-120"/>
              </a:rPr>
              <a:t>Typical customer: 1 order, £147 spent, last order 484 days before the cutoff.</a:t>
            </a:r>
            <a:endParaRPr lang="en-US" sz="1350" dirty="0"/>
          </a:p>
        </p:txBody>
      </p:sp>
      <p:sp>
        <p:nvSpPr>
          <p:cNvPr id="17" name="Shape 15"/>
          <p:cNvSpPr/>
          <p:nvPr/>
        </p:nvSpPr>
        <p:spPr>
          <a:xfrm>
            <a:off x="6217920" y="1691640"/>
            <a:ext cx="5422392" cy="3794760"/>
          </a:xfrm>
          <a:prstGeom prst="roundRect">
            <a:avLst>
              <a:gd name="adj" fmla="val 1928"/>
            </a:avLst>
          </a:prstGeom>
          <a:solidFill>
            <a:srgbClr val="E6F2ED"/>
          </a:solidFill>
          <a:ln w="12700">
            <a:solidFill>
              <a:srgbClr val="E6F2ED"/>
            </a:solidFill>
            <a:prstDash val="solid"/>
          </a:ln>
        </p:spPr>
        <p:txBody>
          <a:bodyPr/>
          <a:lstStyle/>
          <a:p>
            <a:endParaRPr lang="en-CA"/>
          </a:p>
        </p:txBody>
      </p:sp>
      <p:sp>
        <p:nvSpPr>
          <p:cNvPr id="18" name="Text 16"/>
          <p:cNvSpPr txBox="1"/>
          <p:nvPr/>
        </p:nvSpPr>
        <p:spPr>
          <a:xfrm>
            <a:off x="6537960" y="1828800"/>
            <a:ext cx="4754880" cy="365760"/>
          </a:xfrm>
          <a:prstGeom prst="rect">
            <a:avLst/>
          </a:prstGeom>
          <a:noFill/>
          <a:ln/>
        </p:spPr>
        <p:txBody>
          <a:bodyPr wrap="square" lIns="0" tIns="0" rIns="0" bIns="0" rtlCol="0" anchor="t"/>
          <a:lstStyle/>
          <a:p>
            <a:pPr marL="0" indent="0">
              <a:buNone/>
            </a:pPr>
            <a:r>
              <a:rPr lang="en-US" sz="1700" b="1" dirty="0">
                <a:solidFill>
                  <a:srgbClr val="1E2B3A"/>
                </a:solidFill>
                <a:latin typeface="Calibri" pitchFamily="34" charset="0"/>
                <a:ea typeface="Calibri" pitchFamily="34" charset="-122"/>
                <a:cs typeface="Calibri" pitchFamily="34" charset="-120"/>
              </a:rPr>
              <a:t>Top 100 by value at risk</a:t>
            </a:r>
            <a:endParaRPr lang="en-US" sz="1700" dirty="0"/>
          </a:p>
        </p:txBody>
      </p:sp>
      <p:sp>
        <p:nvSpPr>
          <p:cNvPr id="19" name="Text 17"/>
          <p:cNvSpPr txBox="1"/>
          <p:nvPr/>
        </p:nvSpPr>
        <p:spPr>
          <a:xfrm>
            <a:off x="6537960" y="2194560"/>
            <a:ext cx="1463040" cy="685800"/>
          </a:xfrm>
          <a:prstGeom prst="rect">
            <a:avLst/>
          </a:prstGeom>
          <a:noFill/>
          <a:ln/>
        </p:spPr>
        <p:txBody>
          <a:bodyPr wrap="square" lIns="0" tIns="0" rIns="0" bIns="0" rtlCol="0" anchor="t"/>
          <a:lstStyle/>
          <a:p>
            <a:pPr marL="0" indent="0">
              <a:buNone/>
            </a:pPr>
            <a:r>
              <a:rPr lang="en-US" sz="3800" b="1" dirty="0">
                <a:solidFill>
                  <a:srgbClr val="1E2B3A"/>
                </a:solidFill>
                <a:latin typeface="Cambria" pitchFamily="34" charset="0"/>
                <a:ea typeface="Cambria" pitchFamily="34" charset="-122"/>
                <a:cs typeface="Cambria" pitchFamily="34" charset="-120"/>
              </a:rPr>
              <a:t>46</a:t>
            </a:r>
            <a:endParaRPr lang="en-US" sz="3800" dirty="0"/>
          </a:p>
        </p:txBody>
      </p:sp>
      <p:sp>
        <p:nvSpPr>
          <p:cNvPr id="20" name="Text 18"/>
          <p:cNvSpPr txBox="1"/>
          <p:nvPr/>
        </p:nvSpPr>
        <p:spPr>
          <a:xfrm>
            <a:off x="6537960" y="2880360"/>
            <a:ext cx="1645920"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of 100 left</a:t>
            </a:r>
            <a:endParaRPr lang="en-US" sz="1250" dirty="0"/>
          </a:p>
        </p:txBody>
      </p:sp>
      <p:sp>
        <p:nvSpPr>
          <p:cNvPr id="21" name="Text 19"/>
          <p:cNvSpPr txBox="1"/>
          <p:nvPr/>
        </p:nvSpPr>
        <p:spPr>
          <a:xfrm>
            <a:off x="8321040" y="2194560"/>
            <a:ext cx="3017520" cy="685800"/>
          </a:xfrm>
          <a:prstGeom prst="rect">
            <a:avLst/>
          </a:prstGeom>
          <a:noFill/>
          <a:ln/>
        </p:spPr>
        <p:txBody>
          <a:bodyPr wrap="square" lIns="0" tIns="0" rIns="0" bIns="0" rtlCol="0" anchor="t"/>
          <a:lstStyle/>
          <a:p>
            <a:pPr marL="0" indent="0">
              <a:buNone/>
            </a:pPr>
            <a:r>
              <a:rPr lang="en-US" sz="3800" b="1" dirty="0">
                <a:solidFill>
                  <a:srgbClr val="1F7A5C"/>
                </a:solidFill>
                <a:latin typeface="Cambria" pitchFamily="34" charset="0"/>
                <a:ea typeface="Cambria" pitchFamily="34" charset="-122"/>
                <a:cs typeface="Cambria" pitchFamily="34" charset="-120"/>
              </a:rPr>
              <a:t>£249,055</a:t>
            </a:r>
            <a:endParaRPr lang="en-US" sz="3800" dirty="0"/>
          </a:p>
        </p:txBody>
      </p:sp>
      <p:sp>
        <p:nvSpPr>
          <p:cNvPr id="22" name="Text 20"/>
          <p:cNvSpPr txBox="1"/>
          <p:nvPr/>
        </p:nvSpPr>
        <p:spPr>
          <a:xfrm>
            <a:off x="8321040" y="2880360"/>
            <a:ext cx="3108960"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past spend among those who left</a:t>
            </a:r>
            <a:endParaRPr lang="en-US" sz="1250" dirty="0"/>
          </a:p>
        </p:txBody>
      </p:sp>
      <p:sp>
        <p:nvSpPr>
          <p:cNvPr id="23" name="Shape 21"/>
          <p:cNvSpPr/>
          <p:nvPr/>
        </p:nvSpPr>
        <p:spPr>
          <a:xfrm>
            <a:off x="6537960" y="3291840"/>
            <a:ext cx="4754880" cy="182880"/>
          </a:xfrm>
          <a:prstGeom prst="rect">
            <a:avLst/>
          </a:prstGeom>
          <a:solidFill>
            <a:srgbClr val="FFFFFF"/>
          </a:solidFill>
          <a:ln w="12700">
            <a:solidFill>
              <a:srgbClr val="FFFFFF"/>
            </a:solidFill>
            <a:prstDash val="solid"/>
          </a:ln>
        </p:spPr>
        <p:txBody>
          <a:bodyPr/>
          <a:lstStyle/>
          <a:p>
            <a:endParaRPr lang="en-CA"/>
          </a:p>
        </p:txBody>
      </p:sp>
      <p:sp>
        <p:nvSpPr>
          <p:cNvPr id="24" name="Shape 22"/>
          <p:cNvSpPr/>
          <p:nvPr/>
        </p:nvSpPr>
        <p:spPr>
          <a:xfrm>
            <a:off x="6537960" y="3291840"/>
            <a:ext cx="4754880" cy="182880"/>
          </a:xfrm>
          <a:prstGeom prst="rect">
            <a:avLst/>
          </a:prstGeom>
          <a:solidFill>
            <a:srgbClr val="1F7A5C"/>
          </a:solidFill>
          <a:ln w="12700">
            <a:solidFill>
              <a:srgbClr val="1F7A5C"/>
            </a:solidFill>
            <a:prstDash val="solid"/>
          </a:ln>
        </p:spPr>
        <p:txBody>
          <a:bodyPr/>
          <a:lstStyle/>
          <a:p>
            <a:endParaRPr lang="en-CA"/>
          </a:p>
        </p:txBody>
      </p:sp>
      <p:sp>
        <p:nvSpPr>
          <p:cNvPr id="25" name="Text 23"/>
          <p:cNvSpPr txBox="1"/>
          <p:nvPr/>
        </p:nvSpPr>
        <p:spPr>
          <a:xfrm>
            <a:off x="6537960" y="3749040"/>
            <a:ext cx="4754880" cy="228600"/>
          </a:xfrm>
          <a:prstGeom prst="rect">
            <a:avLst/>
          </a:prstGeom>
          <a:noFill/>
          <a:ln/>
        </p:spPr>
        <p:txBody>
          <a:bodyPr wrap="square" lIns="0" tIns="0" rIns="0" bIns="0" rtlCol="0" anchor="t"/>
          <a:lstStyle/>
          <a:p>
            <a:pPr marL="0" indent="0">
              <a:buNone/>
            </a:pPr>
            <a:r>
              <a:rPr lang="en-US" sz="950" b="1" kern="0" spc="100" dirty="0">
                <a:solidFill>
                  <a:srgbClr val="5B6675"/>
                </a:solidFill>
                <a:latin typeface="Calibri" pitchFamily="34" charset="0"/>
                <a:ea typeface="Calibri" pitchFamily="34" charset="-122"/>
                <a:cs typeface="Calibri" pitchFamily="34" charset="-120"/>
              </a:rPr>
              <a:t>WHO IS ON THE LIST</a:t>
            </a:r>
            <a:endParaRPr lang="en-US" sz="950" dirty="0"/>
          </a:p>
        </p:txBody>
      </p:sp>
      <p:sp>
        <p:nvSpPr>
          <p:cNvPr id="26" name="Shape 24"/>
          <p:cNvSpPr/>
          <p:nvPr/>
        </p:nvSpPr>
        <p:spPr>
          <a:xfrm>
            <a:off x="6537960" y="4023360"/>
            <a:ext cx="1997050" cy="384048"/>
          </a:xfrm>
          <a:prstGeom prst="rect">
            <a:avLst/>
          </a:prstGeom>
          <a:solidFill>
            <a:srgbClr val="C0404A"/>
          </a:solidFill>
          <a:ln w="12700">
            <a:solidFill>
              <a:srgbClr val="FFFFFF"/>
            </a:solidFill>
            <a:prstDash val="solid"/>
          </a:ln>
        </p:spPr>
        <p:txBody>
          <a:bodyPr/>
          <a:lstStyle/>
          <a:p>
            <a:endParaRPr lang="en-CA"/>
          </a:p>
        </p:txBody>
      </p:sp>
      <p:sp>
        <p:nvSpPr>
          <p:cNvPr id="27" name="Text 25"/>
          <p:cNvSpPr txBox="1"/>
          <p:nvPr/>
        </p:nvSpPr>
        <p:spPr>
          <a:xfrm>
            <a:off x="6537960" y="4023360"/>
            <a:ext cx="199705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42</a:t>
            </a:r>
            <a:endParaRPr lang="en-US" sz="1200" dirty="0"/>
          </a:p>
        </p:txBody>
      </p:sp>
      <p:sp>
        <p:nvSpPr>
          <p:cNvPr id="28" name="Shape 26"/>
          <p:cNvSpPr/>
          <p:nvPr/>
        </p:nvSpPr>
        <p:spPr>
          <a:xfrm>
            <a:off x="8535010" y="4023360"/>
            <a:ext cx="1521562" cy="384048"/>
          </a:xfrm>
          <a:prstGeom prst="rect">
            <a:avLst/>
          </a:prstGeom>
          <a:solidFill>
            <a:srgbClr val="2E6FB0"/>
          </a:solidFill>
          <a:ln w="12700">
            <a:solidFill>
              <a:srgbClr val="FFFFFF"/>
            </a:solidFill>
            <a:prstDash val="solid"/>
          </a:ln>
        </p:spPr>
        <p:txBody>
          <a:bodyPr/>
          <a:lstStyle/>
          <a:p>
            <a:endParaRPr lang="en-CA"/>
          </a:p>
        </p:txBody>
      </p:sp>
      <p:sp>
        <p:nvSpPr>
          <p:cNvPr id="29" name="Text 27"/>
          <p:cNvSpPr txBox="1"/>
          <p:nvPr/>
        </p:nvSpPr>
        <p:spPr>
          <a:xfrm>
            <a:off x="8535010" y="4023360"/>
            <a:ext cx="152156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32</a:t>
            </a:r>
            <a:endParaRPr lang="en-US" sz="1200" dirty="0"/>
          </a:p>
        </p:txBody>
      </p:sp>
      <p:sp>
        <p:nvSpPr>
          <p:cNvPr id="30" name="Shape 28"/>
          <p:cNvSpPr/>
          <p:nvPr/>
        </p:nvSpPr>
        <p:spPr>
          <a:xfrm>
            <a:off x="10056571" y="4023360"/>
            <a:ext cx="1046074" cy="384048"/>
          </a:xfrm>
          <a:prstGeom prst="rect">
            <a:avLst/>
          </a:prstGeom>
          <a:solidFill>
            <a:srgbClr val="1F7A5C"/>
          </a:solidFill>
          <a:ln w="12700">
            <a:solidFill>
              <a:srgbClr val="FFFFFF"/>
            </a:solidFill>
            <a:prstDash val="solid"/>
          </a:ln>
        </p:spPr>
        <p:txBody>
          <a:bodyPr/>
          <a:lstStyle/>
          <a:p>
            <a:endParaRPr lang="en-CA"/>
          </a:p>
        </p:txBody>
      </p:sp>
      <p:sp>
        <p:nvSpPr>
          <p:cNvPr id="31" name="Text 29"/>
          <p:cNvSpPr txBox="1"/>
          <p:nvPr/>
        </p:nvSpPr>
        <p:spPr>
          <a:xfrm>
            <a:off x="10056571" y="4023360"/>
            <a:ext cx="1046074"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22</a:t>
            </a:r>
            <a:endParaRPr lang="en-US" sz="1200" dirty="0"/>
          </a:p>
        </p:txBody>
      </p:sp>
      <p:sp>
        <p:nvSpPr>
          <p:cNvPr id="32" name="Shape 30"/>
          <p:cNvSpPr/>
          <p:nvPr/>
        </p:nvSpPr>
        <p:spPr>
          <a:xfrm>
            <a:off x="11102645" y="4023360"/>
            <a:ext cx="190195" cy="384048"/>
          </a:xfrm>
          <a:prstGeom prst="rect">
            <a:avLst/>
          </a:prstGeom>
          <a:solidFill>
            <a:srgbClr val="7F8691"/>
          </a:solidFill>
          <a:ln w="12700">
            <a:solidFill>
              <a:srgbClr val="FFFFFF"/>
            </a:solidFill>
            <a:prstDash val="solid"/>
          </a:ln>
        </p:spPr>
        <p:txBody>
          <a:bodyPr/>
          <a:lstStyle/>
          <a:p>
            <a:endParaRPr lang="en-CA"/>
          </a:p>
        </p:txBody>
      </p:sp>
      <p:sp>
        <p:nvSpPr>
          <p:cNvPr id="33" name="Text 31"/>
          <p:cNvSpPr txBox="1"/>
          <p:nvPr/>
        </p:nvSpPr>
        <p:spPr>
          <a:xfrm>
            <a:off x="11102645" y="4023360"/>
            <a:ext cx="190195"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4" name="Text 32"/>
          <p:cNvSpPr txBox="1"/>
          <p:nvPr/>
        </p:nvSpPr>
        <p:spPr>
          <a:xfrm>
            <a:off x="6537960" y="4480560"/>
            <a:ext cx="4846320" cy="256032"/>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Fading Big Spenders 42 · Steady Regulars 32 · Top Customers 22 · Gone Quiet 4</a:t>
            </a:r>
            <a:endParaRPr lang="en-US" sz="1150" dirty="0"/>
          </a:p>
        </p:txBody>
      </p:sp>
      <p:sp>
        <p:nvSpPr>
          <p:cNvPr id="35" name="Text 33"/>
          <p:cNvSpPr txBox="1"/>
          <p:nvPr/>
        </p:nvSpPr>
        <p:spPr>
          <a:xfrm>
            <a:off x="6537960" y="4846320"/>
            <a:ext cx="4846320" cy="502920"/>
          </a:xfrm>
          <a:prstGeom prst="rect">
            <a:avLst/>
          </a:prstGeom>
          <a:noFill/>
          <a:ln/>
        </p:spPr>
        <p:txBody>
          <a:bodyPr wrap="square" lIns="0" tIns="0" rIns="0" bIns="0" rtlCol="0" anchor="t"/>
          <a:lstStyle/>
          <a:p>
            <a:pPr marL="0" indent="0">
              <a:buNone/>
            </a:pPr>
            <a:r>
              <a:rPr lang="en-US" sz="1350" dirty="0">
                <a:solidFill>
                  <a:srgbClr val="1E2B3A"/>
                </a:solidFill>
                <a:latin typeface="Calibri" pitchFamily="34" charset="0"/>
                <a:ea typeface="Calibri" pitchFamily="34" charset="-122"/>
                <a:cs typeface="Calibri" pitchFamily="34" charset="-120"/>
              </a:rPr>
              <a:t>Typical customer: 6 orders, £3,619 spent, last order 147 days before the cutoff.</a:t>
            </a:r>
            <a:endParaRPr lang="en-US" sz="1350" dirty="0"/>
          </a:p>
        </p:txBody>
      </p:sp>
      <p:sp>
        <p:nvSpPr>
          <p:cNvPr id="36" name="Shape 34"/>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37" name="Text 35"/>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The churn risk list is right more often, but about customers worth little. The value at risk list is where retention effort pays.</a:t>
            </a:r>
            <a:endParaRPr lang="en-US" sz="1500" dirty="0"/>
          </a:p>
        </p:txBody>
      </p:sp>
      <p:sp>
        <p:nvSpPr>
          <p:cNvPr id="38" name="Text 36"/>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BEHIND THE NUMBERS</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Two real customers who both left: one had little to save, the other had spent almost £40,000</a:t>
            </a:r>
            <a:endParaRPr lang="en-US" sz="2600" dirty="0"/>
          </a:p>
        </p:txBody>
      </p:sp>
      <p:sp>
        <p:nvSpPr>
          <p:cNvPr id="4" name="Shape 2"/>
          <p:cNvSpPr/>
          <p:nvPr/>
        </p:nvSpPr>
        <p:spPr>
          <a:xfrm>
            <a:off x="548640" y="1691640"/>
            <a:ext cx="5422392" cy="3794760"/>
          </a:xfrm>
          <a:prstGeom prst="roundRect">
            <a:avLst>
              <a:gd name="adj" fmla="val 1928"/>
            </a:avLst>
          </a:prstGeom>
          <a:solidFill>
            <a:srgbClr val="EEEFF1"/>
          </a:solidFill>
          <a:ln w="12700">
            <a:solidFill>
              <a:srgbClr val="EEEFF1"/>
            </a:solidFill>
            <a:prstDash val="solid"/>
          </a:ln>
        </p:spPr>
        <p:txBody>
          <a:bodyPr/>
          <a:lstStyle/>
          <a:p>
            <a:endParaRPr lang="en-CA"/>
          </a:p>
        </p:txBody>
      </p:sp>
      <p:sp>
        <p:nvSpPr>
          <p:cNvPr id="5" name="Shape 3"/>
          <p:cNvSpPr/>
          <p:nvPr/>
        </p:nvSpPr>
        <p:spPr>
          <a:xfrm>
            <a:off x="868680" y="1874520"/>
            <a:ext cx="548640" cy="548640"/>
          </a:xfrm>
          <a:prstGeom prst="ellipse">
            <a:avLst/>
          </a:prstGeom>
          <a:solidFill>
            <a:srgbClr val="7F8691"/>
          </a:solidFill>
          <a:ln w="12700">
            <a:solidFill>
              <a:srgbClr val="7F8691"/>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1011326" y="2017166"/>
            <a:ext cx="263347" cy="263347"/>
          </a:xfrm>
          <a:prstGeom prst="rect">
            <a:avLst/>
          </a:prstGeom>
        </p:spPr>
      </p:pic>
      <p:sp>
        <p:nvSpPr>
          <p:cNvPr id="7" name="Text 4"/>
          <p:cNvSpPr txBox="1"/>
          <p:nvPr/>
        </p:nvSpPr>
        <p:spPr>
          <a:xfrm>
            <a:off x="1600200" y="1874520"/>
            <a:ext cx="4114800" cy="320040"/>
          </a:xfrm>
          <a:prstGeom prst="rect">
            <a:avLst/>
          </a:prstGeom>
          <a:noFill/>
          <a:ln/>
        </p:spPr>
        <p:txBody>
          <a:bodyPr wrap="square" lIns="0" tIns="0" rIns="0" bIns="0" rtlCol="0" anchor="t"/>
          <a:lstStyle/>
          <a:p>
            <a:pPr marL="0" indent="0">
              <a:buNone/>
            </a:pPr>
            <a:r>
              <a:rPr lang="en-US" sz="1700" b="1" dirty="0">
                <a:solidFill>
                  <a:srgbClr val="1E2B3A"/>
                </a:solidFill>
                <a:latin typeface="Calibri" pitchFamily="34" charset="0"/>
                <a:ea typeface="Calibri" pitchFamily="34" charset="-122"/>
                <a:cs typeface="Calibri" pitchFamily="34" charset="-120"/>
              </a:rPr>
              <a:t>Customer 13438</a:t>
            </a:r>
            <a:endParaRPr lang="en-US" sz="1700" dirty="0"/>
          </a:p>
        </p:txBody>
      </p:sp>
      <p:sp>
        <p:nvSpPr>
          <p:cNvPr id="8" name="Text 5"/>
          <p:cNvSpPr txBox="1"/>
          <p:nvPr/>
        </p:nvSpPr>
        <p:spPr>
          <a:xfrm>
            <a:off x="1600200" y="2194560"/>
            <a:ext cx="4114800"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Gone Quiet (Lapsed)</a:t>
            </a:r>
            <a:endParaRPr lang="en-US" sz="1250" dirty="0"/>
          </a:p>
        </p:txBody>
      </p:sp>
      <p:sp>
        <p:nvSpPr>
          <p:cNvPr id="9" name="Text 6"/>
          <p:cNvSpPr txBox="1"/>
          <p:nvPr/>
        </p:nvSpPr>
        <p:spPr>
          <a:xfrm>
            <a:off x="868680" y="2743200"/>
            <a:ext cx="1600200" cy="50292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1</a:t>
            </a:r>
            <a:endParaRPr lang="en-US" sz="2600" dirty="0"/>
          </a:p>
        </p:txBody>
      </p:sp>
      <p:sp>
        <p:nvSpPr>
          <p:cNvPr id="10" name="Text 7"/>
          <p:cNvSpPr txBox="1"/>
          <p:nvPr/>
        </p:nvSpPr>
        <p:spPr>
          <a:xfrm>
            <a:off x="868680" y="3273552"/>
            <a:ext cx="1600200"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order placed</a:t>
            </a:r>
            <a:endParaRPr lang="en-US" sz="1250" dirty="0"/>
          </a:p>
        </p:txBody>
      </p:sp>
      <p:sp>
        <p:nvSpPr>
          <p:cNvPr id="11" name="Text 8"/>
          <p:cNvSpPr txBox="1"/>
          <p:nvPr/>
        </p:nvSpPr>
        <p:spPr>
          <a:xfrm>
            <a:off x="2514600" y="2743200"/>
            <a:ext cx="1600200" cy="50292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£46.50</a:t>
            </a:r>
            <a:endParaRPr lang="en-US" sz="2600" dirty="0"/>
          </a:p>
        </p:txBody>
      </p:sp>
      <p:sp>
        <p:nvSpPr>
          <p:cNvPr id="12" name="Text 9"/>
          <p:cNvSpPr txBox="1"/>
          <p:nvPr/>
        </p:nvSpPr>
        <p:spPr>
          <a:xfrm>
            <a:off x="2514600" y="3273552"/>
            <a:ext cx="1600200"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spent in total</a:t>
            </a:r>
            <a:endParaRPr lang="en-US" sz="1250" dirty="0"/>
          </a:p>
        </p:txBody>
      </p:sp>
      <p:sp>
        <p:nvSpPr>
          <p:cNvPr id="13" name="Text 10"/>
          <p:cNvSpPr txBox="1"/>
          <p:nvPr/>
        </p:nvSpPr>
        <p:spPr>
          <a:xfrm>
            <a:off x="4160520" y="2743200"/>
            <a:ext cx="1600200" cy="50292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455 days</a:t>
            </a:r>
            <a:endParaRPr lang="en-US" sz="2600" dirty="0"/>
          </a:p>
        </p:txBody>
      </p:sp>
      <p:sp>
        <p:nvSpPr>
          <p:cNvPr id="14" name="Text 11"/>
          <p:cNvSpPr txBox="1"/>
          <p:nvPr/>
        </p:nvSpPr>
        <p:spPr>
          <a:xfrm>
            <a:off x="4160520" y="3273552"/>
            <a:ext cx="1600200"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since last order</a:t>
            </a:r>
            <a:endParaRPr lang="en-US" sz="1250" dirty="0"/>
          </a:p>
        </p:txBody>
      </p:sp>
      <p:sp>
        <p:nvSpPr>
          <p:cNvPr id="15" name="Text 12"/>
          <p:cNvSpPr txBox="1"/>
          <p:nvPr/>
        </p:nvSpPr>
        <p:spPr>
          <a:xfrm>
            <a:off x="868680" y="3840480"/>
            <a:ext cx="4846320" cy="365760"/>
          </a:xfrm>
          <a:prstGeom prst="rect">
            <a:avLst/>
          </a:prstGeom>
          <a:noFill/>
          <a:ln/>
        </p:spPr>
        <p:txBody>
          <a:bodyPr wrap="square" lIns="0" tIns="0" rIns="0" bIns="0" rtlCol="0" anchor="t"/>
          <a:lstStyle/>
          <a:p>
            <a:pPr marL="0" indent="0">
              <a:buNone/>
            </a:pPr>
            <a:r>
              <a:rPr lang="en-US" sz="1700" dirty="0">
                <a:solidFill>
                  <a:srgbClr val="5B6675"/>
                </a:solidFill>
                <a:latin typeface="Calibri" pitchFamily="34" charset="0"/>
                <a:ea typeface="Calibri" pitchFamily="34" charset="-122"/>
                <a:cs typeface="Calibri" pitchFamily="34" charset="-120"/>
              </a:rPr>
              <a:t>Churn risk </a:t>
            </a:r>
            <a:r>
              <a:rPr lang="en-US" sz="1700" b="1" dirty="0">
                <a:solidFill>
                  <a:srgbClr val="1E2B3A"/>
                </a:solidFill>
                <a:latin typeface="Calibri" pitchFamily="34" charset="0"/>
                <a:ea typeface="Calibri" pitchFamily="34" charset="-122"/>
                <a:cs typeface="Calibri" pitchFamily="34" charset="-120"/>
              </a:rPr>
              <a:t>94%</a:t>
            </a:r>
            <a:r>
              <a:rPr lang="en-US" sz="1700" dirty="0">
                <a:solidFill>
                  <a:srgbClr val="5B6675"/>
                </a:solidFill>
                <a:latin typeface="Calibri" pitchFamily="34" charset="0"/>
                <a:ea typeface="Calibri" pitchFamily="34" charset="-122"/>
                <a:cs typeface="Calibri" pitchFamily="34" charset="-120"/>
              </a:rPr>
              <a:t>     Value at risk </a:t>
            </a:r>
            <a:r>
              <a:rPr lang="en-US" sz="1700" b="1" dirty="0">
                <a:solidFill>
                  <a:srgbClr val="1E2B3A"/>
                </a:solidFill>
                <a:latin typeface="Calibri" pitchFamily="34" charset="0"/>
                <a:ea typeface="Calibri" pitchFamily="34" charset="-122"/>
                <a:cs typeface="Calibri" pitchFamily="34" charset="-120"/>
              </a:rPr>
              <a:t>£44</a:t>
            </a:r>
            <a:endParaRPr lang="en-US" sz="1700" dirty="0"/>
          </a:p>
        </p:txBody>
      </p:sp>
      <p:sp>
        <p:nvSpPr>
          <p:cNvPr id="16" name="Text 13"/>
          <p:cNvSpPr txBox="1"/>
          <p:nvPr/>
        </p:nvSpPr>
        <p:spPr>
          <a:xfrm>
            <a:off x="868680" y="4434840"/>
            <a:ext cx="4800600" cy="914400"/>
          </a:xfrm>
          <a:prstGeom prst="rect">
            <a:avLst/>
          </a:prstGeom>
          <a:noFill/>
          <a:ln/>
        </p:spPr>
        <p:txBody>
          <a:bodyPr wrap="square" lIns="0" tIns="0" rIns="0" bIns="0" rtlCol="0" anchor="t"/>
          <a:lstStyle/>
          <a:p>
            <a:pPr marL="0" indent="0">
              <a:buNone/>
            </a:pPr>
            <a:r>
              <a:rPr lang="en-US" sz="1500" dirty="0">
                <a:solidFill>
                  <a:srgbClr val="1E2B3A"/>
                </a:solidFill>
                <a:latin typeface="Calibri" pitchFamily="34" charset="0"/>
                <a:ea typeface="Calibri" pitchFamily="34" charset="-122"/>
                <a:cs typeface="Calibri" pitchFamily="34" charset="-120"/>
              </a:rPr>
              <a:t>8th on the churn risk list. The model was right: they did not order again. But there was very little to save.</a:t>
            </a:r>
            <a:endParaRPr lang="en-US" sz="1500" dirty="0"/>
          </a:p>
        </p:txBody>
      </p:sp>
      <p:sp>
        <p:nvSpPr>
          <p:cNvPr id="17" name="Shape 14"/>
          <p:cNvSpPr/>
          <p:nvPr/>
        </p:nvSpPr>
        <p:spPr>
          <a:xfrm>
            <a:off x="6217920" y="1691640"/>
            <a:ext cx="5422392" cy="3794760"/>
          </a:xfrm>
          <a:prstGeom prst="roundRect">
            <a:avLst>
              <a:gd name="adj" fmla="val 1928"/>
            </a:avLst>
          </a:prstGeom>
          <a:solidFill>
            <a:srgbClr val="E7EFF8"/>
          </a:solidFill>
          <a:ln w="12700">
            <a:solidFill>
              <a:srgbClr val="E7EFF8"/>
            </a:solidFill>
            <a:prstDash val="solid"/>
          </a:ln>
        </p:spPr>
        <p:txBody>
          <a:bodyPr/>
          <a:lstStyle/>
          <a:p>
            <a:endParaRPr lang="en-CA"/>
          </a:p>
        </p:txBody>
      </p:sp>
      <p:sp>
        <p:nvSpPr>
          <p:cNvPr id="18" name="Shape 15"/>
          <p:cNvSpPr/>
          <p:nvPr/>
        </p:nvSpPr>
        <p:spPr>
          <a:xfrm>
            <a:off x="6537960" y="1874520"/>
            <a:ext cx="548640" cy="548640"/>
          </a:xfrm>
          <a:prstGeom prst="ellipse">
            <a:avLst/>
          </a:prstGeom>
          <a:solidFill>
            <a:srgbClr val="2E6FB0"/>
          </a:solidFill>
          <a:ln w="12700">
            <a:solidFill>
              <a:srgbClr val="2E6FB0"/>
            </a:solidFill>
            <a:prstDash val="solid"/>
          </a:ln>
        </p:spPr>
        <p:txBody>
          <a:bodyPr/>
          <a:lstStyle/>
          <a:p>
            <a:endParaRPr lang="en-CA"/>
          </a:p>
        </p:txBody>
      </p:sp>
      <p:pic>
        <p:nvPicPr>
          <p:cNvPr id="19" name="Image 1" descr="preencoded.png"/>
          <p:cNvPicPr>
            <a:picLocks noChangeAspect="1"/>
          </p:cNvPicPr>
          <p:nvPr/>
        </p:nvPicPr>
        <p:blipFill>
          <a:blip r:embed="rId4"/>
          <a:stretch>
            <a:fillRect/>
          </a:stretch>
        </p:blipFill>
        <p:spPr>
          <a:xfrm>
            <a:off x="6680606" y="2017166"/>
            <a:ext cx="263347" cy="263347"/>
          </a:xfrm>
          <a:prstGeom prst="rect">
            <a:avLst/>
          </a:prstGeom>
        </p:spPr>
      </p:pic>
      <p:sp>
        <p:nvSpPr>
          <p:cNvPr id="20" name="Text 16"/>
          <p:cNvSpPr txBox="1"/>
          <p:nvPr/>
        </p:nvSpPr>
        <p:spPr>
          <a:xfrm>
            <a:off x="7269480" y="1874520"/>
            <a:ext cx="4114800" cy="320040"/>
          </a:xfrm>
          <a:prstGeom prst="rect">
            <a:avLst/>
          </a:prstGeom>
          <a:noFill/>
          <a:ln/>
        </p:spPr>
        <p:txBody>
          <a:bodyPr wrap="square" lIns="0" tIns="0" rIns="0" bIns="0" rtlCol="0" anchor="t"/>
          <a:lstStyle/>
          <a:p>
            <a:pPr marL="0" indent="0">
              <a:buNone/>
            </a:pPr>
            <a:r>
              <a:rPr lang="en-US" sz="1700" b="1" dirty="0">
                <a:solidFill>
                  <a:srgbClr val="1E2B3A"/>
                </a:solidFill>
                <a:latin typeface="Calibri" pitchFamily="34" charset="0"/>
                <a:ea typeface="Calibri" pitchFamily="34" charset="-122"/>
                <a:cs typeface="Calibri" pitchFamily="34" charset="-120"/>
              </a:rPr>
              <a:t>Customer 15098</a:t>
            </a:r>
            <a:endParaRPr lang="en-US" sz="1700" dirty="0"/>
          </a:p>
        </p:txBody>
      </p:sp>
      <p:sp>
        <p:nvSpPr>
          <p:cNvPr id="21" name="Text 17"/>
          <p:cNvSpPr txBox="1"/>
          <p:nvPr/>
        </p:nvSpPr>
        <p:spPr>
          <a:xfrm>
            <a:off x="7269480" y="2194560"/>
            <a:ext cx="4114800"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Steady Regulars (Loyal)</a:t>
            </a:r>
            <a:endParaRPr lang="en-US" sz="1250" dirty="0"/>
          </a:p>
        </p:txBody>
      </p:sp>
      <p:sp>
        <p:nvSpPr>
          <p:cNvPr id="22" name="Text 18"/>
          <p:cNvSpPr txBox="1"/>
          <p:nvPr/>
        </p:nvSpPr>
        <p:spPr>
          <a:xfrm>
            <a:off x="6537960" y="2743200"/>
            <a:ext cx="1600200" cy="50292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3</a:t>
            </a:r>
            <a:endParaRPr lang="en-US" sz="2600" dirty="0"/>
          </a:p>
        </p:txBody>
      </p:sp>
      <p:sp>
        <p:nvSpPr>
          <p:cNvPr id="23" name="Text 19"/>
          <p:cNvSpPr txBox="1"/>
          <p:nvPr/>
        </p:nvSpPr>
        <p:spPr>
          <a:xfrm>
            <a:off x="6537960" y="3273552"/>
            <a:ext cx="1600200"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orders placed</a:t>
            </a:r>
            <a:endParaRPr lang="en-US" sz="1250" dirty="0"/>
          </a:p>
        </p:txBody>
      </p:sp>
      <p:sp>
        <p:nvSpPr>
          <p:cNvPr id="24" name="Text 20"/>
          <p:cNvSpPr txBox="1"/>
          <p:nvPr/>
        </p:nvSpPr>
        <p:spPr>
          <a:xfrm>
            <a:off x="8183880" y="2743200"/>
            <a:ext cx="1600200" cy="50292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£39,620</a:t>
            </a:r>
            <a:endParaRPr lang="en-US" sz="2600" dirty="0"/>
          </a:p>
        </p:txBody>
      </p:sp>
      <p:sp>
        <p:nvSpPr>
          <p:cNvPr id="25" name="Text 21"/>
          <p:cNvSpPr txBox="1"/>
          <p:nvPr/>
        </p:nvSpPr>
        <p:spPr>
          <a:xfrm>
            <a:off x="8183880" y="3273552"/>
            <a:ext cx="1600200"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spent in total</a:t>
            </a:r>
            <a:endParaRPr lang="en-US" sz="1250" dirty="0"/>
          </a:p>
        </p:txBody>
      </p:sp>
      <p:sp>
        <p:nvSpPr>
          <p:cNvPr id="26" name="Text 22"/>
          <p:cNvSpPr txBox="1"/>
          <p:nvPr/>
        </p:nvSpPr>
        <p:spPr>
          <a:xfrm>
            <a:off x="9829800" y="2743200"/>
            <a:ext cx="1600200" cy="50292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90 days</a:t>
            </a:r>
            <a:endParaRPr lang="en-US" sz="2600" dirty="0"/>
          </a:p>
        </p:txBody>
      </p:sp>
      <p:sp>
        <p:nvSpPr>
          <p:cNvPr id="27" name="Text 23"/>
          <p:cNvSpPr txBox="1"/>
          <p:nvPr/>
        </p:nvSpPr>
        <p:spPr>
          <a:xfrm>
            <a:off x="9829800" y="3273552"/>
            <a:ext cx="1600200"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since last order</a:t>
            </a:r>
            <a:endParaRPr lang="en-US" sz="1250" dirty="0"/>
          </a:p>
        </p:txBody>
      </p:sp>
      <p:sp>
        <p:nvSpPr>
          <p:cNvPr id="28" name="Text 24"/>
          <p:cNvSpPr txBox="1"/>
          <p:nvPr/>
        </p:nvSpPr>
        <p:spPr>
          <a:xfrm>
            <a:off x="6537960" y="3840480"/>
            <a:ext cx="4846320" cy="365760"/>
          </a:xfrm>
          <a:prstGeom prst="rect">
            <a:avLst/>
          </a:prstGeom>
          <a:noFill/>
          <a:ln/>
        </p:spPr>
        <p:txBody>
          <a:bodyPr wrap="square" lIns="0" tIns="0" rIns="0" bIns="0" rtlCol="0" anchor="t"/>
          <a:lstStyle/>
          <a:p>
            <a:pPr marL="0" indent="0">
              <a:buNone/>
            </a:pPr>
            <a:r>
              <a:rPr lang="en-US" sz="1700" dirty="0">
                <a:solidFill>
                  <a:srgbClr val="5B6675"/>
                </a:solidFill>
                <a:latin typeface="Calibri" pitchFamily="34" charset="0"/>
                <a:ea typeface="Calibri" pitchFamily="34" charset="-122"/>
                <a:cs typeface="Calibri" pitchFamily="34" charset="-120"/>
              </a:rPr>
              <a:t>Churn risk </a:t>
            </a:r>
            <a:r>
              <a:rPr lang="en-US" sz="1700" b="1" dirty="0">
                <a:solidFill>
                  <a:srgbClr val="1E2B3A"/>
                </a:solidFill>
                <a:latin typeface="Calibri" pitchFamily="34" charset="0"/>
                <a:ea typeface="Calibri" pitchFamily="34" charset="-122"/>
                <a:cs typeface="Calibri" pitchFamily="34" charset="-120"/>
              </a:rPr>
              <a:t>55%</a:t>
            </a:r>
            <a:r>
              <a:rPr lang="en-US" sz="1700" dirty="0">
                <a:solidFill>
                  <a:srgbClr val="5B6675"/>
                </a:solidFill>
                <a:latin typeface="Calibri" pitchFamily="34" charset="0"/>
                <a:ea typeface="Calibri" pitchFamily="34" charset="-122"/>
                <a:cs typeface="Calibri" pitchFamily="34" charset="-120"/>
              </a:rPr>
              <a:t>     Value at risk </a:t>
            </a:r>
            <a:r>
              <a:rPr lang="en-US" sz="1700" b="1" dirty="0">
                <a:solidFill>
                  <a:srgbClr val="1F7A5C"/>
                </a:solidFill>
                <a:latin typeface="Calibri" pitchFamily="34" charset="0"/>
                <a:ea typeface="Calibri" pitchFamily="34" charset="-122"/>
                <a:cs typeface="Calibri" pitchFamily="34" charset="-120"/>
              </a:rPr>
              <a:t>£21,632</a:t>
            </a:r>
            <a:endParaRPr lang="en-US" sz="1700" dirty="0"/>
          </a:p>
        </p:txBody>
      </p:sp>
      <p:sp>
        <p:nvSpPr>
          <p:cNvPr id="29" name="Text 25"/>
          <p:cNvSpPr txBox="1"/>
          <p:nvPr/>
        </p:nvSpPr>
        <p:spPr>
          <a:xfrm>
            <a:off x="6537960" y="4434840"/>
            <a:ext cx="4800600" cy="914400"/>
          </a:xfrm>
          <a:prstGeom prst="rect">
            <a:avLst/>
          </a:prstGeom>
          <a:noFill/>
          <a:ln/>
        </p:spPr>
        <p:txBody>
          <a:bodyPr wrap="square" lIns="0" tIns="0" rIns="0" bIns="0" rtlCol="0" anchor="t"/>
          <a:lstStyle/>
          <a:p>
            <a:pPr marL="0" indent="0">
              <a:buNone/>
            </a:pPr>
            <a:r>
              <a:rPr lang="en-US" sz="1500" dirty="0">
                <a:solidFill>
                  <a:srgbClr val="1E2B3A"/>
                </a:solidFill>
                <a:latin typeface="Calibri" pitchFamily="34" charset="0"/>
                <a:ea typeface="Calibri" pitchFamily="34" charset="-122"/>
                <a:cs typeface="Calibri" pitchFamily="34" charset="-120"/>
              </a:rPr>
              <a:t>1st on the value at risk list, but outside the top 100 by risk. They did not order again in the run-up to Christmas.</a:t>
            </a:r>
            <a:endParaRPr lang="en-US" sz="1500" dirty="0"/>
          </a:p>
        </p:txBody>
      </p:sp>
      <p:sp>
        <p:nvSpPr>
          <p:cNvPr id="30" name="Shape 26"/>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31" name="Text 27"/>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Customer 15098 alone had spent more than the whole top 100 of the risk-only list put together: £39,620 against £16,848.</a:t>
            </a:r>
            <a:endParaRPr lang="en-US" sz="1500" dirty="0"/>
          </a:p>
        </p:txBody>
      </p:sp>
      <p:sp>
        <p:nvSpPr>
          <p:cNvPr id="32" name="Text 28"/>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WHERE THE VALUE AT RISK SITS</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Steady Regulars and Fading Big Spenders hold the most value at risk</a:t>
            </a:r>
            <a:endParaRPr lang="en-US" sz="2600" dirty="0"/>
          </a:p>
        </p:txBody>
      </p:sp>
      <p:sp>
        <p:nvSpPr>
          <p:cNvPr id="4" name="Text 2"/>
          <p:cNvSpPr txBox="1"/>
          <p:nvPr/>
        </p:nvSpPr>
        <p:spPr>
          <a:xfrm>
            <a:off x="548640" y="1600200"/>
            <a:ext cx="5760720" cy="27432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Total value at risk by customer group, holiday test group (1,051 customers)</a:t>
            </a:r>
            <a:endParaRPr lang="en-US" sz="1300" dirty="0"/>
          </a:p>
        </p:txBody>
      </p:sp>
      <p:graphicFrame>
        <p:nvGraphicFramePr>
          <p:cNvPr id="5" name="Chart 0"/>
          <p:cNvGraphicFramePr/>
          <p:nvPr/>
        </p:nvGraphicFramePr>
        <p:xfrm>
          <a:off x="548640" y="1874520"/>
          <a:ext cx="57607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629400" y="1691640"/>
            <a:ext cx="5010912" cy="841248"/>
          </a:xfrm>
          <a:prstGeom prst="roundRect">
            <a:avLst>
              <a:gd name="adj" fmla="val 8696"/>
            </a:avLst>
          </a:prstGeom>
          <a:solidFill>
            <a:srgbClr val="E7EFF8"/>
          </a:solidFill>
          <a:ln w="12700">
            <a:solidFill>
              <a:srgbClr val="E7EFF8"/>
            </a:solidFill>
            <a:prstDash val="solid"/>
          </a:ln>
        </p:spPr>
        <p:txBody>
          <a:bodyPr/>
          <a:lstStyle/>
          <a:p>
            <a:endParaRPr lang="en-CA"/>
          </a:p>
        </p:txBody>
      </p:sp>
      <p:sp>
        <p:nvSpPr>
          <p:cNvPr id="7" name="Shape 4"/>
          <p:cNvSpPr/>
          <p:nvPr/>
        </p:nvSpPr>
        <p:spPr>
          <a:xfrm>
            <a:off x="6784848" y="1874520"/>
            <a:ext cx="457200" cy="457200"/>
          </a:xfrm>
          <a:prstGeom prst="ellipse">
            <a:avLst/>
          </a:prstGeom>
          <a:solidFill>
            <a:srgbClr val="2E6FB0"/>
          </a:solidFill>
          <a:ln w="12700">
            <a:solidFill>
              <a:srgbClr val="2E6FB0"/>
            </a:solidFill>
            <a:prstDash val="solid"/>
          </a:ln>
        </p:spPr>
        <p:txBody>
          <a:bodyPr/>
          <a:lstStyle/>
          <a:p>
            <a:endParaRPr lang="en-CA"/>
          </a:p>
        </p:txBody>
      </p:sp>
      <p:pic>
        <p:nvPicPr>
          <p:cNvPr id="8" name="Image 0" descr="preencoded.png"/>
          <p:cNvPicPr>
            <a:picLocks noChangeAspect="1"/>
          </p:cNvPicPr>
          <p:nvPr/>
        </p:nvPicPr>
        <p:blipFill>
          <a:blip r:embed="rId4"/>
          <a:stretch>
            <a:fillRect/>
          </a:stretch>
        </p:blipFill>
        <p:spPr>
          <a:xfrm>
            <a:off x="6903720" y="1993392"/>
            <a:ext cx="219456" cy="219456"/>
          </a:xfrm>
          <a:prstGeom prst="rect">
            <a:avLst/>
          </a:prstGeom>
        </p:spPr>
      </p:pic>
      <p:sp>
        <p:nvSpPr>
          <p:cNvPr id="9" name="Text 5"/>
          <p:cNvSpPr txBox="1"/>
          <p:nvPr/>
        </p:nvSpPr>
        <p:spPr>
          <a:xfrm>
            <a:off x="7406640" y="1764792"/>
            <a:ext cx="4114800" cy="256032"/>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Steady Regulars</a:t>
            </a:r>
            <a:r>
              <a:rPr lang="en-US" sz="1350" dirty="0">
                <a:solidFill>
                  <a:srgbClr val="5B6675"/>
                </a:solidFill>
                <a:latin typeface="Calibri" pitchFamily="34" charset="0"/>
                <a:ea typeface="Calibri" pitchFamily="34" charset="-122"/>
                <a:cs typeface="Calibri" pitchFamily="34" charset="-120"/>
              </a:rPr>
              <a:t>  (Loyal)</a:t>
            </a:r>
            <a:endParaRPr lang="en-US" sz="1350" dirty="0"/>
          </a:p>
        </p:txBody>
      </p:sp>
      <p:sp>
        <p:nvSpPr>
          <p:cNvPr id="10" name="Text 6"/>
          <p:cNvSpPr txBox="1"/>
          <p:nvPr/>
        </p:nvSpPr>
        <p:spPr>
          <a:xfrm>
            <a:off x="7406640" y="2020824"/>
            <a:ext cx="4114800" cy="22860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38% average risk  ·  £843 per customer</a:t>
            </a:r>
            <a:endParaRPr lang="en-US" sz="1150" dirty="0"/>
          </a:p>
        </p:txBody>
      </p:sp>
      <p:sp>
        <p:nvSpPr>
          <p:cNvPr id="11" name="Text 7"/>
          <p:cNvSpPr txBox="1"/>
          <p:nvPr/>
        </p:nvSpPr>
        <p:spPr>
          <a:xfrm>
            <a:off x="7406640" y="2240280"/>
            <a:ext cx="4160520" cy="256032"/>
          </a:xfrm>
          <a:prstGeom prst="rect">
            <a:avLst/>
          </a:prstGeom>
          <a:noFill/>
          <a:ln/>
        </p:spPr>
        <p:txBody>
          <a:bodyPr wrap="square" lIns="0" tIns="0" rIns="0" bIns="0" rtlCol="0" anchor="t"/>
          <a:lstStyle/>
          <a:p>
            <a:pPr marL="0" indent="0">
              <a:buNone/>
            </a:pPr>
            <a:r>
              <a:rPr lang="en-US" sz="1150" dirty="0">
                <a:solidFill>
                  <a:srgbClr val="1E2B3A"/>
                </a:solidFill>
                <a:latin typeface="Calibri" pitchFamily="34" charset="0"/>
                <a:ea typeface="Calibri" pitchFamily="34" charset="-122"/>
                <a:cs typeface="Calibri" pitchFamily="34" charset="-120"/>
              </a:rPr>
              <a:t>Moderate risk, but 218 customers who spend well: the largest total.</a:t>
            </a:r>
            <a:endParaRPr lang="en-US" sz="1150" dirty="0"/>
          </a:p>
        </p:txBody>
      </p:sp>
      <p:sp>
        <p:nvSpPr>
          <p:cNvPr id="12" name="Shape 8"/>
          <p:cNvSpPr/>
          <p:nvPr/>
        </p:nvSpPr>
        <p:spPr>
          <a:xfrm>
            <a:off x="6629400" y="2651760"/>
            <a:ext cx="5010912" cy="841248"/>
          </a:xfrm>
          <a:prstGeom prst="roundRect">
            <a:avLst>
              <a:gd name="adj" fmla="val 8696"/>
            </a:avLst>
          </a:prstGeom>
          <a:solidFill>
            <a:srgbClr val="F8E6E7"/>
          </a:solidFill>
          <a:ln w="12700">
            <a:solidFill>
              <a:srgbClr val="F8E6E7"/>
            </a:solidFill>
            <a:prstDash val="solid"/>
          </a:ln>
        </p:spPr>
        <p:txBody>
          <a:bodyPr/>
          <a:lstStyle/>
          <a:p>
            <a:endParaRPr lang="en-CA"/>
          </a:p>
        </p:txBody>
      </p:sp>
      <p:sp>
        <p:nvSpPr>
          <p:cNvPr id="13" name="Shape 9"/>
          <p:cNvSpPr/>
          <p:nvPr/>
        </p:nvSpPr>
        <p:spPr>
          <a:xfrm>
            <a:off x="6784848" y="2834640"/>
            <a:ext cx="457200" cy="457200"/>
          </a:xfrm>
          <a:prstGeom prst="ellipse">
            <a:avLst/>
          </a:prstGeom>
          <a:solidFill>
            <a:srgbClr val="C0404A"/>
          </a:solidFill>
          <a:ln w="12700">
            <a:solidFill>
              <a:srgbClr val="C0404A"/>
            </a:solidFill>
            <a:prstDash val="solid"/>
          </a:ln>
        </p:spPr>
        <p:txBody>
          <a:bodyPr/>
          <a:lstStyle/>
          <a:p>
            <a:endParaRPr lang="en-CA"/>
          </a:p>
        </p:txBody>
      </p:sp>
      <p:pic>
        <p:nvPicPr>
          <p:cNvPr id="14" name="Image 1" descr="preencoded.png"/>
          <p:cNvPicPr>
            <a:picLocks noChangeAspect="1"/>
          </p:cNvPicPr>
          <p:nvPr/>
        </p:nvPicPr>
        <p:blipFill>
          <a:blip r:embed="rId5"/>
          <a:stretch>
            <a:fillRect/>
          </a:stretch>
        </p:blipFill>
        <p:spPr>
          <a:xfrm>
            <a:off x="6903720" y="2953512"/>
            <a:ext cx="219456" cy="219456"/>
          </a:xfrm>
          <a:prstGeom prst="rect">
            <a:avLst/>
          </a:prstGeom>
        </p:spPr>
      </p:pic>
      <p:sp>
        <p:nvSpPr>
          <p:cNvPr id="15" name="Text 10"/>
          <p:cNvSpPr txBox="1"/>
          <p:nvPr/>
        </p:nvSpPr>
        <p:spPr>
          <a:xfrm>
            <a:off x="7406640" y="2724912"/>
            <a:ext cx="4114800" cy="256032"/>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Fading Big Spenders</a:t>
            </a:r>
            <a:r>
              <a:rPr lang="en-US" sz="1350" dirty="0">
                <a:solidFill>
                  <a:srgbClr val="5B6675"/>
                </a:solidFill>
                <a:latin typeface="Calibri" pitchFamily="34" charset="0"/>
                <a:ea typeface="Calibri" pitchFamily="34" charset="-122"/>
                <a:cs typeface="Calibri" pitchFamily="34" charset="-120"/>
              </a:rPr>
              <a:t>  (At Risk)</a:t>
            </a:r>
            <a:endParaRPr lang="en-US" sz="1350" dirty="0"/>
          </a:p>
        </p:txBody>
      </p:sp>
      <p:sp>
        <p:nvSpPr>
          <p:cNvPr id="16" name="Text 11"/>
          <p:cNvSpPr txBox="1"/>
          <p:nvPr/>
        </p:nvSpPr>
        <p:spPr>
          <a:xfrm>
            <a:off x="7406640" y="2980944"/>
            <a:ext cx="4114800" cy="22860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60% average risk  ·  £1,580 per customer</a:t>
            </a:r>
            <a:endParaRPr lang="en-US" sz="1150" dirty="0"/>
          </a:p>
        </p:txBody>
      </p:sp>
      <p:sp>
        <p:nvSpPr>
          <p:cNvPr id="17" name="Text 12"/>
          <p:cNvSpPr txBox="1"/>
          <p:nvPr/>
        </p:nvSpPr>
        <p:spPr>
          <a:xfrm>
            <a:off x="7406640" y="3200400"/>
            <a:ext cx="4160520" cy="256032"/>
          </a:xfrm>
          <a:prstGeom prst="rect">
            <a:avLst/>
          </a:prstGeom>
          <a:noFill/>
          <a:ln/>
        </p:spPr>
        <p:txBody>
          <a:bodyPr wrap="square" lIns="0" tIns="0" rIns="0" bIns="0" rtlCol="0" anchor="t"/>
          <a:lstStyle/>
          <a:p>
            <a:pPr marL="0" indent="0">
              <a:buNone/>
            </a:pPr>
            <a:r>
              <a:rPr lang="en-US" sz="1150" dirty="0">
                <a:solidFill>
                  <a:srgbClr val="1E2B3A"/>
                </a:solidFill>
                <a:latin typeface="Calibri" pitchFamily="34" charset="0"/>
                <a:ea typeface="Calibri" pitchFamily="34" charset="-122"/>
                <a:cs typeface="Calibri" pitchFamily="34" charset="-120"/>
              </a:rPr>
              <a:t>Only 90 customers, but the most at risk per customer.</a:t>
            </a:r>
            <a:endParaRPr lang="en-US" sz="1150" dirty="0"/>
          </a:p>
        </p:txBody>
      </p:sp>
      <p:sp>
        <p:nvSpPr>
          <p:cNvPr id="18" name="Shape 13"/>
          <p:cNvSpPr/>
          <p:nvPr/>
        </p:nvSpPr>
        <p:spPr>
          <a:xfrm>
            <a:off x="6629400" y="3611880"/>
            <a:ext cx="5010912" cy="841248"/>
          </a:xfrm>
          <a:prstGeom prst="roundRect">
            <a:avLst>
              <a:gd name="adj" fmla="val 8696"/>
            </a:avLst>
          </a:prstGeom>
          <a:solidFill>
            <a:srgbClr val="EEEFF1"/>
          </a:solidFill>
          <a:ln w="12700">
            <a:solidFill>
              <a:srgbClr val="EEEFF1"/>
            </a:solidFill>
            <a:prstDash val="solid"/>
          </a:ln>
        </p:spPr>
        <p:txBody>
          <a:bodyPr/>
          <a:lstStyle/>
          <a:p>
            <a:endParaRPr lang="en-CA"/>
          </a:p>
        </p:txBody>
      </p:sp>
      <p:sp>
        <p:nvSpPr>
          <p:cNvPr id="19" name="Shape 14"/>
          <p:cNvSpPr/>
          <p:nvPr/>
        </p:nvSpPr>
        <p:spPr>
          <a:xfrm>
            <a:off x="6784848" y="3794760"/>
            <a:ext cx="457200" cy="457200"/>
          </a:xfrm>
          <a:prstGeom prst="ellipse">
            <a:avLst/>
          </a:prstGeom>
          <a:solidFill>
            <a:srgbClr val="7F8691"/>
          </a:solidFill>
          <a:ln w="12700">
            <a:solidFill>
              <a:srgbClr val="7F8691"/>
            </a:solidFill>
            <a:prstDash val="solid"/>
          </a:ln>
        </p:spPr>
        <p:txBody>
          <a:bodyPr/>
          <a:lstStyle/>
          <a:p>
            <a:endParaRPr lang="en-CA"/>
          </a:p>
        </p:txBody>
      </p:sp>
      <p:pic>
        <p:nvPicPr>
          <p:cNvPr id="20" name="Image 2" descr="preencoded.png"/>
          <p:cNvPicPr>
            <a:picLocks noChangeAspect="1"/>
          </p:cNvPicPr>
          <p:nvPr/>
        </p:nvPicPr>
        <p:blipFill>
          <a:blip r:embed="rId6"/>
          <a:stretch>
            <a:fillRect/>
          </a:stretch>
        </p:blipFill>
        <p:spPr>
          <a:xfrm>
            <a:off x="6903720" y="3913632"/>
            <a:ext cx="219456" cy="219456"/>
          </a:xfrm>
          <a:prstGeom prst="rect">
            <a:avLst/>
          </a:prstGeom>
        </p:spPr>
      </p:pic>
      <p:sp>
        <p:nvSpPr>
          <p:cNvPr id="21" name="Text 15"/>
          <p:cNvSpPr txBox="1"/>
          <p:nvPr/>
        </p:nvSpPr>
        <p:spPr>
          <a:xfrm>
            <a:off x="7406640" y="3685032"/>
            <a:ext cx="4114800" cy="256032"/>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Gone Quiet</a:t>
            </a:r>
            <a:r>
              <a:rPr lang="en-US" sz="1350" dirty="0">
                <a:solidFill>
                  <a:srgbClr val="5B6675"/>
                </a:solidFill>
                <a:latin typeface="Calibri" pitchFamily="34" charset="0"/>
                <a:ea typeface="Calibri" pitchFamily="34" charset="-122"/>
                <a:cs typeface="Calibri" pitchFamily="34" charset="-120"/>
              </a:rPr>
              <a:t>  (Lapsed)</a:t>
            </a:r>
            <a:endParaRPr lang="en-US" sz="1350" dirty="0"/>
          </a:p>
        </p:txBody>
      </p:sp>
      <p:sp>
        <p:nvSpPr>
          <p:cNvPr id="22" name="Text 16"/>
          <p:cNvSpPr txBox="1"/>
          <p:nvPr/>
        </p:nvSpPr>
        <p:spPr>
          <a:xfrm>
            <a:off x="7406640" y="3941064"/>
            <a:ext cx="4114800" cy="22860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81% average risk  ·  £308 per customer</a:t>
            </a:r>
            <a:endParaRPr lang="en-US" sz="1150" dirty="0"/>
          </a:p>
        </p:txBody>
      </p:sp>
      <p:sp>
        <p:nvSpPr>
          <p:cNvPr id="23" name="Text 17"/>
          <p:cNvSpPr txBox="1"/>
          <p:nvPr/>
        </p:nvSpPr>
        <p:spPr>
          <a:xfrm>
            <a:off x="7406640" y="4160520"/>
            <a:ext cx="4160520" cy="256032"/>
          </a:xfrm>
          <a:prstGeom prst="rect">
            <a:avLst/>
          </a:prstGeom>
          <a:noFill/>
          <a:ln/>
        </p:spPr>
        <p:txBody>
          <a:bodyPr wrap="square" lIns="0" tIns="0" rIns="0" bIns="0" rtlCol="0" anchor="t"/>
          <a:lstStyle/>
          <a:p>
            <a:pPr marL="0" indent="0">
              <a:buNone/>
            </a:pPr>
            <a:r>
              <a:rPr lang="en-US" sz="1150" dirty="0">
                <a:solidFill>
                  <a:srgbClr val="1E2B3A"/>
                </a:solidFill>
                <a:latin typeface="Calibri" pitchFamily="34" charset="0"/>
                <a:ea typeface="Calibri" pitchFamily="34" charset="-122"/>
                <a:cs typeface="Calibri" pitchFamily="34" charset="-120"/>
              </a:rPr>
              <a:t>The highest risk, but spend is spread thin over 434 customers.</a:t>
            </a:r>
            <a:endParaRPr lang="en-US" sz="1150" dirty="0"/>
          </a:p>
        </p:txBody>
      </p:sp>
      <p:sp>
        <p:nvSpPr>
          <p:cNvPr id="24" name="Shape 18"/>
          <p:cNvSpPr/>
          <p:nvPr/>
        </p:nvSpPr>
        <p:spPr>
          <a:xfrm>
            <a:off x="6629400" y="4572000"/>
            <a:ext cx="5010912" cy="841248"/>
          </a:xfrm>
          <a:prstGeom prst="roundRect">
            <a:avLst>
              <a:gd name="adj" fmla="val 8696"/>
            </a:avLst>
          </a:prstGeom>
          <a:solidFill>
            <a:srgbClr val="E6F2ED"/>
          </a:solidFill>
          <a:ln w="12700">
            <a:solidFill>
              <a:srgbClr val="E6F2ED"/>
            </a:solidFill>
            <a:prstDash val="solid"/>
          </a:ln>
        </p:spPr>
        <p:txBody>
          <a:bodyPr/>
          <a:lstStyle/>
          <a:p>
            <a:endParaRPr lang="en-CA"/>
          </a:p>
        </p:txBody>
      </p:sp>
      <p:sp>
        <p:nvSpPr>
          <p:cNvPr id="25" name="Shape 19"/>
          <p:cNvSpPr/>
          <p:nvPr/>
        </p:nvSpPr>
        <p:spPr>
          <a:xfrm>
            <a:off x="6784848" y="4754880"/>
            <a:ext cx="457200" cy="457200"/>
          </a:xfrm>
          <a:prstGeom prst="ellipse">
            <a:avLst/>
          </a:prstGeom>
          <a:solidFill>
            <a:srgbClr val="1F7A5C"/>
          </a:solidFill>
          <a:ln w="12700">
            <a:solidFill>
              <a:srgbClr val="1F7A5C"/>
            </a:solidFill>
            <a:prstDash val="solid"/>
          </a:ln>
        </p:spPr>
        <p:txBody>
          <a:bodyPr/>
          <a:lstStyle/>
          <a:p>
            <a:endParaRPr lang="en-CA"/>
          </a:p>
        </p:txBody>
      </p:sp>
      <p:pic>
        <p:nvPicPr>
          <p:cNvPr id="26" name="Image 3" descr="preencoded.png"/>
          <p:cNvPicPr>
            <a:picLocks noChangeAspect="1"/>
          </p:cNvPicPr>
          <p:nvPr/>
        </p:nvPicPr>
        <p:blipFill>
          <a:blip r:embed="rId7"/>
          <a:stretch>
            <a:fillRect/>
          </a:stretch>
        </p:blipFill>
        <p:spPr>
          <a:xfrm>
            <a:off x="6903720" y="4873752"/>
            <a:ext cx="219456" cy="219456"/>
          </a:xfrm>
          <a:prstGeom prst="rect">
            <a:avLst/>
          </a:prstGeom>
        </p:spPr>
      </p:pic>
      <p:sp>
        <p:nvSpPr>
          <p:cNvPr id="27" name="Text 20"/>
          <p:cNvSpPr txBox="1"/>
          <p:nvPr/>
        </p:nvSpPr>
        <p:spPr>
          <a:xfrm>
            <a:off x="7406640" y="4645152"/>
            <a:ext cx="4114800" cy="256032"/>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Top Customers</a:t>
            </a:r>
            <a:r>
              <a:rPr lang="en-US" sz="1350" dirty="0">
                <a:solidFill>
                  <a:srgbClr val="5B6675"/>
                </a:solidFill>
                <a:latin typeface="Calibri" pitchFamily="34" charset="0"/>
                <a:ea typeface="Calibri" pitchFamily="34" charset="-122"/>
                <a:cs typeface="Calibri" pitchFamily="34" charset="-120"/>
              </a:rPr>
              <a:t>  (Champions)</a:t>
            </a:r>
            <a:endParaRPr lang="en-US" sz="1350" dirty="0"/>
          </a:p>
        </p:txBody>
      </p:sp>
      <p:sp>
        <p:nvSpPr>
          <p:cNvPr id="28" name="Text 21"/>
          <p:cNvSpPr txBox="1"/>
          <p:nvPr/>
        </p:nvSpPr>
        <p:spPr>
          <a:xfrm>
            <a:off x="7406640" y="4901184"/>
            <a:ext cx="4114800" cy="22860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15% average risk  ·  £675 per customer</a:t>
            </a:r>
            <a:endParaRPr lang="en-US" sz="1150" dirty="0"/>
          </a:p>
        </p:txBody>
      </p:sp>
      <p:sp>
        <p:nvSpPr>
          <p:cNvPr id="29" name="Text 22"/>
          <p:cNvSpPr txBox="1"/>
          <p:nvPr/>
        </p:nvSpPr>
        <p:spPr>
          <a:xfrm>
            <a:off x="7406640" y="5120640"/>
            <a:ext cx="4160520" cy="256032"/>
          </a:xfrm>
          <a:prstGeom prst="rect">
            <a:avLst/>
          </a:prstGeom>
          <a:noFill/>
          <a:ln/>
        </p:spPr>
        <p:txBody>
          <a:bodyPr wrap="square" lIns="0" tIns="0" rIns="0" bIns="0" rtlCol="0" anchor="t"/>
          <a:lstStyle/>
          <a:p>
            <a:pPr marL="0" indent="0">
              <a:buNone/>
            </a:pPr>
            <a:r>
              <a:rPr lang="en-US" sz="1150" dirty="0">
                <a:solidFill>
                  <a:srgbClr val="1E2B3A"/>
                </a:solidFill>
                <a:latin typeface="Calibri" pitchFamily="34" charset="0"/>
                <a:ea typeface="Calibri" pitchFamily="34" charset="-122"/>
                <a:cs typeface="Calibri" pitchFamily="34" charset="-120"/>
              </a:rPr>
              <a:t>The lowest risk, but high spend still leaves £116,792 at risk.</a:t>
            </a:r>
            <a:endParaRPr lang="en-US" sz="1150" dirty="0"/>
          </a:p>
        </p:txBody>
      </p:sp>
      <p:sp>
        <p:nvSpPr>
          <p:cNvPr id="30" name="Shape 23"/>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31" name="Text 24"/>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Put personal effort into Steady Regulars and Fading Big Spenders, watch Top Customers for early signs, and keep Gone Quiet contact low-cost.</a:t>
            </a:r>
            <a:endParaRPr lang="en-US" sz="1500" dirty="0"/>
          </a:p>
        </p:txBody>
      </p:sp>
      <p:sp>
        <p:nvSpPr>
          <p:cNvPr id="32" name="Text 25"/>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WHAT TO DO  ·  ORDERED BY VALUE AT RISK PER CUSTOMER</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What the CRM team does with each group</a:t>
            </a:r>
            <a:endParaRPr lang="en-US" sz="2600" dirty="0"/>
          </a:p>
        </p:txBody>
      </p:sp>
      <p:sp>
        <p:nvSpPr>
          <p:cNvPr id="4" name="Shape 2"/>
          <p:cNvSpPr/>
          <p:nvPr/>
        </p:nvSpPr>
        <p:spPr>
          <a:xfrm>
            <a:off x="548640" y="1691640"/>
            <a:ext cx="2057400" cy="3794760"/>
          </a:xfrm>
          <a:prstGeom prst="roundRect">
            <a:avLst>
              <a:gd name="adj" fmla="val 3556"/>
            </a:avLst>
          </a:prstGeom>
          <a:solidFill>
            <a:srgbClr val="F8E6E7"/>
          </a:solidFill>
          <a:ln w="12700">
            <a:solidFill>
              <a:srgbClr val="F8E6E7"/>
            </a:solidFill>
            <a:prstDash val="solid"/>
          </a:ln>
        </p:spPr>
        <p:txBody>
          <a:bodyPr/>
          <a:lstStyle/>
          <a:p>
            <a:endParaRPr lang="en-CA"/>
          </a:p>
        </p:txBody>
      </p:sp>
      <p:sp>
        <p:nvSpPr>
          <p:cNvPr id="5" name="Shape 3"/>
          <p:cNvSpPr/>
          <p:nvPr/>
        </p:nvSpPr>
        <p:spPr>
          <a:xfrm>
            <a:off x="548640" y="1691640"/>
            <a:ext cx="2057400" cy="685800"/>
          </a:xfrm>
          <a:prstGeom prst="roundRect">
            <a:avLst>
              <a:gd name="adj" fmla="val 10667"/>
            </a:avLst>
          </a:prstGeom>
          <a:solidFill>
            <a:srgbClr val="C0404A"/>
          </a:solidFill>
          <a:ln w="12700">
            <a:solidFill>
              <a:srgbClr val="C0404A"/>
            </a:solidFill>
            <a:prstDash val="solid"/>
          </a:ln>
        </p:spPr>
        <p:txBody>
          <a:bodyPr/>
          <a:lstStyle/>
          <a:p>
            <a:endParaRPr lang="en-CA"/>
          </a:p>
        </p:txBody>
      </p:sp>
      <p:sp>
        <p:nvSpPr>
          <p:cNvPr id="6" name="Shape 4"/>
          <p:cNvSpPr/>
          <p:nvPr/>
        </p:nvSpPr>
        <p:spPr>
          <a:xfrm>
            <a:off x="548640" y="2103120"/>
            <a:ext cx="2057400" cy="274320"/>
          </a:xfrm>
          <a:prstGeom prst="rect">
            <a:avLst/>
          </a:prstGeom>
          <a:solidFill>
            <a:srgbClr val="C0404A"/>
          </a:solidFill>
          <a:ln w="12700">
            <a:solidFill>
              <a:srgbClr val="C0404A"/>
            </a:solidFill>
            <a:prstDash val="solid"/>
          </a:ln>
        </p:spPr>
        <p:txBody>
          <a:bodyPr/>
          <a:lstStyle/>
          <a:p>
            <a:endParaRPr lang="en-CA"/>
          </a:p>
        </p:txBody>
      </p:sp>
      <p:sp>
        <p:nvSpPr>
          <p:cNvPr id="7" name="Shape 5"/>
          <p:cNvSpPr/>
          <p:nvPr/>
        </p:nvSpPr>
        <p:spPr>
          <a:xfrm>
            <a:off x="685800" y="1828800"/>
            <a:ext cx="411480" cy="411480"/>
          </a:xfrm>
          <a:prstGeom prst="ellipse">
            <a:avLst/>
          </a:prstGeom>
          <a:solidFill>
            <a:srgbClr val="FFFFFF"/>
          </a:solidFill>
          <a:ln w="12700">
            <a:solidFill>
              <a:srgbClr val="FFFFFF"/>
            </a:solidFill>
            <a:prstDash val="solid"/>
          </a:ln>
        </p:spPr>
        <p:txBody>
          <a:bodyPr/>
          <a:lstStyle/>
          <a:p>
            <a:endParaRPr lang="en-CA"/>
          </a:p>
        </p:txBody>
      </p:sp>
      <p:pic>
        <p:nvPicPr>
          <p:cNvPr id="8" name="Image 0" descr="preencoded.png"/>
          <p:cNvPicPr>
            <a:picLocks noChangeAspect="1"/>
          </p:cNvPicPr>
          <p:nvPr/>
        </p:nvPicPr>
        <p:blipFill>
          <a:blip r:embed="rId3"/>
          <a:stretch>
            <a:fillRect/>
          </a:stretch>
        </p:blipFill>
        <p:spPr>
          <a:xfrm>
            <a:off x="792785" y="1935785"/>
            <a:ext cx="197510" cy="197510"/>
          </a:xfrm>
          <a:prstGeom prst="rect">
            <a:avLst/>
          </a:prstGeom>
        </p:spPr>
      </p:pic>
      <p:sp>
        <p:nvSpPr>
          <p:cNvPr id="9" name="Text 6"/>
          <p:cNvSpPr txBox="1"/>
          <p:nvPr/>
        </p:nvSpPr>
        <p:spPr>
          <a:xfrm>
            <a:off x="1170432" y="1737360"/>
            <a:ext cx="1371600" cy="5943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Fading Big Spenders</a:t>
            </a:r>
            <a:endParaRPr lang="en-US" sz="1250" dirty="0"/>
          </a:p>
        </p:txBody>
      </p:sp>
      <p:sp>
        <p:nvSpPr>
          <p:cNvPr id="10" name="Text 7"/>
          <p:cNvSpPr txBox="1"/>
          <p:nvPr/>
        </p:nvSpPr>
        <p:spPr>
          <a:xfrm>
            <a:off x="713232" y="2560320"/>
            <a:ext cx="1783080" cy="228600"/>
          </a:xfrm>
          <a:prstGeom prst="rect">
            <a:avLst/>
          </a:prstGeom>
          <a:noFill/>
          <a:ln/>
        </p:spPr>
        <p:txBody>
          <a:bodyPr wrap="square" lIns="0" tIns="0" rIns="0" bIns="0" rtlCol="0" anchor="t"/>
          <a:lstStyle/>
          <a:p>
            <a:pPr marL="0" indent="0">
              <a:buNone/>
            </a:pPr>
            <a:r>
              <a:rPr lang="en-US" sz="900" b="1" kern="0" spc="100" dirty="0">
                <a:solidFill>
                  <a:srgbClr val="5B6675"/>
                </a:solidFill>
                <a:latin typeface="Calibri" pitchFamily="34" charset="0"/>
                <a:ea typeface="Calibri" pitchFamily="34" charset="-122"/>
                <a:cs typeface="Calibri" pitchFamily="34" charset="-120"/>
              </a:rPr>
              <a:t>AT RISK PER CUSTOMER</a:t>
            </a:r>
            <a:endParaRPr lang="en-US" sz="900" dirty="0"/>
          </a:p>
        </p:txBody>
      </p:sp>
      <p:sp>
        <p:nvSpPr>
          <p:cNvPr id="11" name="Text 8"/>
          <p:cNvSpPr txBox="1"/>
          <p:nvPr/>
        </p:nvSpPr>
        <p:spPr>
          <a:xfrm>
            <a:off x="713232" y="2788920"/>
            <a:ext cx="1783080" cy="457200"/>
          </a:xfrm>
          <a:prstGeom prst="rect">
            <a:avLst/>
          </a:prstGeom>
          <a:noFill/>
          <a:ln/>
        </p:spPr>
        <p:txBody>
          <a:bodyPr wrap="square" lIns="0" tIns="0" rIns="0" bIns="0" rtlCol="0" anchor="t"/>
          <a:lstStyle/>
          <a:p>
            <a:pPr marL="0" indent="0">
              <a:buNone/>
            </a:pPr>
            <a:r>
              <a:rPr lang="en-US" sz="2400" b="1" dirty="0">
                <a:solidFill>
                  <a:srgbClr val="C0404A"/>
                </a:solidFill>
                <a:latin typeface="Cambria" pitchFamily="34" charset="0"/>
                <a:ea typeface="Cambria" pitchFamily="34" charset="-122"/>
                <a:cs typeface="Cambria" pitchFamily="34" charset="-120"/>
              </a:rPr>
              <a:t>£1,580</a:t>
            </a:r>
            <a:endParaRPr lang="en-US" sz="2400" dirty="0"/>
          </a:p>
        </p:txBody>
      </p:sp>
      <p:sp>
        <p:nvSpPr>
          <p:cNvPr id="12" name="Text 9"/>
          <p:cNvSpPr txBox="1"/>
          <p:nvPr/>
        </p:nvSpPr>
        <p:spPr>
          <a:xfrm>
            <a:off x="713232" y="3246120"/>
            <a:ext cx="1783080" cy="457200"/>
          </a:xfrm>
          <a:prstGeom prst="rect">
            <a:avLst/>
          </a:prstGeom>
          <a:noFill/>
          <a:ln/>
        </p:spPr>
        <p:txBody>
          <a:bodyPr wrap="square" lIns="0" tIns="0" rIns="0" bIns="0" rtlCol="0" anchor="t"/>
          <a:lstStyle/>
          <a:p>
            <a:pPr marL="0" indent="0">
              <a:buNone/>
            </a:pPr>
            <a:r>
              <a:rPr lang="en-US" sz="1200" b="1" dirty="0">
                <a:solidFill>
                  <a:srgbClr val="1E2B3A"/>
                </a:solidFill>
                <a:latin typeface="Calibri" pitchFamily="34" charset="0"/>
                <a:ea typeface="Calibri" pitchFamily="34" charset="-122"/>
                <a:cs typeface="Calibri" pitchFamily="34" charset="-120"/>
              </a:rPr>
              <a:t>Most value at risk per customer</a:t>
            </a:r>
            <a:endParaRPr lang="en-US" sz="1200" dirty="0"/>
          </a:p>
        </p:txBody>
      </p:sp>
      <p:sp>
        <p:nvSpPr>
          <p:cNvPr id="13" name="Text 10"/>
          <p:cNvSpPr txBox="1"/>
          <p:nvPr/>
        </p:nvSpPr>
        <p:spPr>
          <a:xfrm>
            <a:off x="713232" y="3794760"/>
            <a:ext cx="1783080" cy="1600200"/>
          </a:xfrm>
          <a:prstGeom prst="rect">
            <a:avLst/>
          </a:prstGeom>
          <a:noFill/>
          <a:ln/>
        </p:spPr>
        <p:txBody>
          <a:bodyPr wrap="square" lIns="0" tIns="0" rIns="0" bIns="0" rtlCol="0" anchor="t"/>
          <a:lstStyle/>
          <a:p>
            <a:pPr marL="139700" indent="-139700">
              <a:spcAft>
                <a:spcPts val="500"/>
              </a:spcAft>
              <a:buSzPct val="100000"/>
              <a:buChar char="•"/>
            </a:pPr>
            <a:r>
              <a:rPr lang="en-US" sz="1200" dirty="0">
                <a:solidFill>
                  <a:srgbClr val="1E2B3A"/>
                </a:solidFill>
                <a:latin typeface="Calibri" pitchFamily="34" charset="0"/>
                <a:ea typeface="Calibri" pitchFamily="34" charset="-122"/>
                <a:cs typeface="Calibri" pitchFamily="34" charset="-120"/>
              </a:rPr>
              <a:t>Personal call from the account team</a:t>
            </a:r>
            <a:endParaRPr lang="en-US" sz="1200" dirty="0"/>
          </a:p>
          <a:p>
            <a:pPr marL="139700" indent="-139700">
              <a:spcAft>
                <a:spcPts val="500"/>
              </a:spcAft>
              <a:buSzPct val="100000"/>
              <a:buChar char="•"/>
            </a:pPr>
            <a:r>
              <a:rPr lang="en-US" sz="1200" dirty="0">
                <a:solidFill>
                  <a:srgbClr val="1E2B3A"/>
                </a:solidFill>
                <a:latin typeface="Calibri" pitchFamily="34" charset="0"/>
                <a:ea typeface="Calibri" pitchFamily="34" charset="-122"/>
                <a:cs typeface="Calibri" pitchFamily="34" charset="-120"/>
              </a:rPr>
              <a:t>Offer based on their past favourite products</a:t>
            </a:r>
            <a:endParaRPr lang="en-US" sz="1200" dirty="0"/>
          </a:p>
          <a:p>
            <a:pPr marL="139700" indent="-139700">
              <a:spcAft>
                <a:spcPts val="500"/>
              </a:spcAft>
              <a:buSzPct val="100000"/>
              <a:buChar char="•"/>
            </a:pPr>
            <a:r>
              <a:rPr lang="en-US" sz="1200" dirty="0">
                <a:solidFill>
                  <a:srgbClr val="1E2B3A"/>
                </a:solidFill>
                <a:latin typeface="Calibri" pitchFamily="34" charset="0"/>
                <a:ea typeface="Calibri" pitchFamily="34" charset="-122"/>
                <a:cs typeface="Calibri" pitchFamily="34" charset="-120"/>
              </a:rPr>
              <a:t>Main push in September and October</a:t>
            </a:r>
            <a:endParaRPr lang="en-US" sz="1200" dirty="0"/>
          </a:p>
        </p:txBody>
      </p:sp>
      <p:sp>
        <p:nvSpPr>
          <p:cNvPr id="14" name="Shape 11"/>
          <p:cNvSpPr/>
          <p:nvPr/>
        </p:nvSpPr>
        <p:spPr>
          <a:xfrm>
            <a:off x="2802636" y="1691640"/>
            <a:ext cx="2057400" cy="3794760"/>
          </a:xfrm>
          <a:prstGeom prst="roundRect">
            <a:avLst>
              <a:gd name="adj" fmla="val 3556"/>
            </a:avLst>
          </a:prstGeom>
          <a:solidFill>
            <a:srgbClr val="E7EFF8"/>
          </a:solidFill>
          <a:ln w="12700">
            <a:solidFill>
              <a:srgbClr val="E7EFF8"/>
            </a:solidFill>
            <a:prstDash val="solid"/>
          </a:ln>
        </p:spPr>
        <p:txBody>
          <a:bodyPr/>
          <a:lstStyle/>
          <a:p>
            <a:endParaRPr lang="en-CA"/>
          </a:p>
        </p:txBody>
      </p:sp>
      <p:sp>
        <p:nvSpPr>
          <p:cNvPr id="15" name="Shape 12"/>
          <p:cNvSpPr/>
          <p:nvPr/>
        </p:nvSpPr>
        <p:spPr>
          <a:xfrm>
            <a:off x="2802636" y="1691640"/>
            <a:ext cx="2057400" cy="685800"/>
          </a:xfrm>
          <a:prstGeom prst="roundRect">
            <a:avLst>
              <a:gd name="adj" fmla="val 10667"/>
            </a:avLst>
          </a:prstGeom>
          <a:solidFill>
            <a:srgbClr val="2E6FB0"/>
          </a:solidFill>
          <a:ln w="12700">
            <a:solidFill>
              <a:srgbClr val="2E6FB0"/>
            </a:solidFill>
            <a:prstDash val="solid"/>
          </a:ln>
        </p:spPr>
        <p:txBody>
          <a:bodyPr/>
          <a:lstStyle/>
          <a:p>
            <a:endParaRPr lang="en-CA"/>
          </a:p>
        </p:txBody>
      </p:sp>
      <p:sp>
        <p:nvSpPr>
          <p:cNvPr id="16" name="Shape 13"/>
          <p:cNvSpPr/>
          <p:nvPr/>
        </p:nvSpPr>
        <p:spPr>
          <a:xfrm>
            <a:off x="2802636" y="2103120"/>
            <a:ext cx="2057400" cy="274320"/>
          </a:xfrm>
          <a:prstGeom prst="rect">
            <a:avLst/>
          </a:prstGeom>
          <a:solidFill>
            <a:srgbClr val="2E6FB0"/>
          </a:solidFill>
          <a:ln w="12700">
            <a:solidFill>
              <a:srgbClr val="2E6FB0"/>
            </a:solidFill>
            <a:prstDash val="solid"/>
          </a:ln>
        </p:spPr>
        <p:txBody>
          <a:bodyPr/>
          <a:lstStyle/>
          <a:p>
            <a:endParaRPr lang="en-CA"/>
          </a:p>
        </p:txBody>
      </p:sp>
      <p:sp>
        <p:nvSpPr>
          <p:cNvPr id="17" name="Shape 14"/>
          <p:cNvSpPr/>
          <p:nvPr/>
        </p:nvSpPr>
        <p:spPr>
          <a:xfrm>
            <a:off x="2939796" y="1828800"/>
            <a:ext cx="411480" cy="411480"/>
          </a:xfrm>
          <a:prstGeom prst="ellipse">
            <a:avLst/>
          </a:prstGeom>
          <a:solidFill>
            <a:srgbClr val="FFFFFF"/>
          </a:solidFill>
          <a:ln w="12700">
            <a:solidFill>
              <a:srgbClr val="FFFFFF"/>
            </a:solidFill>
            <a:prstDash val="solid"/>
          </a:ln>
        </p:spPr>
        <p:txBody>
          <a:bodyPr/>
          <a:lstStyle/>
          <a:p>
            <a:endParaRPr lang="en-CA"/>
          </a:p>
        </p:txBody>
      </p:sp>
      <p:pic>
        <p:nvPicPr>
          <p:cNvPr id="18" name="Image 1" descr="preencoded.png"/>
          <p:cNvPicPr>
            <a:picLocks noChangeAspect="1"/>
          </p:cNvPicPr>
          <p:nvPr/>
        </p:nvPicPr>
        <p:blipFill>
          <a:blip r:embed="rId4"/>
          <a:stretch>
            <a:fillRect/>
          </a:stretch>
        </p:blipFill>
        <p:spPr>
          <a:xfrm>
            <a:off x="3046781" y="1935785"/>
            <a:ext cx="197510" cy="197510"/>
          </a:xfrm>
          <a:prstGeom prst="rect">
            <a:avLst/>
          </a:prstGeom>
        </p:spPr>
      </p:pic>
      <p:sp>
        <p:nvSpPr>
          <p:cNvPr id="19" name="Text 15"/>
          <p:cNvSpPr txBox="1"/>
          <p:nvPr/>
        </p:nvSpPr>
        <p:spPr>
          <a:xfrm>
            <a:off x="3424428" y="1737360"/>
            <a:ext cx="1371600" cy="5943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Steady Regulars</a:t>
            </a:r>
            <a:endParaRPr lang="en-US" sz="1250" dirty="0"/>
          </a:p>
        </p:txBody>
      </p:sp>
      <p:sp>
        <p:nvSpPr>
          <p:cNvPr id="20" name="Text 16"/>
          <p:cNvSpPr txBox="1"/>
          <p:nvPr/>
        </p:nvSpPr>
        <p:spPr>
          <a:xfrm>
            <a:off x="2967228" y="2560320"/>
            <a:ext cx="1783080" cy="228600"/>
          </a:xfrm>
          <a:prstGeom prst="rect">
            <a:avLst/>
          </a:prstGeom>
          <a:noFill/>
          <a:ln/>
        </p:spPr>
        <p:txBody>
          <a:bodyPr wrap="square" lIns="0" tIns="0" rIns="0" bIns="0" rtlCol="0" anchor="t"/>
          <a:lstStyle/>
          <a:p>
            <a:pPr marL="0" indent="0">
              <a:buNone/>
            </a:pPr>
            <a:r>
              <a:rPr lang="en-US" sz="900" b="1" kern="0" spc="100" dirty="0">
                <a:solidFill>
                  <a:srgbClr val="5B6675"/>
                </a:solidFill>
                <a:latin typeface="Calibri" pitchFamily="34" charset="0"/>
                <a:ea typeface="Calibri" pitchFamily="34" charset="-122"/>
                <a:cs typeface="Calibri" pitchFamily="34" charset="-120"/>
              </a:rPr>
              <a:t>AT RISK PER CUSTOMER</a:t>
            </a:r>
            <a:endParaRPr lang="en-US" sz="900" dirty="0"/>
          </a:p>
        </p:txBody>
      </p:sp>
      <p:sp>
        <p:nvSpPr>
          <p:cNvPr id="21" name="Text 17"/>
          <p:cNvSpPr txBox="1"/>
          <p:nvPr/>
        </p:nvSpPr>
        <p:spPr>
          <a:xfrm>
            <a:off x="2967228" y="2788920"/>
            <a:ext cx="1783080" cy="457200"/>
          </a:xfrm>
          <a:prstGeom prst="rect">
            <a:avLst/>
          </a:prstGeom>
          <a:noFill/>
          <a:ln/>
        </p:spPr>
        <p:txBody>
          <a:bodyPr wrap="square" lIns="0" tIns="0" rIns="0" bIns="0" rtlCol="0" anchor="t"/>
          <a:lstStyle/>
          <a:p>
            <a:pPr marL="0" indent="0">
              <a:buNone/>
            </a:pPr>
            <a:r>
              <a:rPr lang="en-US" sz="2400" b="1" dirty="0">
                <a:solidFill>
                  <a:srgbClr val="2E6FB0"/>
                </a:solidFill>
                <a:latin typeface="Cambria" pitchFamily="34" charset="0"/>
                <a:ea typeface="Cambria" pitchFamily="34" charset="-122"/>
                <a:cs typeface="Cambria" pitchFamily="34" charset="-120"/>
              </a:rPr>
              <a:t>£843</a:t>
            </a:r>
            <a:endParaRPr lang="en-US" sz="2400" dirty="0"/>
          </a:p>
        </p:txBody>
      </p:sp>
      <p:sp>
        <p:nvSpPr>
          <p:cNvPr id="22" name="Text 18"/>
          <p:cNvSpPr txBox="1"/>
          <p:nvPr/>
        </p:nvSpPr>
        <p:spPr>
          <a:xfrm>
            <a:off x="2967228" y="3246120"/>
            <a:ext cx="1783080" cy="457200"/>
          </a:xfrm>
          <a:prstGeom prst="rect">
            <a:avLst/>
          </a:prstGeom>
          <a:noFill/>
          <a:ln/>
        </p:spPr>
        <p:txBody>
          <a:bodyPr wrap="square" lIns="0" tIns="0" rIns="0" bIns="0" rtlCol="0" anchor="t"/>
          <a:lstStyle/>
          <a:p>
            <a:pPr marL="0" indent="0">
              <a:buNone/>
            </a:pPr>
            <a:r>
              <a:rPr lang="en-US" sz="1200" b="1" dirty="0">
                <a:solidFill>
                  <a:srgbClr val="1E2B3A"/>
                </a:solidFill>
                <a:latin typeface="Calibri" pitchFamily="34" charset="0"/>
                <a:ea typeface="Calibri" pitchFamily="34" charset="-122"/>
                <a:cs typeface="Calibri" pitchFamily="34" charset="-120"/>
              </a:rPr>
              <a:t>Largest total value at risk</a:t>
            </a:r>
            <a:endParaRPr lang="en-US" sz="1200" dirty="0"/>
          </a:p>
        </p:txBody>
      </p:sp>
      <p:sp>
        <p:nvSpPr>
          <p:cNvPr id="23" name="Text 19"/>
          <p:cNvSpPr txBox="1"/>
          <p:nvPr/>
        </p:nvSpPr>
        <p:spPr>
          <a:xfrm>
            <a:off x="2967228" y="3794760"/>
            <a:ext cx="1783080" cy="1600200"/>
          </a:xfrm>
          <a:prstGeom prst="rect">
            <a:avLst/>
          </a:prstGeom>
          <a:noFill/>
          <a:ln/>
        </p:spPr>
        <p:txBody>
          <a:bodyPr wrap="square" lIns="0" tIns="0" rIns="0" bIns="0" rtlCol="0" anchor="t"/>
          <a:lstStyle/>
          <a:p>
            <a:pPr marL="139700" indent="-139700">
              <a:spcAft>
                <a:spcPts val="500"/>
              </a:spcAft>
              <a:buSzPct val="100000"/>
              <a:buChar char="•"/>
            </a:pPr>
            <a:r>
              <a:rPr lang="en-US" sz="1200" dirty="0">
                <a:solidFill>
                  <a:srgbClr val="1E2B3A"/>
                </a:solidFill>
                <a:latin typeface="Calibri" pitchFamily="34" charset="0"/>
                <a:ea typeface="Calibri" pitchFamily="34" charset="-122"/>
                <a:cs typeface="Calibri" pitchFamily="34" charset="-120"/>
              </a:rPr>
              <a:t>Reminder when they are overdue against their usual rhythm</a:t>
            </a:r>
            <a:endParaRPr lang="en-US" sz="1200" dirty="0"/>
          </a:p>
          <a:p>
            <a:pPr marL="139700" indent="-139700">
              <a:spcAft>
                <a:spcPts val="500"/>
              </a:spcAft>
              <a:buSzPct val="100000"/>
              <a:buChar char="•"/>
            </a:pPr>
            <a:r>
              <a:rPr lang="en-US" sz="1200" dirty="0">
                <a:solidFill>
                  <a:srgbClr val="1E2B3A"/>
                </a:solidFill>
                <a:latin typeface="Calibri" pitchFamily="34" charset="0"/>
                <a:ea typeface="Calibri" pitchFamily="34" charset="-122"/>
                <a:cs typeface="Calibri" pitchFamily="34" charset="-120"/>
              </a:rPr>
              <a:t>Personal email for the highest value at risk</a:t>
            </a:r>
            <a:endParaRPr lang="en-US" sz="1200" dirty="0"/>
          </a:p>
        </p:txBody>
      </p:sp>
      <p:sp>
        <p:nvSpPr>
          <p:cNvPr id="24" name="Shape 20"/>
          <p:cNvSpPr/>
          <p:nvPr/>
        </p:nvSpPr>
        <p:spPr>
          <a:xfrm>
            <a:off x="5056632" y="1691640"/>
            <a:ext cx="2057400" cy="3794760"/>
          </a:xfrm>
          <a:prstGeom prst="roundRect">
            <a:avLst>
              <a:gd name="adj" fmla="val 3556"/>
            </a:avLst>
          </a:prstGeom>
          <a:solidFill>
            <a:srgbClr val="E6F2ED"/>
          </a:solidFill>
          <a:ln w="12700">
            <a:solidFill>
              <a:srgbClr val="E6F2ED"/>
            </a:solidFill>
            <a:prstDash val="solid"/>
          </a:ln>
        </p:spPr>
        <p:txBody>
          <a:bodyPr/>
          <a:lstStyle/>
          <a:p>
            <a:endParaRPr lang="en-CA"/>
          </a:p>
        </p:txBody>
      </p:sp>
      <p:sp>
        <p:nvSpPr>
          <p:cNvPr id="25" name="Shape 21"/>
          <p:cNvSpPr/>
          <p:nvPr/>
        </p:nvSpPr>
        <p:spPr>
          <a:xfrm>
            <a:off x="5056632" y="1691640"/>
            <a:ext cx="2057400" cy="685800"/>
          </a:xfrm>
          <a:prstGeom prst="roundRect">
            <a:avLst>
              <a:gd name="adj" fmla="val 10667"/>
            </a:avLst>
          </a:prstGeom>
          <a:solidFill>
            <a:srgbClr val="1F7A5C"/>
          </a:solidFill>
          <a:ln w="12700">
            <a:solidFill>
              <a:srgbClr val="1F7A5C"/>
            </a:solidFill>
            <a:prstDash val="solid"/>
          </a:ln>
        </p:spPr>
        <p:txBody>
          <a:bodyPr/>
          <a:lstStyle/>
          <a:p>
            <a:endParaRPr lang="en-CA"/>
          </a:p>
        </p:txBody>
      </p:sp>
      <p:sp>
        <p:nvSpPr>
          <p:cNvPr id="26" name="Shape 22"/>
          <p:cNvSpPr/>
          <p:nvPr/>
        </p:nvSpPr>
        <p:spPr>
          <a:xfrm>
            <a:off x="5056632" y="2103120"/>
            <a:ext cx="2057400" cy="274320"/>
          </a:xfrm>
          <a:prstGeom prst="rect">
            <a:avLst/>
          </a:prstGeom>
          <a:solidFill>
            <a:srgbClr val="1F7A5C"/>
          </a:solidFill>
          <a:ln w="12700">
            <a:solidFill>
              <a:srgbClr val="1F7A5C"/>
            </a:solidFill>
            <a:prstDash val="solid"/>
          </a:ln>
        </p:spPr>
        <p:txBody>
          <a:bodyPr/>
          <a:lstStyle/>
          <a:p>
            <a:endParaRPr lang="en-CA"/>
          </a:p>
        </p:txBody>
      </p:sp>
      <p:sp>
        <p:nvSpPr>
          <p:cNvPr id="27" name="Shape 23"/>
          <p:cNvSpPr/>
          <p:nvPr/>
        </p:nvSpPr>
        <p:spPr>
          <a:xfrm>
            <a:off x="5193792" y="1828800"/>
            <a:ext cx="411480" cy="411480"/>
          </a:xfrm>
          <a:prstGeom prst="ellipse">
            <a:avLst/>
          </a:prstGeom>
          <a:solidFill>
            <a:srgbClr val="FFFFFF"/>
          </a:solidFill>
          <a:ln w="12700">
            <a:solidFill>
              <a:srgbClr val="FFFFFF"/>
            </a:solidFill>
            <a:prstDash val="solid"/>
          </a:ln>
        </p:spPr>
        <p:txBody>
          <a:bodyPr/>
          <a:lstStyle/>
          <a:p>
            <a:endParaRPr lang="en-CA"/>
          </a:p>
        </p:txBody>
      </p:sp>
      <p:pic>
        <p:nvPicPr>
          <p:cNvPr id="28" name="Image 2" descr="preencoded.png"/>
          <p:cNvPicPr>
            <a:picLocks noChangeAspect="1"/>
          </p:cNvPicPr>
          <p:nvPr/>
        </p:nvPicPr>
        <p:blipFill>
          <a:blip r:embed="rId5"/>
          <a:stretch>
            <a:fillRect/>
          </a:stretch>
        </p:blipFill>
        <p:spPr>
          <a:xfrm>
            <a:off x="5300777" y="1935785"/>
            <a:ext cx="197510" cy="197510"/>
          </a:xfrm>
          <a:prstGeom prst="rect">
            <a:avLst/>
          </a:prstGeom>
        </p:spPr>
      </p:pic>
      <p:sp>
        <p:nvSpPr>
          <p:cNvPr id="29" name="Text 24"/>
          <p:cNvSpPr txBox="1"/>
          <p:nvPr/>
        </p:nvSpPr>
        <p:spPr>
          <a:xfrm>
            <a:off x="5678424" y="1737360"/>
            <a:ext cx="1371600" cy="5943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Top Customers</a:t>
            </a:r>
            <a:endParaRPr lang="en-US" sz="1250" dirty="0"/>
          </a:p>
        </p:txBody>
      </p:sp>
      <p:sp>
        <p:nvSpPr>
          <p:cNvPr id="30" name="Text 25"/>
          <p:cNvSpPr txBox="1"/>
          <p:nvPr/>
        </p:nvSpPr>
        <p:spPr>
          <a:xfrm>
            <a:off x="5221224" y="2560320"/>
            <a:ext cx="1783080" cy="228600"/>
          </a:xfrm>
          <a:prstGeom prst="rect">
            <a:avLst/>
          </a:prstGeom>
          <a:noFill/>
          <a:ln/>
        </p:spPr>
        <p:txBody>
          <a:bodyPr wrap="square" lIns="0" tIns="0" rIns="0" bIns="0" rtlCol="0" anchor="t"/>
          <a:lstStyle/>
          <a:p>
            <a:pPr marL="0" indent="0">
              <a:buNone/>
            </a:pPr>
            <a:r>
              <a:rPr lang="en-US" sz="900" b="1" kern="0" spc="100" dirty="0">
                <a:solidFill>
                  <a:srgbClr val="5B6675"/>
                </a:solidFill>
                <a:latin typeface="Calibri" pitchFamily="34" charset="0"/>
                <a:ea typeface="Calibri" pitchFamily="34" charset="-122"/>
                <a:cs typeface="Calibri" pitchFamily="34" charset="-120"/>
              </a:rPr>
              <a:t>AT RISK PER CUSTOMER</a:t>
            </a:r>
            <a:endParaRPr lang="en-US" sz="900" dirty="0"/>
          </a:p>
        </p:txBody>
      </p:sp>
      <p:sp>
        <p:nvSpPr>
          <p:cNvPr id="31" name="Text 26"/>
          <p:cNvSpPr txBox="1"/>
          <p:nvPr/>
        </p:nvSpPr>
        <p:spPr>
          <a:xfrm>
            <a:off x="5221224" y="2788920"/>
            <a:ext cx="1783080" cy="457200"/>
          </a:xfrm>
          <a:prstGeom prst="rect">
            <a:avLst/>
          </a:prstGeom>
          <a:noFill/>
          <a:ln/>
        </p:spPr>
        <p:txBody>
          <a:bodyPr wrap="square" lIns="0" tIns="0" rIns="0" bIns="0" rtlCol="0" anchor="t"/>
          <a:lstStyle/>
          <a:p>
            <a:pPr marL="0" indent="0">
              <a:buNone/>
            </a:pPr>
            <a:r>
              <a:rPr lang="en-US" sz="2400" b="1" dirty="0">
                <a:solidFill>
                  <a:srgbClr val="1F7A5C"/>
                </a:solidFill>
                <a:latin typeface="Cambria" pitchFamily="34" charset="0"/>
                <a:ea typeface="Cambria" pitchFamily="34" charset="-122"/>
                <a:cs typeface="Cambria" pitchFamily="34" charset="-120"/>
              </a:rPr>
              <a:t>£675</a:t>
            </a:r>
            <a:endParaRPr lang="en-US" sz="2400" dirty="0"/>
          </a:p>
        </p:txBody>
      </p:sp>
      <p:sp>
        <p:nvSpPr>
          <p:cNvPr id="32" name="Text 27"/>
          <p:cNvSpPr txBox="1"/>
          <p:nvPr/>
        </p:nvSpPr>
        <p:spPr>
          <a:xfrm>
            <a:off x="5221224" y="3246120"/>
            <a:ext cx="1783080" cy="457200"/>
          </a:xfrm>
          <a:prstGeom prst="rect">
            <a:avLst/>
          </a:prstGeom>
          <a:noFill/>
          <a:ln/>
        </p:spPr>
        <p:txBody>
          <a:bodyPr wrap="square" lIns="0" tIns="0" rIns="0" bIns="0" rtlCol="0" anchor="t"/>
          <a:lstStyle/>
          <a:p>
            <a:pPr marL="0" indent="0">
              <a:buNone/>
            </a:pPr>
            <a:r>
              <a:rPr lang="en-US" sz="1200" b="1" dirty="0">
                <a:solidFill>
                  <a:srgbClr val="1E2B3A"/>
                </a:solidFill>
                <a:latin typeface="Calibri" pitchFamily="34" charset="0"/>
                <a:ea typeface="Calibri" pitchFamily="34" charset="-122"/>
                <a:cs typeface="Calibri" pitchFamily="34" charset="-120"/>
              </a:rPr>
              <a:t>Low risk, high spend</a:t>
            </a:r>
            <a:endParaRPr lang="en-US" sz="1200" dirty="0"/>
          </a:p>
        </p:txBody>
      </p:sp>
      <p:sp>
        <p:nvSpPr>
          <p:cNvPr id="33" name="Text 28"/>
          <p:cNvSpPr txBox="1"/>
          <p:nvPr/>
        </p:nvSpPr>
        <p:spPr>
          <a:xfrm>
            <a:off x="5221224" y="3794760"/>
            <a:ext cx="1783080" cy="1600200"/>
          </a:xfrm>
          <a:prstGeom prst="rect">
            <a:avLst/>
          </a:prstGeom>
          <a:noFill/>
          <a:ln/>
        </p:spPr>
        <p:txBody>
          <a:bodyPr wrap="square" lIns="0" tIns="0" rIns="0" bIns="0" rtlCol="0" anchor="t"/>
          <a:lstStyle/>
          <a:p>
            <a:pPr marL="139700" indent="-139700">
              <a:spcAft>
                <a:spcPts val="500"/>
              </a:spcAft>
              <a:buSzPct val="100000"/>
              <a:buChar char="•"/>
            </a:pPr>
            <a:r>
              <a:rPr lang="en-US" sz="1200" dirty="0">
                <a:solidFill>
                  <a:srgbClr val="1E2B3A"/>
                </a:solidFill>
                <a:latin typeface="Calibri" pitchFamily="34" charset="0"/>
                <a:ea typeface="Calibri" pitchFamily="34" charset="-122"/>
                <a:cs typeface="Calibri" pitchFamily="34" charset="-120"/>
              </a:rPr>
              <a:t>Flag any Top Customer whose risk rises</a:t>
            </a:r>
            <a:endParaRPr lang="en-US" sz="1200" dirty="0"/>
          </a:p>
          <a:p>
            <a:pPr marL="139700" indent="-139700">
              <a:spcAft>
                <a:spcPts val="500"/>
              </a:spcAft>
              <a:buSzPct val="100000"/>
              <a:buChar char="•"/>
            </a:pPr>
            <a:r>
              <a:rPr lang="en-US" sz="1200" dirty="0">
                <a:solidFill>
                  <a:srgbClr val="1E2B3A"/>
                </a:solidFill>
                <a:latin typeface="Calibri" pitchFamily="34" charset="0"/>
                <a:ea typeface="Calibri" pitchFamily="34" charset="-122"/>
                <a:cs typeface="Calibri" pitchFamily="34" charset="-120"/>
              </a:rPr>
              <a:t>Service and attention, not discounts</a:t>
            </a:r>
            <a:endParaRPr lang="en-US" sz="1200" dirty="0"/>
          </a:p>
        </p:txBody>
      </p:sp>
      <p:sp>
        <p:nvSpPr>
          <p:cNvPr id="34" name="Shape 29"/>
          <p:cNvSpPr/>
          <p:nvPr/>
        </p:nvSpPr>
        <p:spPr>
          <a:xfrm>
            <a:off x="7310628" y="1691640"/>
            <a:ext cx="2057400" cy="3794760"/>
          </a:xfrm>
          <a:prstGeom prst="roundRect">
            <a:avLst>
              <a:gd name="adj" fmla="val 3556"/>
            </a:avLst>
          </a:prstGeom>
          <a:solidFill>
            <a:srgbClr val="EEEFF1"/>
          </a:solidFill>
          <a:ln w="12700">
            <a:solidFill>
              <a:srgbClr val="EEEFF1"/>
            </a:solidFill>
            <a:prstDash val="solid"/>
          </a:ln>
        </p:spPr>
        <p:txBody>
          <a:bodyPr/>
          <a:lstStyle/>
          <a:p>
            <a:endParaRPr lang="en-CA"/>
          </a:p>
        </p:txBody>
      </p:sp>
      <p:sp>
        <p:nvSpPr>
          <p:cNvPr id="35" name="Shape 30"/>
          <p:cNvSpPr/>
          <p:nvPr/>
        </p:nvSpPr>
        <p:spPr>
          <a:xfrm>
            <a:off x="7310628" y="1691640"/>
            <a:ext cx="2057400" cy="685800"/>
          </a:xfrm>
          <a:prstGeom prst="roundRect">
            <a:avLst>
              <a:gd name="adj" fmla="val 10667"/>
            </a:avLst>
          </a:prstGeom>
          <a:solidFill>
            <a:srgbClr val="7F8691"/>
          </a:solidFill>
          <a:ln w="12700">
            <a:solidFill>
              <a:srgbClr val="7F8691"/>
            </a:solidFill>
            <a:prstDash val="solid"/>
          </a:ln>
        </p:spPr>
        <p:txBody>
          <a:bodyPr/>
          <a:lstStyle/>
          <a:p>
            <a:endParaRPr lang="en-CA"/>
          </a:p>
        </p:txBody>
      </p:sp>
      <p:sp>
        <p:nvSpPr>
          <p:cNvPr id="36" name="Shape 31"/>
          <p:cNvSpPr/>
          <p:nvPr/>
        </p:nvSpPr>
        <p:spPr>
          <a:xfrm>
            <a:off x="7310628" y="2103120"/>
            <a:ext cx="2057400" cy="274320"/>
          </a:xfrm>
          <a:prstGeom prst="rect">
            <a:avLst/>
          </a:prstGeom>
          <a:solidFill>
            <a:srgbClr val="7F8691"/>
          </a:solidFill>
          <a:ln w="12700">
            <a:solidFill>
              <a:srgbClr val="7F8691"/>
            </a:solidFill>
            <a:prstDash val="solid"/>
          </a:ln>
        </p:spPr>
        <p:txBody>
          <a:bodyPr/>
          <a:lstStyle/>
          <a:p>
            <a:endParaRPr lang="en-CA"/>
          </a:p>
        </p:txBody>
      </p:sp>
      <p:sp>
        <p:nvSpPr>
          <p:cNvPr id="37" name="Shape 32"/>
          <p:cNvSpPr/>
          <p:nvPr/>
        </p:nvSpPr>
        <p:spPr>
          <a:xfrm>
            <a:off x="7447788" y="1828800"/>
            <a:ext cx="411480" cy="411480"/>
          </a:xfrm>
          <a:prstGeom prst="ellipse">
            <a:avLst/>
          </a:prstGeom>
          <a:solidFill>
            <a:srgbClr val="FFFFFF"/>
          </a:solidFill>
          <a:ln w="12700">
            <a:solidFill>
              <a:srgbClr val="FFFFFF"/>
            </a:solidFill>
            <a:prstDash val="solid"/>
          </a:ln>
        </p:spPr>
        <p:txBody>
          <a:bodyPr/>
          <a:lstStyle/>
          <a:p>
            <a:endParaRPr lang="en-CA"/>
          </a:p>
        </p:txBody>
      </p:sp>
      <p:pic>
        <p:nvPicPr>
          <p:cNvPr id="38" name="Image 3" descr="preencoded.png"/>
          <p:cNvPicPr>
            <a:picLocks noChangeAspect="1"/>
          </p:cNvPicPr>
          <p:nvPr/>
        </p:nvPicPr>
        <p:blipFill>
          <a:blip r:embed="rId6"/>
          <a:stretch>
            <a:fillRect/>
          </a:stretch>
        </p:blipFill>
        <p:spPr>
          <a:xfrm>
            <a:off x="7554773" y="1935785"/>
            <a:ext cx="197510" cy="197510"/>
          </a:xfrm>
          <a:prstGeom prst="rect">
            <a:avLst/>
          </a:prstGeom>
        </p:spPr>
      </p:pic>
      <p:sp>
        <p:nvSpPr>
          <p:cNvPr id="39" name="Text 33"/>
          <p:cNvSpPr txBox="1"/>
          <p:nvPr/>
        </p:nvSpPr>
        <p:spPr>
          <a:xfrm>
            <a:off x="7932420" y="1737360"/>
            <a:ext cx="1371600" cy="5943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Gone Quiet</a:t>
            </a:r>
            <a:endParaRPr lang="en-US" sz="1250" dirty="0"/>
          </a:p>
        </p:txBody>
      </p:sp>
      <p:sp>
        <p:nvSpPr>
          <p:cNvPr id="40" name="Text 34"/>
          <p:cNvSpPr txBox="1"/>
          <p:nvPr/>
        </p:nvSpPr>
        <p:spPr>
          <a:xfrm>
            <a:off x="7475220" y="2560320"/>
            <a:ext cx="1783080" cy="228600"/>
          </a:xfrm>
          <a:prstGeom prst="rect">
            <a:avLst/>
          </a:prstGeom>
          <a:noFill/>
          <a:ln/>
        </p:spPr>
        <p:txBody>
          <a:bodyPr wrap="square" lIns="0" tIns="0" rIns="0" bIns="0" rtlCol="0" anchor="t"/>
          <a:lstStyle/>
          <a:p>
            <a:pPr marL="0" indent="0">
              <a:buNone/>
            </a:pPr>
            <a:r>
              <a:rPr lang="en-US" sz="900" b="1" kern="0" spc="100" dirty="0">
                <a:solidFill>
                  <a:srgbClr val="5B6675"/>
                </a:solidFill>
                <a:latin typeface="Calibri" pitchFamily="34" charset="0"/>
                <a:ea typeface="Calibri" pitchFamily="34" charset="-122"/>
                <a:cs typeface="Calibri" pitchFamily="34" charset="-120"/>
              </a:rPr>
              <a:t>AT RISK PER CUSTOMER</a:t>
            </a:r>
            <a:endParaRPr lang="en-US" sz="900" dirty="0"/>
          </a:p>
        </p:txBody>
      </p:sp>
      <p:sp>
        <p:nvSpPr>
          <p:cNvPr id="41" name="Text 35"/>
          <p:cNvSpPr txBox="1"/>
          <p:nvPr/>
        </p:nvSpPr>
        <p:spPr>
          <a:xfrm>
            <a:off x="7475220" y="2788920"/>
            <a:ext cx="1783080" cy="457200"/>
          </a:xfrm>
          <a:prstGeom prst="rect">
            <a:avLst/>
          </a:prstGeom>
          <a:noFill/>
          <a:ln/>
        </p:spPr>
        <p:txBody>
          <a:bodyPr wrap="square" lIns="0" tIns="0" rIns="0" bIns="0" rtlCol="0" anchor="t"/>
          <a:lstStyle/>
          <a:p>
            <a:pPr marL="0" indent="0">
              <a:buNone/>
            </a:pPr>
            <a:r>
              <a:rPr lang="en-US" sz="2400" b="1" dirty="0">
                <a:solidFill>
                  <a:srgbClr val="7F8691"/>
                </a:solidFill>
                <a:latin typeface="Cambria" pitchFamily="34" charset="0"/>
                <a:ea typeface="Cambria" pitchFamily="34" charset="-122"/>
                <a:cs typeface="Cambria" pitchFamily="34" charset="-120"/>
              </a:rPr>
              <a:t>£308</a:t>
            </a:r>
            <a:endParaRPr lang="en-US" sz="2400" dirty="0"/>
          </a:p>
        </p:txBody>
      </p:sp>
      <p:sp>
        <p:nvSpPr>
          <p:cNvPr id="42" name="Text 36"/>
          <p:cNvSpPr txBox="1"/>
          <p:nvPr/>
        </p:nvSpPr>
        <p:spPr>
          <a:xfrm>
            <a:off x="7475220" y="3246120"/>
            <a:ext cx="1783080" cy="457200"/>
          </a:xfrm>
          <a:prstGeom prst="rect">
            <a:avLst/>
          </a:prstGeom>
          <a:noFill/>
          <a:ln/>
        </p:spPr>
        <p:txBody>
          <a:bodyPr wrap="square" lIns="0" tIns="0" rIns="0" bIns="0" rtlCol="0" anchor="t"/>
          <a:lstStyle/>
          <a:p>
            <a:pPr marL="0" indent="0">
              <a:buNone/>
            </a:pPr>
            <a:r>
              <a:rPr lang="en-US" sz="1200" b="1" dirty="0">
                <a:solidFill>
                  <a:srgbClr val="1E2B3A"/>
                </a:solidFill>
                <a:latin typeface="Calibri" pitchFamily="34" charset="0"/>
                <a:ea typeface="Calibri" pitchFamily="34" charset="-122"/>
                <a:cs typeface="Calibri" pitchFamily="34" charset="-120"/>
              </a:rPr>
              <a:t>Highest risk, low spend</a:t>
            </a:r>
            <a:endParaRPr lang="en-US" sz="1200" dirty="0"/>
          </a:p>
        </p:txBody>
      </p:sp>
      <p:sp>
        <p:nvSpPr>
          <p:cNvPr id="43" name="Text 37"/>
          <p:cNvSpPr txBox="1"/>
          <p:nvPr/>
        </p:nvSpPr>
        <p:spPr>
          <a:xfrm>
            <a:off x="7475220" y="3794760"/>
            <a:ext cx="1783080" cy="1600200"/>
          </a:xfrm>
          <a:prstGeom prst="rect">
            <a:avLst/>
          </a:prstGeom>
          <a:noFill/>
          <a:ln/>
        </p:spPr>
        <p:txBody>
          <a:bodyPr wrap="square" lIns="0" tIns="0" rIns="0" bIns="0" rtlCol="0" anchor="t"/>
          <a:lstStyle/>
          <a:p>
            <a:pPr marL="139700" indent="-139700">
              <a:spcAft>
                <a:spcPts val="500"/>
              </a:spcAft>
              <a:buSzPct val="100000"/>
              <a:buChar char="•"/>
            </a:pPr>
            <a:r>
              <a:rPr lang="en-US" sz="1200" dirty="0">
                <a:solidFill>
                  <a:srgbClr val="1E2B3A"/>
                </a:solidFill>
                <a:latin typeface="Calibri" pitchFamily="34" charset="0"/>
                <a:ea typeface="Calibri" pitchFamily="34" charset="-122"/>
                <a:cs typeface="Calibri" pitchFamily="34" charset="-120"/>
              </a:rPr>
              <a:t>Low-cost bulk email only</a:t>
            </a:r>
            <a:endParaRPr lang="en-US" sz="1200" dirty="0"/>
          </a:p>
          <a:p>
            <a:pPr marL="139700" indent="-139700">
              <a:spcAft>
                <a:spcPts val="500"/>
              </a:spcAft>
              <a:buSzPct val="100000"/>
              <a:buChar char="•"/>
            </a:pPr>
            <a:r>
              <a:rPr lang="en-US" sz="1200" dirty="0">
                <a:solidFill>
                  <a:srgbClr val="1E2B3A"/>
                </a:solidFill>
                <a:latin typeface="Calibri" pitchFamily="34" charset="0"/>
                <a:ea typeface="Calibri" pitchFamily="34" charset="-122"/>
                <a:cs typeface="Calibri" pitchFamily="34" charset="-120"/>
              </a:rPr>
              <a:t>One reminder to last year's Christmas buyers</a:t>
            </a:r>
            <a:endParaRPr lang="en-US" sz="1200" dirty="0"/>
          </a:p>
        </p:txBody>
      </p:sp>
      <p:sp>
        <p:nvSpPr>
          <p:cNvPr id="44" name="Shape 38"/>
          <p:cNvSpPr/>
          <p:nvPr/>
        </p:nvSpPr>
        <p:spPr>
          <a:xfrm>
            <a:off x="9564624" y="1691640"/>
            <a:ext cx="2057400" cy="3794760"/>
          </a:xfrm>
          <a:prstGeom prst="roundRect">
            <a:avLst>
              <a:gd name="adj" fmla="val 3556"/>
            </a:avLst>
          </a:prstGeom>
          <a:solidFill>
            <a:srgbClr val="FBF1E0"/>
          </a:solidFill>
          <a:ln w="12700">
            <a:solidFill>
              <a:srgbClr val="FBF1E0"/>
            </a:solidFill>
            <a:prstDash val="solid"/>
          </a:ln>
        </p:spPr>
        <p:txBody>
          <a:bodyPr/>
          <a:lstStyle/>
          <a:p>
            <a:endParaRPr lang="en-CA"/>
          </a:p>
        </p:txBody>
      </p:sp>
      <p:sp>
        <p:nvSpPr>
          <p:cNvPr id="45" name="Shape 39"/>
          <p:cNvSpPr/>
          <p:nvPr/>
        </p:nvSpPr>
        <p:spPr>
          <a:xfrm>
            <a:off x="9564624" y="1691640"/>
            <a:ext cx="2057400" cy="685800"/>
          </a:xfrm>
          <a:prstGeom prst="roundRect">
            <a:avLst>
              <a:gd name="adj" fmla="val 10667"/>
            </a:avLst>
          </a:prstGeom>
          <a:solidFill>
            <a:srgbClr val="C9820E"/>
          </a:solidFill>
          <a:ln w="12700">
            <a:solidFill>
              <a:srgbClr val="C9820E"/>
            </a:solidFill>
            <a:prstDash val="solid"/>
          </a:ln>
        </p:spPr>
        <p:txBody>
          <a:bodyPr/>
          <a:lstStyle/>
          <a:p>
            <a:endParaRPr lang="en-CA"/>
          </a:p>
        </p:txBody>
      </p:sp>
      <p:sp>
        <p:nvSpPr>
          <p:cNvPr id="46" name="Shape 40"/>
          <p:cNvSpPr/>
          <p:nvPr/>
        </p:nvSpPr>
        <p:spPr>
          <a:xfrm>
            <a:off x="9564624" y="2103120"/>
            <a:ext cx="2057400" cy="274320"/>
          </a:xfrm>
          <a:prstGeom prst="rect">
            <a:avLst/>
          </a:prstGeom>
          <a:solidFill>
            <a:srgbClr val="C9820E"/>
          </a:solidFill>
          <a:ln w="12700">
            <a:solidFill>
              <a:srgbClr val="C9820E"/>
            </a:solidFill>
            <a:prstDash val="solid"/>
          </a:ln>
        </p:spPr>
        <p:txBody>
          <a:bodyPr/>
          <a:lstStyle/>
          <a:p>
            <a:endParaRPr lang="en-CA"/>
          </a:p>
        </p:txBody>
      </p:sp>
      <p:sp>
        <p:nvSpPr>
          <p:cNvPr id="47" name="Shape 41"/>
          <p:cNvSpPr/>
          <p:nvPr/>
        </p:nvSpPr>
        <p:spPr>
          <a:xfrm>
            <a:off x="9701784" y="1828800"/>
            <a:ext cx="411480" cy="411480"/>
          </a:xfrm>
          <a:prstGeom prst="ellipse">
            <a:avLst/>
          </a:prstGeom>
          <a:solidFill>
            <a:srgbClr val="FFFFFF"/>
          </a:solidFill>
          <a:ln w="12700">
            <a:solidFill>
              <a:srgbClr val="FFFFFF"/>
            </a:solidFill>
            <a:prstDash val="solid"/>
          </a:ln>
        </p:spPr>
        <p:txBody>
          <a:bodyPr/>
          <a:lstStyle/>
          <a:p>
            <a:endParaRPr lang="en-CA"/>
          </a:p>
        </p:txBody>
      </p:sp>
      <p:pic>
        <p:nvPicPr>
          <p:cNvPr id="48" name="Image 4" descr="preencoded.png"/>
          <p:cNvPicPr>
            <a:picLocks noChangeAspect="1"/>
          </p:cNvPicPr>
          <p:nvPr/>
        </p:nvPicPr>
        <p:blipFill>
          <a:blip r:embed="rId7"/>
          <a:stretch>
            <a:fillRect/>
          </a:stretch>
        </p:blipFill>
        <p:spPr>
          <a:xfrm>
            <a:off x="9808769" y="1935785"/>
            <a:ext cx="197510" cy="197510"/>
          </a:xfrm>
          <a:prstGeom prst="rect">
            <a:avLst/>
          </a:prstGeom>
        </p:spPr>
      </p:pic>
      <p:sp>
        <p:nvSpPr>
          <p:cNvPr id="49" name="Text 42"/>
          <p:cNvSpPr txBox="1"/>
          <p:nvPr/>
        </p:nvSpPr>
        <p:spPr>
          <a:xfrm>
            <a:off x="10186416" y="1737360"/>
            <a:ext cx="1371600" cy="5943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New Starters</a:t>
            </a:r>
            <a:endParaRPr lang="en-US" sz="1250" dirty="0"/>
          </a:p>
        </p:txBody>
      </p:sp>
      <p:sp>
        <p:nvSpPr>
          <p:cNvPr id="50" name="Text 43"/>
          <p:cNvSpPr txBox="1"/>
          <p:nvPr/>
        </p:nvSpPr>
        <p:spPr>
          <a:xfrm>
            <a:off x="9729216" y="2560320"/>
            <a:ext cx="1783080" cy="228600"/>
          </a:xfrm>
          <a:prstGeom prst="rect">
            <a:avLst/>
          </a:prstGeom>
          <a:noFill/>
          <a:ln/>
        </p:spPr>
        <p:txBody>
          <a:bodyPr wrap="square" lIns="0" tIns="0" rIns="0" bIns="0" rtlCol="0" anchor="t"/>
          <a:lstStyle/>
          <a:p>
            <a:pPr marL="0" indent="0">
              <a:buNone/>
            </a:pPr>
            <a:r>
              <a:rPr lang="en-US" sz="900" b="1" kern="0" spc="100" dirty="0">
                <a:solidFill>
                  <a:srgbClr val="5B6675"/>
                </a:solidFill>
                <a:latin typeface="Calibri" pitchFamily="34" charset="0"/>
                <a:ea typeface="Calibri" pitchFamily="34" charset="-122"/>
                <a:cs typeface="Calibri" pitchFamily="34" charset="-120"/>
              </a:rPr>
              <a:t>AT RISK PER CUSTOMER</a:t>
            </a:r>
            <a:endParaRPr lang="en-US" sz="900" dirty="0"/>
          </a:p>
        </p:txBody>
      </p:sp>
      <p:sp>
        <p:nvSpPr>
          <p:cNvPr id="51" name="Text 44"/>
          <p:cNvSpPr txBox="1"/>
          <p:nvPr/>
        </p:nvSpPr>
        <p:spPr>
          <a:xfrm>
            <a:off x="9729216" y="2788920"/>
            <a:ext cx="1783080" cy="457200"/>
          </a:xfrm>
          <a:prstGeom prst="rect">
            <a:avLst/>
          </a:prstGeom>
          <a:noFill/>
          <a:ln/>
        </p:spPr>
        <p:txBody>
          <a:bodyPr wrap="square" lIns="0" tIns="0" rIns="0" bIns="0" rtlCol="0" anchor="t"/>
          <a:lstStyle/>
          <a:p>
            <a:pPr marL="0" indent="0">
              <a:buNone/>
            </a:pPr>
            <a:r>
              <a:rPr lang="en-US" sz="2400" b="1" dirty="0">
                <a:solidFill>
                  <a:srgbClr val="C9820E"/>
                </a:solidFill>
                <a:latin typeface="Cambria" pitchFamily="34" charset="0"/>
                <a:ea typeface="Cambria" pitchFamily="34" charset="-122"/>
                <a:cs typeface="Cambria" pitchFamily="34" charset="-120"/>
              </a:rPr>
              <a:t>£194</a:t>
            </a:r>
            <a:endParaRPr lang="en-US" sz="2400" dirty="0"/>
          </a:p>
        </p:txBody>
      </p:sp>
      <p:sp>
        <p:nvSpPr>
          <p:cNvPr id="52" name="Text 45"/>
          <p:cNvSpPr txBox="1"/>
          <p:nvPr/>
        </p:nvSpPr>
        <p:spPr>
          <a:xfrm>
            <a:off x="9729216" y="3246120"/>
            <a:ext cx="1783080" cy="457200"/>
          </a:xfrm>
          <a:prstGeom prst="rect">
            <a:avLst/>
          </a:prstGeom>
          <a:noFill/>
          <a:ln/>
        </p:spPr>
        <p:txBody>
          <a:bodyPr wrap="square" lIns="0" tIns="0" rIns="0" bIns="0" rtlCol="0" anchor="t"/>
          <a:lstStyle/>
          <a:p>
            <a:pPr marL="0" indent="0">
              <a:buNone/>
            </a:pPr>
            <a:r>
              <a:rPr lang="en-US" sz="1200" b="1" dirty="0">
                <a:solidFill>
                  <a:srgbClr val="1E2B3A"/>
                </a:solidFill>
                <a:latin typeface="Calibri" pitchFamily="34" charset="0"/>
                <a:ea typeface="Calibri" pitchFamily="34" charset="-122"/>
                <a:cs typeface="Calibri" pitchFamily="34" charset="-120"/>
              </a:rPr>
              <a:t>Low spend so far</a:t>
            </a:r>
            <a:endParaRPr lang="en-US" sz="1200" dirty="0"/>
          </a:p>
        </p:txBody>
      </p:sp>
      <p:sp>
        <p:nvSpPr>
          <p:cNvPr id="53" name="Text 46"/>
          <p:cNvSpPr txBox="1"/>
          <p:nvPr/>
        </p:nvSpPr>
        <p:spPr>
          <a:xfrm>
            <a:off x="9729216" y="3794760"/>
            <a:ext cx="1783080" cy="1600200"/>
          </a:xfrm>
          <a:prstGeom prst="rect">
            <a:avLst/>
          </a:prstGeom>
          <a:noFill/>
          <a:ln/>
        </p:spPr>
        <p:txBody>
          <a:bodyPr wrap="square" lIns="0" tIns="0" rIns="0" bIns="0" rtlCol="0" anchor="t"/>
          <a:lstStyle/>
          <a:p>
            <a:pPr marL="139700" indent="-139700">
              <a:spcAft>
                <a:spcPts val="500"/>
              </a:spcAft>
              <a:buSzPct val="100000"/>
              <a:buChar char="•"/>
            </a:pPr>
            <a:r>
              <a:rPr lang="en-US" sz="1200" dirty="0">
                <a:solidFill>
                  <a:srgbClr val="1E2B3A"/>
                </a:solidFill>
                <a:latin typeface="Calibri" pitchFamily="34" charset="0"/>
                <a:ea typeface="Calibri" pitchFamily="34" charset="-122"/>
                <a:cs typeface="Calibri" pitchFamily="34" charset="-120"/>
              </a:rPr>
              <a:t>Automated welcome journey</a:t>
            </a:r>
            <a:endParaRPr lang="en-US" sz="1200" dirty="0"/>
          </a:p>
          <a:p>
            <a:pPr marL="139700" indent="-139700">
              <a:spcAft>
                <a:spcPts val="500"/>
              </a:spcAft>
              <a:buSzPct val="100000"/>
              <a:buChar char="•"/>
            </a:pPr>
            <a:r>
              <a:rPr lang="en-US" sz="1200" dirty="0">
                <a:solidFill>
                  <a:srgbClr val="1E2B3A"/>
                </a:solidFill>
                <a:latin typeface="Calibri" pitchFamily="34" charset="0"/>
                <a:ea typeface="Calibri" pitchFamily="34" charset="-122"/>
                <a:cs typeface="Calibri" pitchFamily="34" charset="-120"/>
              </a:rPr>
              <a:t>Aim for the third order</a:t>
            </a:r>
            <a:endParaRPr lang="en-US" sz="1200" dirty="0"/>
          </a:p>
        </p:txBody>
      </p:sp>
      <p:sp>
        <p:nvSpPr>
          <p:cNvPr id="54" name="Shape 47"/>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55" name="Text 48"/>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The customer list does the sorting; these rules decide the type of contact. Personal effort goes where the money is.</a:t>
            </a:r>
            <a:endParaRPr lang="en-US" sz="1500" dirty="0"/>
          </a:p>
        </p:txBody>
      </p:sp>
      <p:sp>
        <p:nvSpPr>
          <p:cNvPr id="56" name="Text 49"/>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PUTTING IT TO WORK</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A simple routine each season, with the model as a prioritization tool</a:t>
            </a:r>
            <a:endParaRPr lang="en-US" sz="2600" dirty="0"/>
          </a:p>
        </p:txBody>
      </p:sp>
      <p:sp>
        <p:nvSpPr>
          <p:cNvPr id="4" name="Shape 2"/>
          <p:cNvSpPr/>
          <p:nvPr/>
        </p:nvSpPr>
        <p:spPr>
          <a:xfrm>
            <a:off x="548640" y="1737360"/>
            <a:ext cx="2514600" cy="2148840"/>
          </a:xfrm>
          <a:prstGeom prst="roundRect">
            <a:avLst>
              <a:gd name="adj" fmla="val 3404"/>
            </a:avLst>
          </a:prstGeom>
          <a:solidFill>
            <a:srgbClr val="F3F5F8"/>
          </a:solidFill>
          <a:ln w="12700">
            <a:solidFill>
              <a:srgbClr val="F3F5F8"/>
            </a:solidFill>
            <a:prstDash val="solid"/>
          </a:ln>
        </p:spPr>
        <p:txBody>
          <a:bodyPr/>
          <a:lstStyle/>
          <a:p>
            <a:endParaRPr lang="en-CA"/>
          </a:p>
        </p:txBody>
      </p:sp>
      <p:sp>
        <p:nvSpPr>
          <p:cNvPr id="5" name="Shape 3"/>
          <p:cNvSpPr/>
          <p:nvPr/>
        </p:nvSpPr>
        <p:spPr>
          <a:xfrm>
            <a:off x="1508760" y="1920240"/>
            <a:ext cx="594360" cy="594360"/>
          </a:xfrm>
          <a:prstGeom prst="ellipse">
            <a:avLst/>
          </a:prstGeom>
          <a:solidFill>
            <a:srgbClr val="1E2B3A"/>
          </a:solidFill>
          <a:ln w="12700">
            <a:solidFill>
              <a:srgbClr val="1E2B3A"/>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1663294" y="2074774"/>
            <a:ext cx="285293" cy="285293"/>
          </a:xfrm>
          <a:prstGeom prst="rect">
            <a:avLst/>
          </a:prstGeom>
        </p:spPr>
      </p:pic>
      <p:sp>
        <p:nvSpPr>
          <p:cNvPr id="7" name="Text 4"/>
          <p:cNvSpPr txBox="1"/>
          <p:nvPr/>
        </p:nvSpPr>
        <p:spPr>
          <a:xfrm>
            <a:off x="685800" y="2651760"/>
            <a:ext cx="2240280" cy="320040"/>
          </a:xfrm>
          <a:prstGeom prst="rect">
            <a:avLst/>
          </a:prstGeom>
          <a:noFill/>
          <a:ln/>
        </p:spPr>
        <p:txBody>
          <a:bodyPr wrap="square" lIns="0" tIns="0" rIns="0" bIns="0" rtlCol="0" anchor="t"/>
          <a:lstStyle/>
          <a:p>
            <a:pPr marL="0" indent="0" algn="ctr">
              <a:buNone/>
            </a:pPr>
            <a:r>
              <a:rPr lang="en-US" sz="1500" b="1" dirty="0">
                <a:solidFill>
                  <a:srgbClr val="1E2B3A"/>
                </a:solidFill>
                <a:latin typeface="Calibri" pitchFamily="34" charset="0"/>
                <a:ea typeface="Calibri" pitchFamily="34" charset="-122"/>
                <a:cs typeface="Calibri" pitchFamily="34" charset="-120"/>
              </a:rPr>
              <a:t>Run the right model</a:t>
            </a:r>
            <a:endParaRPr lang="en-US" sz="1500" dirty="0"/>
          </a:p>
        </p:txBody>
      </p:sp>
      <p:sp>
        <p:nvSpPr>
          <p:cNvPr id="8" name="Text 5"/>
          <p:cNvSpPr txBox="1"/>
          <p:nvPr/>
        </p:nvSpPr>
        <p:spPr>
          <a:xfrm>
            <a:off x="731520" y="3017520"/>
            <a:ext cx="2148840" cy="777240"/>
          </a:xfrm>
          <a:prstGeom prst="rect">
            <a:avLst/>
          </a:prstGeom>
          <a:noFill/>
          <a:ln/>
        </p:spPr>
        <p:txBody>
          <a:bodyPr wrap="square" lIns="0" tIns="0" rIns="0" bIns="0" rtlCol="0" anchor="t"/>
          <a:lstStyle/>
          <a:p>
            <a:pPr marL="0" indent="0" algn="ctr">
              <a:buNone/>
            </a:pPr>
            <a:r>
              <a:rPr lang="en-US" sz="1250" dirty="0">
                <a:solidFill>
                  <a:srgbClr val="5B6675"/>
                </a:solidFill>
                <a:latin typeface="Calibri" pitchFamily="34" charset="0"/>
                <a:ea typeface="Calibri" pitchFamily="34" charset="-122"/>
                <a:cs typeface="Calibri" pitchFamily="34" charset="-120"/>
              </a:rPr>
              <a:t>Early September for the Christmas run-up; the non-holiday model outside it</a:t>
            </a:r>
            <a:endParaRPr lang="en-US" sz="1250" dirty="0"/>
          </a:p>
        </p:txBody>
      </p:sp>
      <p:sp>
        <p:nvSpPr>
          <p:cNvPr id="9" name="Shape 6"/>
          <p:cNvSpPr/>
          <p:nvPr/>
        </p:nvSpPr>
        <p:spPr>
          <a:xfrm>
            <a:off x="3118104" y="2651760"/>
            <a:ext cx="237744" cy="274320"/>
          </a:xfrm>
          <a:prstGeom prst="rightArrow">
            <a:avLst/>
          </a:prstGeom>
          <a:solidFill>
            <a:srgbClr val="B8C0CB"/>
          </a:solidFill>
          <a:ln w="12700">
            <a:solidFill>
              <a:srgbClr val="B8C0CB"/>
            </a:solidFill>
            <a:prstDash val="solid"/>
          </a:ln>
        </p:spPr>
        <p:txBody>
          <a:bodyPr/>
          <a:lstStyle/>
          <a:p>
            <a:endParaRPr lang="en-CA"/>
          </a:p>
        </p:txBody>
      </p:sp>
      <p:sp>
        <p:nvSpPr>
          <p:cNvPr id="10" name="Shape 7"/>
          <p:cNvSpPr/>
          <p:nvPr/>
        </p:nvSpPr>
        <p:spPr>
          <a:xfrm>
            <a:off x="3407969" y="1737360"/>
            <a:ext cx="2514600" cy="2148840"/>
          </a:xfrm>
          <a:prstGeom prst="roundRect">
            <a:avLst>
              <a:gd name="adj" fmla="val 3404"/>
            </a:avLst>
          </a:prstGeom>
          <a:solidFill>
            <a:srgbClr val="F3F5F8"/>
          </a:solidFill>
          <a:ln w="12700">
            <a:solidFill>
              <a:srgbClr val="F3F5F8"/>
            </a:solidFill>
            <a:prstDash val="solid"/>
          </a:ln>
        </p:spPr>
        <p:txBody>
          <a:bodyPr/>
          <a:lstStyle/>
          <a:p>
            <a:endParaRPr lang="en-CA"/>
          </a:p>
        </p:txBody>
      </p:sp>
      <p:sp>
        <p:nvSpPr>
          <p:cNvPr id="11" name="Shape 8"/>
          <p:cNvSpPr/>
          <p:nvPr/>
        </p:nvSpPr>
        <p:spPr>
          <a:xfrm>
            <a:off x="4368089" y="1920240"/>
            <a:ext cx="594360" cy="594360"/>
          </a:xfrm>
          <a:prstGeom prst="ellipse">
            <a:avLst/>
          </a:prstGeom>
          <a:solidFill>
            <a:srgbClr val="1E2B3A"/>
          </a:solidFill>
          <a:ln w="12700">
            <a:solidFill>
              <a:srgbClr val="1E2B3A"/>
            </a:solidFill>
            <a:prstDash val="solid"/>
          </a:ln>
        </p:spPr>
        <p:txBody>
          <a:bodyPr/>
          <a:lstStyle/>
          <a:p>
            <a:endParaRPr lang="en-CA"/>
          </a:p>
        </p:txBody>
      </p:sp>
      <p:pic>
        <p:nvPicPr>
          <p:cNvPr id="12" name="Image 1" descr="preencoded.png"/>
          <p:cNvPicPr>
            <a:picLocks noChangeAspect="1"/>
          </p:cNvPicPr>
          <p:nvPr/>
        </p:nvPicPr>
        <p:blipFill>
          <a:blip r:embed="rId4"/>
          <a:stretch>
            <a:fillRect/>
          </a:stretch>
        </p:blipFill>
        <p:spPr>
          <a:xfrm>
            <a:off x="4522622" y="2074774"/>
            <a:ext cx="285293" cy="285293"/>
          </a:xfrm>
          <a:prstGeom prst="rect">
            <a:avLst/>
          </a:prstGeom>
        </p:spPr>
      </p:pic>
      <p:sp>
        <p:nvSpPr>
          <p:cNvPr id="13" name="Text 9"/>
          <p:cNvSpPr txBox="1"/>
          <p:nvPr/>
        </p:nvSpPr>
        <p:spPr>
          <a:xfrm>
            <a:off x="3545129" y="2651760"/>
            <a:ext cx="2240280" cy="320040"/>
          </a:xfrm>
          <a:prstGeom prst="rect">
            <a:avLst/>
          </a:prstGeom>
          <a:noFill/>
          <a:ln/>
        </p:spPr>
        <p:txBody>
          <a:bodyPr wrap="square" lIns="0" tIns="0" rIns="0" bIns="0" rtlCol="0" anchor="t"/>
          <a:lstStyle/>
          <a:p>
            <a:pPr marL="0" indent="0" algn="ctr">
              <a:buNone/>
            </a:pPr>
            <a:r>
              <a:rPr lang="en-US" sz="1500" b="1" dirty="0">
                <a:solidFill>
                  <a:srgbClr val="1E2B3A"/>
                </a:solidFill>
                <a:latin typeface="Calibri" pitchFamily="34" charset="0"/>
                <a:ea typeface="Calibri" pitchFamily="34" charset="-122"/>
                <a:cs typeface="Calibri" pitchFamily="34" charset="-120"/>
              </a:rPr>
              <a:t>Sort by value at risk</a:t>
            </a:r>
            <a:endParaRPr lang="en-US" sz="1500" dirty="0"/>
          </a:p>
        </p:txBody>
      </p:sp>
      <p:sp>
        <p:nvSpPr>
          <p:cNvPr id="14" name="Text 10"/>
          <p:cNvSpPr txBox="1"/>
          <p:nvPr/>
        </p:nvSpPr>
        <p:spPr>
          <a:xfrm>
            <a:off x="3590849" y="3017520"/>
            <a:ext cx="2148840" cy="777240"/>
          </a:xfrm>
          <a:prstGeom prst="rect">
            <a:avLst/>
          </a:prstGeom>
          <a:noFill/>
          <a:ln/>
        </p:spPr>
        <p:txBody>
          <a:bodyPr wrap="square" lIns="0" tIns="0" rIns="0" bIns="0" rtlCol="0" anchor="t"/>
          <a:lstStyle/>
          <a:p>
            <a:pPr marL="0" indent="0" algn="ctr">
              <a:buNone/>
            </a:pPr>
            <a:r>
              <a:rPr lang="en-US" sz="1250" dirty="0">
                <a:solidFill>
                  <a:srgbClr val="5B6675"/>
                </a:solidFill>
                <a:latin typeface="Calibri" pitchFamily="34" charset="0"/>
                <a:ea typeface="Calibri" pitchFamily="34" charset="-122"/>
                <a:cs typeface="Calibri" pitchFamily="34" charset="-120"/>
              </a:rPr>
              <a:t>Chance of leaving × past spend, highest first</a:t>
            </a:r>
            <a:endParaRPr lang="en-US" sz="1250" dirty="0"/>
          </a:p>
        </p:txBody>
      </p:sp>
      <p:sp>
        <p:nvSpPr>
          <p:cNvPr id="15" name="Shape 11"/>
          <p:cNvSpPr/>
          <p:nvPr/>
        </p:nvSpPr>
        <p:spPr>
          <a:xfrm>
            <a:off x="5977433" y="2651760"/>
            <a:ext cx="237744" cy="274320"/>
          </a:xfrm>
          <a:prstGeom prst="rightArrow">
            <a:avLst/>
          </a:prstGeom>
          <a:solidFill>
            <a:srgbClr val="B8C0CB"/>
          </a:solidFill>
          <a:ln w="12700">
            <a:solidFill>
              <a:srgbClr val="B8C0CB"/>
            </a:solidFill>
            <a:prstDash val="solid"/>
          </a:ln>
        </p:spPr>
        <p:txBody>
          <a:bodyPr/>
          <a:lstStyle/>
          <a:p>
            <a:endParaRPr lang="en-CA"/>
          </a:p>
        </p:txBody>
      </p:sp>
      <p:sp>
        <p:nvSpPr>
          <p:cNvPr id="16" name="Shape 12"/>
          <p:cNvSpPr/>
          <p:nvPr/>
        </p:nvSpPr>
        <p:spPr>
          <a:xfrm>
            <a:off x="6267298" y="1737360"/>
            <a:ext cx="2514600" cy="2148840"/>
          </a:xfrm>
          <a:prstGeom prst="roundRect">
            <a:avLst>
              <a:gd name="adj" fmla="val 3404"/>
            </a:avLst>
          </a:prstGeom>
          <a:solidFill>
            <a:srgbClr val="F3F5F8"/>
          </a:solidFill>
          <a:ln w="12700">
            <a:solidFill>
              <a:srgbClr val="F3F5F8"/>
            </a:solidFill>
            <a:prstDash val="solid"/>
          </a:ln>
        </p:spPr>
        <p:txBody>
          <a:bodyPr/>
          <a:lstStyle/>
          <a:p>
            <a:endParaRPr lang="en-CA"/>
          </a:p>
        </p:txBody>
      </p:sp>
      <p:sp>
        <p:nvSpPr>
          <p:cNvPr id="17" name="Shape 13"/>
          <p:cNvSpPr/>
          <p:nvPr/>
        </p:nvSpPr>
        <p:spPr>
          <a:xfrm>
            <a:off x="7227418" y="1920240"/>
            <a:ext cx="594360" cy="594360"/>
          </a:xfrm>
          <a:prstGeom prst="ellipse">
            <a:avLst/>
          </a:prstGeom>
          <a:solidFill>
            <a:srgbClr val="1E2B3A"/>
          </a:solidFill>
          <a:ln w="12700">
            <a:solidFill>
              <a:srgbClr val="1E2B3A"/>
            </a:solidFill>
            <a:prstDash val="solid"/>
          </a:ln>
        </p:spPr>
        <p:txBody>
          <a:bodyPr/>
          <a:lstStyle/>
          <a:p>
            <a:endParaRPr lang="en-CA"/>
          </a:p>
        </p:txBody>
      </p:sp>
      <p:pic>
        <p:nvPicPr>
          <p:cNvPr id="18" name="Image 2" descr="preencoded.png"/>
          <p:cNvPicPr>
            <a:picLocks noChangeAspect="1"/>
          </p:cNvPicPr>
          <p:nvPr/>
        </p:nvPicPr>
        <p:blipFill>
          <a:blip r:embed="rId5"/>
          <a:stretch>
            <a:fillRect/>
          </a:stretch>
        </p:blipFill>
        <p:spPr>
          <a:xfrm>
            <a:off x="7381951" y="2074774"/>
            <a:ext cx="285293" cy="285293"/>
          </a:xfrm>
          <a:prstGeom prst="rect">
            <a:avLst/>
          </a:prstGeom>
        </p:spPr>
      </p:pic>
      <p:sp>
        <p:nvSpPr>
          <p:cNvPr id="19" name="Text 14"/>
          <p:cNvSpPr txBox="1"/>
          <p:nvPr/>
        </p:nvSpPr>
        <p:spPr>
          <a:xfrm>
            <a:off x="6404458" y="2651760"/>
            <a:ext cx="2240280" cy="320040"/>
          </a:xfrm>
          <a:prstGeom prst="rect">
            <a:avLst/>
          </a:prstGeom>
          <a:noFill/>
          <a:ln/>
        </p:spPr>
        <p:txBody>
          <a:bodyPr wrap="square" lIns="0" tIns="0" rIns="0" bIns="0" rtlCol="0" anchor="t"/>
          <a:lstStyle/>
          <a:p>
            <a:pPr marL="0" indent="0" algn="ctr">
              <a:buNone/>
            </a:pPr>
            <a:r>
              <a:rPr lang="en-US" sz="1500" b="1" dirty="0">
                <a:solidFill>
                  <a:srgbClr val="1E2B3A"/>
                </a:solidFill>
                <a:latin typeface="Calibri" pitchFamily="34" charset="0"/>
                <a:ea typeface="Calibri" pitchFamily="34" charset="-122"/>
                <a:cs typeface="Calibri" pitchFamily="34" charset="-120"/>
              </a:rPr>
              <a:t>Contact from the top</a:t>
            </a:r>
            <a:endParaRPr lang="en-US" sz="1500" dirty="0"/>
          </a:p>
        </p:txBody>
      </p:sp>
      <p:sp>
        <p:nvSpPr>
          <p:cNvPr id="20" name="Text 15"/>
          <p:cNvSpPr txBox="1"/>
          <p:nvPr/>
        </p:nvSpPr>
        <p:spPr>
          <a:xfrm>
            <a:off x="6450178" y="3017520"/>
            <a:ext cx="2148840" cy="777240"/>
          </a:xfrm>
          <a:prstGeom prst="rect">
            <a:avLst/>
          </a:prstGeom>
          <a:noFill/>
          <a:ln/>
        </p:spPr>
        <p:txBody>
          <a:bodyPr wrap="square" lIns="0" tIns="0" rIns="0" bIns="0" rtlCol="0" anchor="t"/>
          <a:lstStyle/>
          <a:p>
            <a:pPr marL="0" indent="0" algn="ctr">
              <a:buNone/>
            </a:pPr>
            <a:r>
              <a:rPr lang="en-US" sz="1250" dirty="0">
                <a:solidFill>
                  <a:srgbClr val="5B6675"/>
                </a:solidFill>
                <a:latin typeface="Calibri" pitchFamily="34" charset="0"/>
                <a:ea typeface="Calibri" pitchFamily="34" charset="-122"/>
                <a:cs typeface="Calibri" pitchFamily="34" charset="-120"/>
              </a:rPr>
              <a:t>Type of contact follows each customer's group</a:t>
            </a:r>
            <a:endParaRPr lang="en-US" sz="1250" dirty="0"/>
          </a:p>
        </p:txBody>
      </p:sp>
      <p:sp>
        <p:nvSpPr>
          <p:cNvPr id="21" name="Shape 16"/>
          <p:cNvSpPr/>
          <p:nvPr/>
        </p:nvSpPr>
        <p:spPr>
          <a:xfrm>
            <a:off x="8836762" y="2651760"/>
            <a:ext cx="237744" cy="274320"/>
          </a:xfrm>
          <a:prstGeom prst="rightArrow">
            <a:avLst/>
          </a:prstGeom>
          <a:solidFill>
            <a:srgbClr val="B8C0CB"/>
          </a:solidFill>
          <a:ln w="12700">
            <a:solidFill>
              <a:srgbClr val="B8C0CB"/>
            </a:solidFill>
            <a:prstDash val="solid"/>
          </a:ln>
        </p:spPr>
        <p:txBody>
          <a:bodyPr/>
          <a:lstStyle/>
          <a:p>
            <a:endParaRPr lang="en-CA"/>
          </a:p>
        </p:txBody>
      </p:sp>
      <p:sp>
        <p:nvSpPr>
          <p:cNvPr id="22" name="Shape 17"/>
          <p:cNvSpPr/>
          <p:nvPr/>
        </p:nvSpPr>
        <p:spPr>
          <a:xfrm>
            <a:off x="9126626" y="1737360"/>
            <a:ext cx="2514600" cy="2148840"/>
          </a:xfrm>
          <a:prstGeom prst="roundRect">
            <a:avLst>
              <a:gd name="adj" fmla="val 3404"/>
            </a:avLst>
          </a:prstGeom>
          <a:solidFill>
            <a:srgbClr val="F3F5F8"/>
          </a:solidFill>
          <a:ln w="12700">
            <a:solidFill>
              <a:srgbClr val="F3F5F8"/>
            </a:solidFill>
            <a:prstDash val="solid"/>
          </a:ln>
        </p:spPr>
        <p:txBody>
          <a:bodyPr/>
          <a:lstStyle/>
          <a:p>
            <a:endParaRPr lang="en-CA"/>
          </a:p>
        </p:txBody>
      </p:sp>
      <p:sp>
        <p:nvSpPr>
          <p:cNvPr id="23" name="Shape 18"/>
          <p:cNvSpPr/>
          <p:nvPr/>
        </p:nvSpPr>
        <p:spPr>
          <a:xfrm>
            <a:off x="10086746" y="1920240"/>
            <a:ext cx="594360" cy="594360"/>
          </a:xfrm>
          <a:prstGeom prst="ellipse">
            <a:avLst/>
          </a:prstGeom>
          <a:solidFill>
            <a:srgbClr val="1E2B3A"/>
          </a:solidFill>
          <a:ln w="12700">
            <a:solidFill>
              <a:srgbClr val="1E2B3A"/>
            </a:solidFill>
            <a:prstDash val="solid"/>
          </a:ln>
        </p:spPr>
        <p:txBody>
          <a:bodyPr/>
          <a:lstStyle/>
          <a:p>
            <a:endParaRPr lang="en-CA"/>
          </a:p>
        </p:txBody>
      </p:sp>
      <p:pic>
        <p:nvPicPr>
          <p:cNvPr id="24" name="Image 3" descr="preencoded.png"/>
          <p:cNvPicPr>
            <a:picLocks noChangeAspect="1"/>
          </p:cNvPicPr>
          <p:nvPr/>
        </p:nvPicPr>
        <p:blipFill>
          <a:blip r:embed="rId6"/>
          <a:stretch>
            <a:fillRect/>
          </a:stretch>
        </p:blipFill>
        <p:spPr>
          <a:xfrm>
            <a:off x="10241280" y="2074774"/>
            <a:ext cx="285293" cy="285293"/>
          </a:xfrm>
          <a:prstGeom prst="rect">
            <a:avLst/>
          </a:prstGeom>
        </p:spPr>
      </p:pic>
      <p:sp>
        <p:nvSpPr>
          <p:cNvPr id="25" name="Text 19"/>
          <p:cNvSpPr txBox="1"/>
          <p:nvPr/>
        </p:nvSpPr>
        <p:spPr>
          <a:xfrm>
            <a:off x="9263786" y="2651760"/>
            <a:ext cx="2240280" cy="320040"/>
          </a:xfrm>
          <a:prstGeom prst="rect">
            <a:avLst/>
          </a:prstGeom>
          <a:noFill/>
          <a:ln/>
        </p:spPr>
        <p:txBody>
          <a:bodyPr wrap="square" lIns="0" tIns="0" rIns="0" bIns="0" rtlCol="0" anchor="t"/>
          <a:lstStyle/>
          <a:p>
            <a:pPr marL="0" indent="0" algn="ctr">
              <a:buNone/>
            </a:pPr>
            <a:r>
              <a:rPr lang="en-US" sz="1500" b="1" dirty="0">
                <a:solidFill>
                  <a:srgbClr val="1E2B3A"/>
                </a:solidFill>
                <a:latin typeface="Calibri" pitchFamily="34" charset="0"/>
                <a:ea typeface="Calibri" pitchFamily="34" charset="-122"/>
                <a:cs typeface="Calibri" pitchFamily="34" charset="-120"/>
              </a:rPr>
              <a:t>Check after 90 days</a:t>
            </a:r>
            <a:endParaRPr lang="en-US" sz="1500" dirty="0"/>
          </a:p>
        </p:txBody>
      </p:sp>
      <p:sp>
        <p:nvSpPr>
          <p:cNvPr id="26" name="Text 20"/>
          <p:cNvSpPr txBox="1"/>
          <p:nvPr/>
        </p:nvSpPr>
        <p:spPr>
          <a:xfrm>
            <a:off x="9309506" y="3017520"/>
            <a:ext cx="2148840" cy="777240"/>
          </a:xfrm>
          <a:prstGeom prst="rect">
            <a:avLst/>
          </a:prstGeom>
          <a:noFill/>
          <a:ln/>
        </p:spPr>
        <p:txBody>
          <a:bodyPr wrap="square" lIns="0" tIns="0" rIns="0" bIns="0" rtlCol="0" anchor="t"/>
          <a:lstStyle/>
          <a:p>
            <a:pPr marL="0" indent="0" algn="ctr">
              <a:buNone/>
            </a:pPr>
            <a:r>
              <a:rPr lang="en-US" sz="1250" dirty="0">
                <a:solidFill>
                  <a:srgbClr val="5B6675"/>
                </a:solidFill>
                <a:latin typeface="Calibri" pitchFamily="34" charset="0"/>
                <a:ea typeface="Calibri" pitchFamily="34" charset="-122"/>
                <a:cs typeface="Calibri" pitchFamily="34" charset="-120"/>
              </a:rPr>
              <a:t>Compare with what happened; refresh the model yearly</a:t>
            </a:r>
            <a:endParaRPr lang="en-US" sz="1250" dirty="0"/>
          </a:p>
        </p:txBody>
      </p:sp>
      <p:sp>
        <p:nvSpPr>
          <p:cNvPr id="27" name="Shape 21"/>
          <p:cNvSpPr/>
          <p:nvPr/>
        </p:nvSpPr>
        <p:spPr>
          <a:xfrm>
            <a:off x="548640" y="4114800"/>
            <a:ext cx="5440680" cy="1371600"/>
          </a:xfrm>
          <a:prstGeom prst="roundRect">
            <a:avLst>
              <a:gd name="adj" fmla="val 5333"/>
            </a:avLst>
          </a:prstGeom>
          <a:solidFill>
            <a:srgbClr val="E6F2ED"/>
          </a:solidFill>
          <a:ln w="12700">
            <a:solidFill>
              <a:srgbClr val="E6F2ED"/>
            </a:solidFill>
            <a:prstDash val="solid"/>
          </a:ln>
        </p:spPr>
        <p:txBody>
          <a:bodyPr/>
          <a:lstStyle/>
          <a:p>
            <a:endParaRPr lang="en-CA"/>
          </a:p>
        </p:txBody>
      </p:sp>
      <p:sp>
        <p:nvSpPr>
          <p:cNvPr id="28" name="Text 22"/>
          <p:cNvSpPr txBox="1"/>
          <p:nvPr/>
        </p:nvSpPr>
        <p:spPr>
          <a:xfrm>
            <a:off x="777240" y="4251960"/>
            <a:ext cx="5029200" cy="320040"/>
          </a:xfrm>
          <a:prstGeom prst="rect">
            <a:avLst/>
          </a:prstGeom>
          <a:noFill/>
          <a:ln/>
        </p:spPr>
        <p:txBody>
          <a:bodyPr wrap="square" lIns="0" tIns="0" rIns="0" bIns="0" rtlCol="0" anchor="t"/>
          <a:lstStyle/>
          <a:p>
            <a:pPr marL="0" indent="0">
              <a:buNone/>
            </a:pPr>
            <a:r>
              <a:rPr lang="en-US" sz="1500" b="1" dirty="0">
                <a:solidFill>
                  <a:srgbClr val="1F7A5C"/>
                </a:solidFill>
                <a:latin typeface="Calibri" pitchFamily="34" charset="0"/>
                <a:ea typeface="Calibri" pitchFamily="34" charset="-122"/>
                <a:cs typeface="Calibri" pitchFamily="34" charset="-120"/>
              </a:rPr>
              <a:t>What the score is</a:t>
            </a:r>
            <a:endParaRPr lang="en-US" sz="1500" dirty="0"/>
          </a:p>
        </p:txBody>
      </p:sp>
      <p:sp>
        <p:nvSpPr>
          <p:cNvPr id="29" name="Text 23"/>
          <p:cNvSpPr txBox="1"/>
          <p:nvPr/>
        </p:nvSpPr>
        <p:spPr>
          <a:xfrm>
            <a:off x="777240" y="4617720"/>
            <a:ext cx="5029200" cy="777240"/>
          </a:xfrm>
          <a:prstGeom prst="rect">
            <a:avLst/>
          </a:prstGeom>
          <a:noFill/>
          <a:ln/>
        </p:spPr>
        <p:txBody>
          <a:bodyPr wrap="square" lIns="0" tIns="0" rIns="0" bIns="0" rtlCol="0" anchor="t"/>
          <a:lstStyle/>
          <a:p>
            <a:pPr marL="0" indent="0">
              <a:buNone/>
            </a:pPr>
            <a:r>
              <a:rPr lang="en-US" sz="1450" dirty="0">
                <a:solidFill>
                  <a:srgbClr val="1E2B3A"/>
                </a:solidFill>
                <a:latin typeface="Calibri" pitchFamily="34" charset="0"/>
                <a:ea typeface="Calibri" pitchFamily="34" charset="-122"/>
                <a:cs typeface="Calibri" pitchFamily="34" charset="-120"/>
              </a:rPr>
              <a:t>A ranked list of where retention effort is most likely to pay off, based on how similar customers behaved in the past.</a:t>
            </a:r>
            <a:endParaRPr lang="en-US" sz="1450" dirty="0"/>
          </a:p>
        </p:txBody>
      </p:sp>
      <p:sp>
        <p:nvSpPr>
          <p:cNvPr id="30" name="Shape 24"/>
          <p:cNvSpPr/>
          <p:nvPr/>
        </p:nvSpPr>
        <p:spPr>
          <a:xfrm>
            <a:off x="6199632" y="4114800"/>
            <a:ext cx="5440680" cy="1371600"/>
          </a:xfrm>
          <a:prstGeom prst="roundRect">
            <a:avLst>
              <a:gd name="adj" fmla="val 5333"/>
            </a:avLst>
          </a:prstGeom>
          <a:solidFill>
            <a:srgbClr val="F8E6E7"/>
          </a:solidFill>
          <a:ln w="12700">
            <a:solidFill>
              <a:srgbClr val="F8E6E7"/>
            </a:solidFill>
            <a:prstDash val="solid"/>
          </a:ln>
        </p:spPr>
        <p:txBody>
          <a:bodyPr/>
          <a:lstStyle/>
          <a:p>
            <a:endParaRPr lang="en-CA"/>
          </a:p>
        </p:txBody>
      </p:sp>
      <p:sp>
        <p:nvSpPr>
          <p:cNvPr id="31" name="Text 25"/>
          <p:cNvSpPr txBox="1"/>
          <p:nvPr/>
        </p:nvSpPr>
        <p:spPr>
          <a:xfrm>
            <a:off x="6428232" y="4251960"/>
            <a:ext cx="5029200" cy="320040"/>
          </a:xfrm>
          <a:prstGeom prst="rect">
            <a:avLst/>
          </a:prstGeom>
          <a:noFill/>
          <a:ln/>
        </p:spPr>
        <p:txBody>
          <a:bodyPr wrap="square" lIns="0" tIns="0" rIns="0" bIns="0" rtlCol="0" anchor="t"/>
          <a:lstStyle/>
          <a:p>
            <a:pPr marL="0" indent="0">
              <a:buNone/>
            </a:pPr>
            <a:r>
              <a:rPr lang="en-US" sz="1500" b="1" dirty="0">
                <a:solidFill>
                  <a:srgbClr val="C0404A"/>
                </a:solidFill>
                <a:latin typeface="Calibri" pitchFamily="34" charset="0"/>
                <a:ea typeface="Calibri" pitchFamily="34" charset="-122"/>
                <a:cs typeface="Calibri" pitchFamily="34" charset="-120"/>
              </a:rPr>
              <a:t>What the score is not</a:t>
            </a:r>
            <a:endParaRPr lang="en-US" sz="1500" dirty="0"/>
          </a:p>
        </p:txBody>
      </p:sp>
      <p:sp>
        <p:nvSpPr>
          <p:cNvPr id="32" name="Text 26"/>
          <p:cNvSpPr txBox="1"/>
          <p:nvPr/>
        </p:nvSpPr>
        <p:spPr>
          <a:xfrm>
            <a:off x="6428232" y="4617720"/>
            <a:ext cx="5029200" cy="777240"/>
          </a:xfrm>
          <a:prstGeom prst="rect">
            <a:avLst/>
          </a:prstGeom>
          <a:noFill/>
          <a:ln/>
        </p:spPr>
        <p:txBody>
          <a:bodyPr wrap="square" lIns="0" tIns="0" rIns="0" bIns="0" rtlCol="0" anchor="t"/>
          <a:lstStyle/>
          <a:p>
            <a:pPr marL="0" indent="0">
              <a:buNone/>
            </a:pPr>
            <a:r>
              <a:rPr lang="en-US" sz="1450" dirty="0">
                <a:solidFill>
                  <a:srgbClr val="1E2B3A"/>
                </a:solidFill>
                <a:latin typeface="Calibri" pitchFamily="34" charset="0"/>
                <a:ea typeface="Calibri" pitchFamily="34" charset="-122"/>
                <a:cs typeface="Calibri" pitchFamily="34" charset="-120"/>
              </a:rPr>
              <a:t>A promise that a customer will leave, or a reason to stop looking after customers with a low score.</a:t>
            </a:r>
            <a:endParaRPr lang="en-US" sz="1450" dirty="0"/>
          </a:p>
        </p:txBody>
      </p:sp>
      <p:sp>
        <p:nvSpPr>
          <p:cNvPr id="33" name="Shape 27"/>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34" name="Text 28"/>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The routine is the same every season. Only the model and the cutoff date change.</a:t>
            </a:r>
            <a:endParaRPr lang="en-US" sz="1500" dirty="0"/>
          </a:p>
        </p:txBody>
      </p:sp>
      <p:sp>
        <p:nvSpPr>
          <p:cNvPr id="35" name="Text 29"/>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WHAT TO KEEP IN MIND</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The limits of this analysis, and what they mean for the team</a:t>
            </a:r>
            <a:endParaRPr lang="en-US" sz="2600" dirty="0"/>
          </a:p>
        </p:txBody>
      </p:sp>
      <p:sp>
        <p:nvSpPr>
          <p:cNvPr id="4" name="Shape 2"/>
          <p:cNvSpPr/>
          <p:nvPr/>
        </p:nvSpPr>
        <p:spPr>
          <a:xfrm>
            <a:off x="548640" y="1691640"/>
            <a:ext cx="3483864" cy="1737360"/>
          </a:xfrm>
          <a:prstGeom prst="roundRect">
            <a:avLst>
              <a:gd name="adj" fmla="val 4211"/>
            </a:avLst>
          </a:prstGeom>
          <a:solidFill>
            <a:srgbClr val="F3F5F8"/>
          </a:solidFill>
          <a:ln w="12700">
            <a:solidFill>
              <a:srgbClr val="F3F5F8"/>
            </a:solidFill>
            <a:prstDash val="solid"/>
          </a:ln>
        </p:spPr>
        <p:txBody>
          <a:bodyPr/>
          <a:lstStyle/>
          <a:p>
            <a:endParaRPr lang="en-CA"/>
          </a:p>
        </p:txBody>
      </p:sp>
      <p:sp>
        <p:nvSpPr>
          <p:cNvPr id="5" name="Shape 3"/>
          <p:cNvSpPr/>
          <p:nvPr/>
        </p:nvSpPr>
        <p:spPr>
          <a:xfrm>
            <a:off x="822960" y="1965960"/>
            <a:ext cx="457200" cy="457200"/>
          </a:xfrm>
          <a:prstGeom prst="ellipse">
            <a:avLst/>
          </a:prstGeom>
          <a:solidFill>
            <a:srgbClr val="1E2B3A"/>
          </a:solidFill>
          <a:ln w="12700">
            <a:solidFill>
              <a:srgbClr val="1E2B3A"/>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941832" y="2084832"/>
            <a:ext cx="219456" cy="219456"/>
          </a:xfrm>
          <a:prstGeom prst="rect">
            <a:avLst/>
          </a:prstGeom>
        </p:spPr>
      </p:pic>
      <p:sp>
        <p:nvSpPr>
          <p:cNvPr id="7" name="Text 4"/>
          <p:cNvSpPr txBox="1"/>
          <p:nvPr/>
        </p:nvSpPr>
        <p:spPr>
          <a:xfrm>
            <a:off x="1417320" y="1947672"/>
            <a:ext cx="2514600" cy="548640"/>
          </a:xfrm>
          <a:prstGeom prst="rect">
            <a:avLst/>
          </a:prstGeom>
          <a:noFill/>
          <a:ln/>
        </p:spPr>
        <p:txBody>
          <a:bodyPr wrap="square" lIns="0" tIns="0" rIns="0" bIns="0" rtlCol="0" anchor="ctr"/>
          <a:lstStyle/>
          <a:p>
            <a:pPr marL="0" indent="0">
              <a:buNone/>
            </a:pPr>
            <a:r>
              <a:rPr lang="en-US" sz="1400" b="1" dirty="0">
                <a:solidFill>
                  <a:srgbClr val="1E2B3A"/>
                </a:solidFill>
                <a:latin typeface="Calibri" pitchFamily="34" charset="0"/>
                <a:ea typeface="Calibri" pitchFamily="34" charset="-122"/>
                <a:cs typeface="Calibri" pitchFamily="34" charset="-120"/>
              </a:rPr>
              <a:t>Not yet tested on a later year</a:t>
            </a:r>
            <a:endParaRPr lang="en-US" sz="1400" dirty="0"/>
          </a:p>
        </p:txBody>
      </p:sp>
      <p:sp>
        <p:nvSpPr>
          <p:cNvPr id="8" name="Text 5"/>
          <p:cNvSpPr txBox="1"/>
          <p:nvPr/>
        </p:nvSpPr>
        <p:spPr>
          <a:xfrm>
            <a:off x="822960" y="2560320"/>
            <a:ext cx="3017520" cy="82296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The model was checked on customers it had not seen, but from the same period. How it holds up in 2012 is still unknown.</a:t>
            </a:r>
            <a:endParaRPr lang="en-US" sz="1300" dirty="0"/>
          </a:p>
        </p:txBody>
      </p:sp>
      <p:sp>
        <p:nvSpPr>
          <p:cNvPr id="9" name="Shape 6"/>
          <p:cNvSpPr/>
          <p:nvPr/>
        </p:nvSpPr>
        <p:spPr>
          <a:xfrm>
            <a:off x="4352544" y="1691640"/>
            <a:ext cx="3483864" cy="1737360"/>
          </a:xfrm>
          <a:prstGeom prst="roundRect">
            <a:avLst>
              <a:gd name="adj" fmla="val 4211"/>
            </a:avLst>
          </a:prstGeom>
          <a:solidFill>
            <a:srgbClr val="F3F5F8"/>
          </a:solidFill>
          <a:ln w="12700">
            <a:solidFill>
              <a:srgbClr val="F3F5F8"/>
            </a:solidFill>
            <a:prstDash val="solid"/>
          </a:ln>
        </p:spPr>
        <p:txBody>
          <a:bodyPr/>
          <a:lstStyle/>
          <a:p>
            <a:endParaRPr lang="en-CA"/>
          </a:p>
        </p:txBody>
      </p:sp>
      <p:sp>
        <p:nvSpPr>
          <p:cNvPr id="10" name="Shape 7"/>
          <p:cNvSpPr/>
          <p:nvPr/>
        </p:nvSpPr>
        <p:spPr>
          <a:xfrm>
            <a:off x="4626864" y="1965960"/>
            <a:ext cx="457200" cy="457200"/>
          </a:xfrm>
          <a:prstGeom prst="ellipse">
            <a:avLst/>
          </a:prstGeom>
          <a:solidFill>
            <a:srgbClr val="1E2B3A"/>
          </a:solidFill>
          <a:ln w="12700">
            <a:solidFill>
              <a:srgbClr val="1E2B3A"/>
            </a:solidFill>
            <a:prstDash val="solid"/>
          </a:ln>
        </p:spPr>
        <p:txBody>
          <a:bodyPr/>
          <a:lstStyle/>
          <a:p>
            <a:endParaRPr lang="en-CA"/>
          </a:p>
        </p:txBody>
      </p:sp>
      <p:pic>
        <p:nvPicPr>
          <p:cNvPr id="11" name="Image 1" descr="preencoded.png"/>
          <p:cNvPicPr>
            <a:picLocks noChangeAspect="1"/>
          </p:cNvPicPr>
          <p:nvPr/>
        </p:nvPicPr>
        <p:blipFill>
          <a:blip r:embed="rId4"/>
          <a:stretch>
            <a:fillRect/>
          </a:stretch>
        </p:blipFill>
        <p:spPr>
          <a:xfrm>
            <a:off x="4745736" y="2084832"/>
            <a:ext cx="219456" cy="219456"/>
          </a:xfrm>
          <a:prstGeom prst="rect">
            <a:avLst/>
          </a:prstGeom>
        </p:spPr>
      </p:pic>
      <p:sp>
        <p:nvSpPr>
          <p:cNvPr id="12" name="Text 8"/>
          <p:cNvSpPr txBox="1"/>
          <p:nvPr/>
        </p:nvSpPr>
        <p:spPr>
          <a:xfrm>
            <a:off x="5221224" y="1947672"/>
            <a:ext cx="2514600" cy="548640"/>
          </a:xfrm>
          <a:prstGeom prst="rect">
            <a:avLst/>
          </a:prstGeom>
          <a:noFill/>
          <a:ln/>
        </p:spPr>
        <p:txBody>
          <a:bodyPr wrap="square" lIns="0" tIns="0" rIns="0" bIns="0" rtlCol="0" anchor="ctr"/>
          <a:lstStyle/>
          <a:p>
            <a:pPr marL="0" indent="0">
              <a:buNone/>
            </a:pPr>
            <a:r>
              <a:rPr lang="en-US" sz="1400" b="1" dirty="0">
                <a:solidFill>
                  <a:srgbClr val="1E2B3A"/>
                </a:solidFill>
                <a:latin typeface="Calibri" pitchFamily="34" charset="0"/>
                <a:ea typeface="Calibri" pitchFamily="34" charset="-122"/>
                <a:cs typeface="Calibri" pitchFamily="34" charset="-120"/>
              </a:rPr>
              <a:t>Two years of data</a:t>
            </a:r>
            <a:endParaRPr lang="en-US" sz="1400" dirty="0"/>
          </a:p>
        </p:txBody>
      </p:sp>
      <p:sp>
        <p:nvSpPr>
          <p:cNvPr id="13" name="Text 9"/>
          <p:cNvSpPr txBox="1"/>
          <p:nvPr/>
        </p:nvSpPr>
        <p:spPr>
          <a:xfrm>
            <a:off x="4626864" y="2560320"/>
            <a:ext cx="3017520" cy="82296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Sales from December 2009 to December 2011 only, so each season could be tested once.</a:t>
            </a:r>
            <a:endParaRPr lang="en-US" sz="1300" dirty="0"/>
          </a:p>
        </p:txBody>
      </p:sp>
      <p:sp>
        <p:nvSpPr>
          <p:cNvPr id="14" name="Shape 10"/>
          <p:cNvSpPr/>
          <p:nvPr/>
        </p:nvSpPr>
        <p:spPr>
          <a:xfrm>
            <a:off x="8156448" y="1691640"/>
            <a:ext cx="3483864" cy="1737360"/>
          </a:xfrm>
          <a:prstGeom prst="roundRect">
            <a:avLst>
              <a:gd name="adj" fmla="val 4211"/>
            </a:avLst>
          </a:prstGeom>
          <a:solidFill>
            <a:srgbClr val="F3F5F8"/>
          </a:solidFill>
          <a:ln w="12700">
            <a:solidFill>
              <a:srgbClr val="F3F5F8"/>
            </a:solidFill>
            <a:prstDash val="solid"/>
          </a:ln>
        </p:spPr>
        <p:txBody>
          <a:bodyPr/>
          <a:lstStyle/>
          <a:p>
            <a:endParaRPr lang="en-CA"/>
          </a:p>
        </p:txBody>
      </p:sp>
      <p:sp>
        <p:nvSpPr>
          <p:cNvPr id="15" name="Shape 11"/>
          <p:cNvSpPr/>
          <p:nvPr/>
        </p:nvSpPr>
        <p:spPr>
          <a:xfrm>
            <a:off x="8430768" y="1965960"/>
            <a:ext cx="457200" cy="457200"/>
          </a:xfrm>
          <a:prstGeom prst="ellipse">
            <a:avLst/>
          </a:prstGeom>
          <a:solidFill>
            <a:srgbClr val="1E2B3A"/>
          </a:solidFill>
          <a:ln w="12700">
            <a:solidFill>
              <a:srgbClr val="1E2B3A"/>
            </a:solidFill>
            <a:prstDash val="solid"/>
          </a:ln>
        </p:spPr>
        <p:txBody>
          <a:bodyPr/>
          <a:lstStyle/>
          <a:p>
            <a:endParaRPr lang="en-CA"/>
          </a:p>
        </p:txBody>
      </p:sp>
      <p:pic>
        <p:nvPicPr>
          <p:cNvPr id="16" name="Image 2" descr="preencoded.png"/>
          <p:cNvPicPr>
            <a:picLocks noChangeAspect="1"/>
          </p:cNvPicPr>
          <p:nvPr/>
        </p:nvPicPr>
        <p:blipFill>
          <a:blip r:embed="rId5"/>
          <a:stretch>
            <a:fillRect/>
          </a:stretch>
        </p:blipFill>
        <p:spPr>
          <a:xfrm>
            <a:off x="8549640" y="2084832"/>
            <a:ext cx="219456" cy="219456"/>
          </a:xfrm>
          <a:prstGeom prst="rect">
            <a:avLst/>
          </a:prstGeom>
        </p:spPr>
      </p:pic>
      <p:sp>
        <p:nvSpPr>
          <p:cNvPr id="17" name="Text 12"/>
          <p:cNvSpPr txBox="1"/>
          <p:nvPr/>
        </p:nvSpPr>
        <p:spPr>
          <a:xfrm>
            <a:off x="9025128" y="1947672"/>
            <a:ext cx="2514600" cy="548640"/>
          </a:xfrm>
          <a:prstGeom prst="rect">
            <a:avLst/>
          </a:prstGeom>
          <a:noFill/>
          <a:ln/>
        </p:spPr>
        <p:txBody>
          <a:bodyPr wrap="square" lIns="0" tIns="0" rIns="0" bIns="0" rtlCol="0" anchor="ctr"/>
          <a:lstStyle/>
          <a:p>
            <a:pPr marL="0" indent="0">
              <a:buNone/>
            </a:pPr>
            <a:r>
              <a:rPr lang="en-US" sz="1400" b="1" dirty="0">
                <a:solidFill>
                  <a:srgbClr val="1E2B3A"/>
                </a:solidFill>
                <a:latin typeface="Calibri" pitchFamily="34" charset="0"/>
                <a:ea typeface="Calibri" pitchFamily="34" charset="-122"/>
                <a:cs typeface="Calibri" pitchFamily="34" charset="-120"/>
              </a:rPr>
              <a:t>Results move a little</a:t>
            </a:r>
            <a:endParaRPr lang="en-US" sz="1400" dirty="0"/>
          </a:p>
        </p:txBody>
      </p:sp>
      <p:sp>
        <p:nvSpPr>
          <p:cNvPr id="18" name="Text 13"/>
          <p:cNvSpPr txBox="1"/>
          <p:nvPr/>
        </p:nvSpPr>
        <p:spPr>
          <a:xfrm>
            <a:off x="8430768" y="2560320"/>
            <a:ext cx="3017520" cy="82296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Each test group had about 1,000 customers, so the AUC results can move by about 0.02 (2 in 100) either way.</a:t>
            </a:r>
            <a:endParaRPr lang="en-US" sz="1300" dirty="0"/>
          </a:p>
        </p:txBody>
      </p:sp>
      <p:sp>
        <p:nvSpPr>
          <p:cNvPr id="19" name="Shape 14"/>
          <p:cNvSpPr/>
          <p:nvPr/>
        </p:nvSpPr>
        <p:spPr>
          <a:xfrm>
            <a:off x="548640" y="3611880"/>
            <a:ext cx="3483864" cy="1737360"/>
          </a:xfrm>
          <a:prstGeom prst="roundRect">
            <a:avLst>
              <a:gd name="adj" fmla="val 4211"/>
            </a:avLst>
          </a:prstGeom>
          <a:solidFill>
            <a:srgbClr val="F3F5F8"/>
          </a:solidFill>
          <a:ln w="12700">
            <a:solidFill>
              <a:srgbClr val="F3F5F8"/>
            </a:solidFill>
            <a:prstDash val="solid"/>
          </a:ln>
        </p:spPr>
        <p:txBody>
          <a:bodyPr/>
          <a:lstStyle/>
          <a:p>
            <a:endParaRPr lang="en-CA"/>
          </a:p>
        </p:txBody>
      </p:sp>
      <p:sp>
        <p:nvSpPr>
          <p:cNvPr id="20" name="Shape 15"/>
          <p:cNvSpPr/>
          <p:nvPr/>
        </p:nvSpPr>
        <p:spPr>
          <a:xfrm>
            <a:off x="822960" y="3886200"/>
            <a:ext cx="457200" cy="457200"/>
          </a:xfrm>
          <a:prstGeom prst="ellipse">
            <a:avLst/>
          </a:prstGeom>
          <a:solidFill>
            <a:srgbClr val="1E2B3A"/>
          </a:solidFill>
          <a:ln w="12700">
            <a:solidFill>
              <a:srgbClr val="1E2B3A"/>
            </a:solidFill>
            <a:prstDash val="solid"/>
          </a:ln>
        </p:spPr>
        <p:txBody>
          <a:bodyPr/>
          <a:lstStyle/>
          <a:p>
            <a:endParaRPr lang="en-CA"/>
          </a:p>
        </p:txBody>
      </p:sp>
      <p:pic>
        <p:nvPicPr>
          <p:cNvPr id="21" name="Image 3" descr="preencoded.png"/>
          <p:cNvPicPr>
            <a:picLocks noChangeAspect="1"/>
          </p:cNvPicPr>
          <p:nvPr/>
        </p:nvPicPr>
        <p:blipFill>
          <a:blip r:embed="rId6"/>
          <a:stretch>
            <a:fillRect/>
          </a:stretch>
        </p:blipFill>
        <p:spPr>
          <a:xfrm>
            <a:off x="941832" y="4005072"/>
            <a:ext cx="219456" cy="219456"/>
          </a:xfrm>
          <a:prstGeom prst="rect">
            <a:avLst/>
          </a:prstGeom>
        </p:spPr>
      </p:pic>
      <p:sp>
        <p:nvSpPr>
          <p:cNvPr id="22" name="Text 16"/>
          <p:cNvSpPr txBox="1"/>
          <p:nvPr/>
        </p:nvSpPr>
        <p:spPr>
          <a:xfrm>
            <a:off x="1417320" y="3867912"/>
            <a:ext cx="2514600" cy="548640"/>
          </a:xfrm>
          <a:prstGeom prst="rect">
            <a:avLst/>
          </a:prstGeom>
          <a:noFill/>
          <a:ln/>
        </p:spPr>
        <p:txBody>
          <a:bodyPr wrap="square" lIns="0" tIns="0" rIns="0" bIns="0" rtlCol="0" anchor="ctr"/>
          <a:lstStyle/>
          <a:p>
            <a:pPr marL="0" indent="0">
              <a:buNone/>
            </a:pPr>
            <a:r>
              <a:rPr lang="en-US" sz="1400" b="1" dirty="0">
                <a:solidFill>
                  <a:srgbClr val="1E2B3A"/>
                </a:solidFill>
                <a:latin typeface="Calibri" pitchFamily="34" charset="0"/>
                <a:ea typeface="Calibri" pitchFamily="34" charset="-122"/>
                <a:cs typeface="Calibri" pitchFamily="34" charset="-120"/>
              </a:rPr>
              <a:t>Favours long-standing customers</a:t>
            </a:r>
            <a:endParaRPr lang="en-US" sz="1400" dirty="0"/>
          </a:p>
        </p:txBody>
      </p:sp>
      <p:sp>
        <p:nvSpPr>
          <p:cNvPr id="23" name="Text 17"/>
          <p:cNvSpPr txBox="1"/>
          <p:nvPr/>
        </p:nvSpPr>
        <p:spPr>
          <a:xfrm>
            <a:off x="822960" y="4480560"/>
            <a:ext cx="3017520" cy="82296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Value at risk uses total past spend, so older accounts can look bigger than their current buying.</a:t>
            </a:r>
            <a:endParaRPr lang="en-US" sz="1300" dirty="0"/>
          </a:p>
        </p:txBody>
      </p:sp>
      <p:sp>
        <p:nvSpPr>
          <p:cNvPr id="24" name="Shape 18"/>
          <p:cNvSpPr/>
          <p:nvPr/>
        </p:nvSpPr>
        <p:spPr>
          <a:xfrm>
            <a:off x="4352544" y="3611880"/>
            <a:ext cx="3483864" cy="1737360"/>
          </a:xfrm>
          <a:prstGeom prst="roundRect">
            <a:avLst>
              <a:gd name="adj" fmla="val 4211"/>
            </a:avLst>
          </a:prstGeom>
          <a:solidFill>
            <a:srgbClr val="F3F5F8"/>
          </a:solidFill>
          <a:ln w="12700">
            <a:solidFill>
              <a:srgbClr val="F3F5F8"/>
            </a:solidFill>
            <a:prstDash val="solid"/>
          </a:ln>
        </p:spPr>
        <p:txBody>
          <a:bodyPr/>
          <a:lstStyle/>
          <a:p>
            <a:endParaRPr lang="en-CA"/>
          </a:p>
        </p:txBody>
      </p:sp>
      <p:sp>
        <p:nvSpPr>
          <p:cNvPr id="25" name="Shape 19"/>
          <p:cNvSpPr/>
          <p:nvPr/>
        </p:nvSpPr>
        <p:spPr>
          <a:xfrm>
            <a:off x="4626864" y="3886200"/>
            <a:ext cx="457200" cy="457200"/>
          </a:xfrm>
          <a:prstGeom prst="ellipse">
            <a:avLst/>
          </a:prstGeom>
          <a:solidFill>
            <a:srgbClr val="1E2B3A"/>
          </a:solidFill>
          <a:ln w="12700">
            <a:solidFill>
              <a:srgbClr val="1E2B3A"/>
            </a:solidFill>
            <a:prstDash val="solid"/>
          </a:ln>
        </p:spPr>
        <p:txBody>
          <a:bodyPr/>
          <a:lstStyle/>
          <a:p>
            <a:endParaRPr lang="en-CA"/>
          </a:p>
        </p:txBody>
      </p:sp>
      <p:pic>
        <p:nvPicPr>
          <p:cNvPr id="26" name="Image 4" descr="preencoded.png"/>
          <p:cNvPicPr>
            <a:picLocks noChangeAspect="1"/>
          </p:cNvPicPr>
          <p:nvPr/>
        </p:nvPicPr>
        <p:blipFill>
          <a:blip r:embed="rId7"/>
          <a:stretch>
            <a:fillRect/>
          </a:stretch>
        </p:blipFill>
        <p:spPr>
          <a:xfrm>
            <a:off x="4745736" y="4005072"/>
            <a:ext cx="219456" cy="219456"/>
          </a:xfrm>
          <a:prstGeom prst="rect">
            <a:avLst/>
          </a:prstGeom>
        </p:spPr>
      </p:pic>
      <p:sp>
        <p:nvSpPr>
          <p:cNvPr id="27" name="Text 20"/>
          <p:cNvSpPr txBox="1"/>
          <p:nvPr/>
        </p:nvSpPr>
        <p:spPr>
          <a:xfrm>
            <a:off x="5221224" y="3867912"/>
            <a:ext cx="2514600" cy="548640"/>
          </a:xfrm>
          <a:prstGeom prst="rect">
            <a:avLst/>
          </a:prstGeom>
          <a:noFill/>
          <a:ln/>
        </p:spPr>
        <p:txBody>
          <a:bodyPr wrap="square" lIns="0" tIns="0" rIns="0" bIns="0" rtlCol="0" anchor="ctr"/>
          <a:lstStyle/>
          <a:p>
            <a:pPr marL="0" indent="0">
              <a:buNone/>
            </a:pPr>
            <a:r>
              <a:rPr lang="en-US" sz="1400" b="1" dirty="0">
                <a:solidFill>
                  <a:srgbClr val="1E2B3A"/>
                </a:solidFill>
                <a:latin typeface="Calibri" pitchFamily="34" charset="0"/>
                <a:ea typeface="Calibri" pitchFamily="34" charset="-122"/>
                <a:cs typeface="Calibri" pitchFamily="34" charset="-120"/>
              </a:rPr>
              <a:t>Infrequent buyers can look churned</a:t>
            </a:r>
            <a:endParaRPr lang="en-US" sz="1400" dirty="0"/>
          </a:p>
        </p:txBody>
      </p:sp>
      <p:sp>
        <p:nvSpPr>
          <p:cNvPr id="28" name="Text 21"/>
          <p:cNvSpPr txBox="1"/>
          <p:nvPr/>
        </p:nvSpPr>
        <p:spPr>
          <a:xfrm>
            <a:off x="4626864" y="4480560"/>
            <a:ext cx="3017520" cy="82296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A customer who normally orders every four months can be counted as churned after 90 days, when they are only between orders.</a:t>
            </a:r>
            <a:endParaRPr lang="en-US" sz="1300" dirty="0"/>
          </a:p>
        </p:txBody>
      </p:sp>
      <p:sp>
        <p:nvSpPr>
          <p:cNvPr id="29" name="Shape 22"/>
          <p:cNvSpPr/>
          <p:nvPr/>
        </p:nvSpPr>
        <p:spPr>
          <a:xfrm>
            <a:off x="8156448" y="3611880"/>
            <a:ext cx="3483864" cy="1737360"/>
          </a:xfrm>
          <a:prstGeom prst="roundRect">
            <a:avLst>
              <a:gd name="adj" fmla="val 4211"/>
            </a:avLst>
          </a:prstGeom>
          <a:solidFill>
            <a:srgbClr val="FFFFFF"/>
          </a:solidFill>
          <a:ln w="12700">
            <a:solidFill>
              <a:srgbClr val="D9DEE5"/>
            </a:solidFill>
            <a:prstDash val="solid"/>
          </a:ln>
        </p:spPr>
        <p:txBody>
          <a:bodyPr/>
          <a:lstStyle/>
          <a:p>
            <a:endParaRPr lang="en-CA"/>
          </a:p>
        </p:txBody>
      </p:sp>
      <p:sp>
        <p:nvSpPr>
          <p:cNvPr id="30" name="Text 23"/>
          <p:cNvSpPr txBox="1"/>
          <p:nvPr/>
        </p:nvSpPr>
        <p:spPr>
          <a:xfrm>
            <a:off x="8430768" y="3840480"/>
            <a:ext cx="2971800" cy="1280160"/>
          </a:xfrm>
          <a:prstGeom prst="rect">
            <a:avLst/>
          </a:prstGeom>
          <a:noFill/>
          <a:ln/>
        </p:spPr>
        <p:txBody>
          <a:bodyPr wrap="square" lIns="0" tIns="0" rIns="0" bIns="0" rtlCol="0" anchor="ctr"/>
          <a:lstStyle/>
          <a:p>
            <a:pPr marL="0" indent="0">
              <a:buNone/>
            </a:pPr>
            <a:r>
              <a:rPr lang="en-US" sz="1350" dirty="0">
                <a:solidFill>
                  <a:srgbClr val="1E2B3A"/>
                </a:solidFill>
                <a:latin typeface="Calibri" pitchFamily="34" charset="0"/>
                <a:ea typeface="Calibri" pitchFamily="34" charset="-122"/>
                <a:cs typeface="Calibri" pitchFamily="34" charset="-120"/>
              </a:rPr>
              <a:t>None of these stop the team from using the list now. They are the first things to check as new sales data comes in.</a:t>
            </a:r>
            <a:endParaRPr lang="en-US" sz="1350" dirty="0"/>
          </a:p>
        </p:txBody>
      </p:sp>
      <p:sp>
        <p:nvSpPr>
          <p:cNvPr id="31" name="Shape 24"/>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32" name="Text 25"/>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Treat the list as a strong starting point, check it every season, and improve it as new data arrives.</a:t>
            </a:r>
            <a:endParaRPr lang="en-US" sz="1500" dirty="0"/>
          </a:p>
        </p:txBody>
      </p:sp>
      <p:sp>
        <p:nvSpPr>
          <p:cNvPr id="33" name="Text 26"/>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B3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marL="0" indent="0">
              <a:buNone/>
            </a:pPr>
            <a:r>
              <a:rPr lang="en-US" sz="1100" b="1" kern="0" spc="200" dirty="0">
                <a:solidFill>
                  <a:srgbClr val="8FA0B3"/>
                </a:solidFill>
                <a:latin typeface="Calibri" pitchFamily="34" charset="0"/>
                <a:ea typeface="Calibri" pitchFamily="34" charset="-122"/>
                <a:cs typeface="Calibri" pitchFamily="34" charset="-120"/>
              </a:rPr>
              <a:t>SUMMARY AND NEXT STEPS</a:t>
            </a:r>
            <a:endParaRPr lang="en-US" sz="11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Prioritize by value at risk, use the right model for the season</a:t>
            </a:r>
            <a:endParaRPr lang="en-US" sz="2800" dirty="0"/>
          </a:p>
        </p:txBody>
      </p:sp>
      <p:sp>
        <p:nvSpPr>
          <p:cNvPr id="4" name="Text 2"/>
          <p:cNvSpPr txBox="1"/>
          <p:nvPr/>
        </p:nvSpPr>
        <p:spPr>
          <a:xfrm>
            <a:off x="548640" y="1691640"/>
            <a:ext cx="5486400" cy="320040"/>
          </a:xfrm>
          <a:prstGeom prst="rect">
            <a:avLst/>
          </a:prstGeom>
          <a:noFill/>
          <a:ln/>
        </p:spPr>
        <p:txBody>
          <a:bodyPr wrap="square" lIns="0" tIns="0" rIns="0" bIns="0" rtlCol="0" anchor="t"/>
          <a:lstStyle/>
          <a:p>
            <a:pPr marL="0" indent="0">
              <a:buNone/>
            </a:pPr>
            <a:r>
              <a:rPr lang="en-US" sz="1600" b="1" dirty="0">
                <a:solidFill>
                  <a:srgbClr val="F4D35E"/>
                </a:solidFill>
                <a:latin typeface="Calibri" pitchFamily="34" charset="0"/>
                <a:ea typeface="Calibri" pitchFamily="34" charset="-122"/>
                <a:cs typeface="Calibri" pitchFamily="34" charset="-120"/>
              </a:rPr>
              <a:t>What we learned</a:t>
            </a:r>
            <a:endParaRPr lang="en-US" sz="1600" dirty="0"/>
          </a:p>
        </p:txBody>
      </p:sp>
      <p:sp>
        <p:nvSpPr>
          <p:cNvPr id="5" name="Shape 3"/>
          <p:cNvSpPr/>
          <p:nvPr/>
        </p:nvSpPr>
        <p:spPr>
          <a:xfrm>
            <a:off x="594360" y="2240280"/>
            <a:ext cx="182880" cy="182880"/>
          </a:xfrm>
          <a:prstGeom prst="ellipse">
            <a:avLst/>
          </a:prstGeom>
          <a:solidFill>
            <a:srgbClr val="F4D35E"/>
          </a:solidFill>
          <a:ln w="12700">
            <a:solidFill>
              <a:srgbClr val="F4D35E"/>
            </a:solidFill>
            <a:prstDash val="solid"/>
          </a:ln>
        </p:spPr>
        <p:txBody>
          <a:bodyPr/>
          <a:lstStyle/>
          <a:p>
            <a:endParaRPr lang="en-CA"/>
          </a:p>
        </p:txBody>
      </p:sp>
      <p:sp>
        <p:nvSpPr>
          <p:cNvPr id="6" name="Text 4"/>
          <p:cNvSpPr txBox="1"/>
          <p:nvPr/>
        </p:nvSpPr>
        <p:spPr>
          <a:xfrm>
            <a:off x="960120" y="2148840"/>
            <a:ext cx="5120640" cy="566928"/>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Churn means no order in the 90 days after the cutoff. 57% left before Christmas, 68% in summer.</a:t>
            </a:r>
            <a:endParaRPr lang="en-US" sz="1350" dirty="0"/>
          </a:p>
        </p:txBody>
      </p:sp>
      <p:sp>
        <p:nvSpPr>
          <p:cNvPr id="7" name="Shape 5"/>
          <p:cNvSpPr/>
          <p:nvPr/>
        </p:nvSpPr>
        <p:spPr>
          <a:xfrm>
            <a:off x="594360" y="2898648"/>
            <a:ext cx="182880" cy="182880"/>
          </a:xfrm>
          <a:prstGeom prst="ellipse">
            <a:avLst/>
          </a:prstGeom>
          <a:solidFill>
            <a:srgbClr val="F4D35E"/>
          </a:solidFill>
          <a:ln w="12700">
            <a:solidFill>
              <a:srgbClr val="F4D35E"/>
            </a:solidFill>
            <a:prstDash val="solid"/>
          </a:ln>
        </p:spPr>
        <p:txBody>
          <a:bodyPr/>
          <a:lstStyle/>
          <a:p>
            <a:endParaRPr lang="en-CA"/>
          </a:p>
        </p:txBody>
      </p:sp>
      <p:sp>
        <p:nvSpPr>
          <p:cNvPr id="8" name="Text 6"/>
          <p:cNvSpPr txBox="1"/>
          <p:nvPr/>
        </p:nvSpPr>
        <p:spPr>
          <a:xfrm>
            <a:off x="960120" y="2807208"/>
            <a:ext cx="5120640" cy="566928"/>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Two seasonal models are needed; the wrong one misstates churn by about 10 points.</a:t>
            </a:r>
            <a:endParaRPr lang="en-US" sz="1350" dirty="0"/>
          </a:p>
        </p:txBody>
      </p:sp>
      <p:sp>
        <p:nvSpPr>
          <p:cNvPr id="9" name="Shape 7"/>
          <p:cNvSpPr/>
          <p:nvPr/>
        </p:nvSpPr>
        <p:spPr>
          <a:xfrm>
            <a:off x="594360" y="3557016"/>
            <a:ext cx="182880" cy="182880"/>
          </a:xfrm>
          <a:prstGeom prst="ellipse">
            <a:avLst/>
          </a:prstGeom>
          <a:solidFill>
            <a:srgbClr val="F4D35E"/>
          </a:solidFill>
          <a:ln w="12700">
            <a:solidFill>
              <a:srgbClr val="F4D35E"/>
            </a:solidFill>
            <a:prstDash val="solid"/>
          </a:ln>
        </p:spPr>
        <p:txBody>
          <a:bodyPr/>
          <a:lstStyle/>
          <a:p>
            <a:endParaRPr lang="en-CA"/>
          </a:p>
        </p:txBody>
      </p:sp>
      <p:sp>
        <p:nvSpPr>
          <p:cNvPr id="10" name="Text 8"/>
          <p:cNvSpPr txBox="1"/>
          <p:nvPr/>
        </p:nvSpPr>
        <p:spPr>
          <a:xfrm>
            <a:off x="960120" y="3465576"/>
            <a:ext cx="5120640" cy="566928"/>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Recent activity is the clearest warning sign, and last year's Christmas buyers are more likely to return.</a:t>
            </a:r>
            <a:endParaRPr lang="en-US" sz="1350" dirty="0"/>
          </a:p>
        </p:txBody>
      </p:sp>
      <p:sp>
        <p:nvSpPr>
          <p:cNvPr id="11" name="Shape 9"/>
          <p:cNvSpPr/>
          <p:nvPr/>
        </p:nvSpPr>
        <p:spPr>
          <a:xfrm>
            <a:off x="594360" y="4215384"/>
            <a:ext cx="182880" cy="182880"/>
          </a:xfrm>
          <a:prstGeom prst="ellipse">
            <a:avLst/>
          </a:prstGeom>
          <a:solidFill>
            <a:srgbClr val="F4D35E"/>
          </a:solidFill>
          <a:ln w="12700">
            <a:solidFill>
              <a:srgbClr val="F4D35E"/>
            </a:solidFill>
            <a:prstDash val="solid"/>
          </a:ln>
        </p:spPr>
        <p:txBody>
          <a:bodyPr/>
          <a:lstStyle/>
          <a:p>
            <a:endParaRPr lang="en-CA"/>
          </a:p>
        </p:txBody>
      </p:sp>
      <p:sp>
        <p:nvSpPr>
          <p:cNvPr id="12" name="Text 10"/>
          <p:cNvSpPr txBox="1"/>
          <p:nvPr/>
        </p:nvSpPr>
        <p:spPr>
          <a:xfrm>
            <a:off x="960120" y="4123944"/>
            <a:ext cx="5120640" cy="566928"/>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The model beats the RFM score modestly but consistently: 85 vs 81 and 81 vs 78 in 100.</a:t>
            </a:r>
            <a:endParaRPr lang="en-US" sz="1350" dirty="0"/>
          </a:p>
        </p:txBody>
      </p:sp>
      <p:sp>
        <p:nvSpPr>
          <p:cNvPr id="13" name="Shape 11"/>
          <p:cNvSpPr/>
          <p:nvPr/>
        </p:nvSpPr>
        <p:spPr>
          <a:xfrm>
            <a:off x="594360" y="4873752"/>
            <a:ext cx="182880" cy="182880"/>
          </a:xfrm>
          <a:prstGeom prst="ellipse">
            <a:avLst/>
          </a:prstGeom>
          <a:solidFill>
            <a:srgbClr val="F4D35E"/>
          </a:solidFill>
          <a:ln w="12700">
            <a:solidFill>
              <a:srgbClr val="F4D35E"/>
            </a:solidFill>
            <a:prstDash val="solid"/>
          </a:ln>
        </p:spPr>
        <p:txBody>
          <a:bodyPr/>
          <a:lstStyle/>
          <a:p>
            <a:endParaRPr lang="en-CA"/>
          </a:p>
        </p:txBody>
      </p:sp>
      <p:sp>
        <p:nvSpPr>
          <p:cNvPr id="14" name="Text 12"/>
          <p:cNvSpPr txBox="1"/>
          <p:nvPr/>
        </p:nvSpPr>
        <p:spPr>
          <a:xfrm>
            <a:off x="960120" y="4782312"/>
            <a:ext cx="5120640" cy="566928"/>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Sorting by value at risk finds 15 times more lost spend than sorting by risk alone.</a:t>
            </a:r>
            <a:endParaRPr lang="en-US" sz="1350" dirty="0"/>
          </a:p>
        </p:txBody>
      </p:sp>
      <p:sp>
        <p:nvSpPr>
          <p:cNvPr id="15" name="Shape 13"/>
          <p:cNvSpPr/>
          <p:nvPr/>
        </p:nvSpPr>
        <p:spPr>
          <a:xfrm>
            <a:off x="6492240" y="1691640"/>
            <a:ext cx="5148072" cy="4434840"/>
          </a:xfrm>
          <a:prstGeom prst="roundRect">
            <a:avLst>
              <a:gd name="adj" fmla="val 1649"/>
            </a:avLst>
          </a:prstGeom>
          <a:solidFill>
            <a:srgbClr val="2A3A4D"/>
          </a:solidFill>
          <a:ln w="12700">
            <a:solidFill>
              <a:srgbClr val="2A3A4D"/>
            </a:solidFill>
            <a:prstDash val="solid"/>
          </a:ln>
        </p:spPr>
        <p:txBody>
          <a:bodyPr/>
          <a:lstStyle/>
          <a:p>
            <a:endParaRPr lang="en-CA"/>
          </a:p>
        </p:txBody>
      </p:sp>
      <p:sp>
        <p:nvSpPr>
          <p:cNvPr id="16" name="Text 14"/>
          <p:cNvSpPr txBox="1"/>
          <p:nvPr/>
        </p:nvSpPr>
        <p:spPr>
          <a:xfrm>
            <a:off x="6766560" y="1828800"/>
            <a:ext cx="4572000" cy="320040"/>
          </a:xfrm>
          <a:prstGeom prst="rect">
            <a:avLst/>
          </a:prstGeom>
          <a:noFill/>
          <a:ln/>
        </p:spPr>
        <p:txBody>
          <a:bodyPr wrap="square" lIns="0" tIns="0" rIns="0" bIns="0" rtlCol="0" anchor="t"/>
          <a:lstStyle/>
          <a:p>
            <a:pPr marL="0" indent="0">
              <a:buNone/>
            </a:pPr>
            <a:r>
              <a:rPr lang="en-US" sz="1600" b="1" dirty="0">
                <a:solidFill>
                  <a:srgbClr val="F4D35E"/>
                </a:solidFill>
                <a:latin typeface="Calibri" pitchFamily="34" charset="0"/>
                <a:ea typeface="Calibri" pitchFamily="34" charset="-122"/>
                <a:cs typeface="Calibri" pitchFamily="34" charset="-120"/>
              </a:rPr>
              <a:t>Next steps</a:t>
            </a:r>
            <a:endParaRPr lang="en-US" sz="1600" dirty="0"/>
          </a:p>
        </p:txBody>
      </p:sp>
      <p:sp>
        <p:nvSpPr>
          <p:cNvPr id="17" name="Shape 15"/>
          <p:cNvSpPr/>
          <p:nvPr/>
        </p:nvSpPr>
        <p:spPr>
          <a:xfrm>
            <a:off x="6766560" y="2331720"/>
            <a:ext cx="384048" cy="384048"/>
          </a:xfrm>
          <a:prstGeom prst="ellipse">
            <a:avLst/>
          </a:prstGeom>
          <a:solidFill>
            <a:srgbClr val="FFFFFF"/>
          </a:solidFill>
          <a:ln w="12700">
            <a:solidFill>
              <a:srgbClr val="FFFFFF"/>
            </a:solidFill>
            <a:prstDash val="solid"/>
          </a:ln>
        </p:spPr>
        <p:txBody>
          <a:bodyPr/>
          <a:lstStyle/>
          <a:p>
            <a:endParaRPr lang="en-CA"/>
          </a:p>
        </p:txBody>
      </p:sp>
      <p:sp>
        <p:nvSpPr>
          <p:cNvPr id="18" name="Text 16"/>
          <p:cNvSpPr txBox="1"/>
          <p:nvPr/>
        </p:nvSpPr>
        <p:spPr>
          <a:xfrm>
            <a:off x="6766560" y="2331720"/>
            <a:ext cx="384048" cy="384048"/>
          </a:xfrm>
          <a:prstGeom prst="rect">
            <a:avLst/>
          </a:prstGeom>
          <a:noFill/>
          <a:ln/>
        </p:spPr>
        <p:txBody>
          <a:bodyPr wrap="square" lIns="0" tIns="0" rIns="0" bIns="0" rtlCol="0" anchor="ctr"/>
          <a:lstStyle/>
          <a:p>
            <a:pPr marL="0" indent="0" algn="ctr">
              <a:buNone/>
            </a:pPr>
            <a:r>
              <a:rPr lang="en-US" sz="1300" b="1" dirty="0">
                <a:solidFill>
                  <a:srgbClr val="1E2B3A"/>
                </a:solidFill>
                <a:latin typeface="Calibri" pitchFamily="34" charset="0"/>
                <a:ea typeface="Calibri" pitchFamily="34" charset="-122"/>
                <a:cs typeface="Calibri" pitchFamily="34" charset="-120"/>
              </a:rPr>
              <a:t>1</a:t>
            </a:r>
            <a:endParaRPr lang="en-US" sz="1300" dirty="0"/>
          </a:p>
        </p:txBody>
      </p:sp>
      <p:sp>
        <p:nvSpPr>
          <p:cNvPr id="19" name="Text 17"/>
          <p:cNvSpPr txBox="1"/>
          <p:nvPr/>
        </p:nvSpPr>
        <p:spPr>
          <a:xfrm>
            <a:off x="7315200" y="2267712"/>
            <a:ext cx="4114800" cy="201168"/>
          </a:xfrm>
          <a:prstGeom prst="rect">
            <a:avLst/>
          </a:prstGeom>
          <a:noFill/>
          <a:ln/>
        </p:spPr>
        <p:txBody>
          <a:bodyPr wrap="square" lIns="0" tIns="0" rIns="0" bIns="0" rtlCol="0" anchor="t"/>
          <a:lstStyle/>
          <a:p>
            <a:pPr marL="0" indent="0">
              <a:buNone/>
            </a:pPr>
            <a:r>
              <a:rPr lang="en-US" sz="900" b="1" kern="0" spc="100" dirty="0">
                <a:solidFill>
                  <a:srgbClr val="8FA0B3"/>
                </a:solidFill>
                <a:latin typeface="Calibri" pitchFamily="34" charset="0"/>
                <a:ea typeface="Calibri" pitchFamily="34" charset="-122"/>
                <a:cs typeface="Calibri" pitchFamily="34" charset="-120"/>
              </a:rPr>
              <a:t>NOW</a:t>
            </a:r>
            <a:endParaRPr lang="en-US" sz="900" dirty="0"/>
          </a:p>
        </p:txBody>
      </p:sp>
      <p:sp>
        <p:nvSpPr>
          <p:cNvPr id="20" name="Text 18"/>
          <p:cNvSpPr txBox="1"/>
          <p:nvPr/>
        </p:nvSpPr>
        <p:spPr>
          <a:xfrm>
            <a:off x="7315200" y="2468880"/>
            <a:ext cx="4160520" cy="45720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Add churn risk and value at risk to each customer record in the CRM</a:t>
            </a:r>
            <a:endParaRPr lang="en-US" sz="1250" dirty="0"/>
          </a:p>
        </p:txBody>
      </p:sp>
      <p:sp>
        <p:nvSpPr>
          <p:cNvPr id="21" name="Shape 19"/>
          <p:cNvSpPr/>
          <p:nvPr/>
        </p:nvSpPr>
        <p:spPr>
          <a:xfrm>
            <a:off x="6766560" y="3090672"/>
            <a:ext cx="384048" cy="384048"/>
          </a:xfrm>
          <a:prstGeom prst="ellipse">
            <a:avLst/>
          </a:prstGeom>
          <a:solidFill>
            <a:srgbClr val="FFFFFF"/>
          </a:solidFill>
          <a:ln w="12700">
            <a:solidFill>
              <a:srgbClr val="FFFFFF"/>
            </a:solidFill>
            <a:prstDash val="solid"/>
          </a:ln>
        </p:spPr>
        <p:txBody>
          <a:bodyPr/>
          <a:lstStyle/>
          <a:p>
            <a:endParaRPr lang="en-CA"/>
          </a:p>
        </p:txBody>
      </p:sp>
      <p:sp>
        <p:nvSpPr>
          <p:cNvPr id="22" name="Text 20"/>
          <p:cNvSpPr txBox="1"/>
          <p:nvPr/>
        </p:nvSpPr>
        <p:spPr>
          <a:xfrm>
            <a:off x="6766560" y="3090672"/>
            <a:ext cx="384048" cy="384048"/>
          </a:xfrm>
          <a:prstGeom prst="rect">
            <a:avLst/>
          </a:prstGeom>
          <a:noFill/>
          <a:ln/>
        </p:spPr>
        <p:txBody>
          <a:bodyPr wrap="square" lIns="0" tIns="0" rIns="0" bIns="0" rtlCol="0" anchor="ctr"/>
          <a:lstStyle/>
          <a:p>
            <a:pPr marL="0" indent="0" algn="ctr">
              <a:buNone/>
            </a:pPr>
            <a:r>
              <a:rPr lang="en-US" sz="1300" b="1" dirty="0">
                <a:solidFill>
                  <a:srgbClr val="1E2B3A"/>
                </a:solidFill>
                <a:latin typeface="Calibri" pitchFamily="34" charset="0"/>
                <a:ea typeface="Calibri" pitchFamily="34" charset="-122"/>
                <a:cs typeface="Calibri" pitchFamily="34" charset="-120"/>
              </a:rPr>
              <a:t>2</a:t>
            </a:r>
            <a:endParaRPr lang="en-US" sz="1300" dirty="0"/>
          </a:p>
        </p:txBody>
      </p:sp>
      <p:sp>
        <p:nvSpPr>
          <p:cNvPr id="23" name="Text 21"/>
          <p:cNvSpPr txBox="1"/>
          <p:nvPr/>
        </p:nvSpPr>
        <p:spPr>
          <a:xfrm>
            <a:off x="7315200" y="3026664"/>
            <a:ext cx="4114800" cy="201168"/>
          </a:xfrm>
          <a:prstGeom prst="rect">
            <a:avLst/>
          </a:prstGeom>
          <a:noFill/>
          <a:ln/>
        </p:spPr>
        <p:txBody>
          <a:bodyPr wrap="square" lIns="0" tIns="0" rIns="0" bIns="0" rtlCol="0" anchor="t"/>
          <a:lstStyle/>
          <a:p>
            <a:pPr marL="0" indent="0">
              <a:buNone/>
            </a:pPr>
            <a:r>
              <a:rPr lang="en-US" sz="900" b="1" kern="0" spc="100" dirty="0">
                <a:solidFill>
                  <a:srgbClr val="8FA0B3"/>
                </a:solidFill>
                <a:latin typeface="Calibri" pitchFamily="34" charset="0"/>
                <a:ea typeface="Calibri" pitchFamily="34" charset="-122"/>
                <a:cs typeface="Calibri" pitchFamily="34" charset="-120"/>
              </a:rPr>
              <a:t>EARLY SEPT</a:t>
            </a:r>
            <a:endParaRPr lang="en-US" sz="900" dirty="0"/>
          </a:p>
        </p:txBody>
      </p:sp>
      <p:sp>
        <p:nvSpPr>
          <p:cNvPr id="24" name="Text 22"/>
          <p:cNvSpPr txBox="1"/>
          <p:nvPr/>
        </p:nvSpPr>
        <p:spPr>
          <a:xfrm>
            <a:off x="7315200" y="3227832"/>
            <a:ext cx="4160520" cy="45720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Run the holiday model and contact the top of the value at risk list</a:t>
            </a:r>
            <a:endParaRPr lang="en-US" sz="1250" dirty="0"/>
          </a:p>
        </p:txBody>
      </p:sp>
      <p:sp>
        <p:nvSpPr>
          <p:cNvPr id="25" name="Shape 23"/>
          <p:cNvSpPr/>
          <p:nvPr/>
        </p:nvSpPr>
        <p:spPr>
          <a:xfrm>
            <a:off x="6766560" y="3849624"/>
            <a:ext cx="384048" cy="384048"/>
          </a:xfrm>
          <a:prstGeom prst="ellipse">
            <a:avLst/>
          </a:prstGeom>
          <a:solidFill>
            <a:srgbClr val="FFFFFF"/>
          </a:solidFill>
          <a:ln w="12700">
            <a:solidFill>
              <a:srgbClr val="FFFFFF"/>
            </a:solidFill>
            <a:prstDash val="solid"/>
          </a:ln>
        </p:spPr>
        <p:txBody>
          <a:bodyPr/>
          <a:lstStyle/>
          <a:p>
            <a:endParaRPr lang="en-CA"/>
          </a:p>
        </p:txBody>
      </p:sp>
      <p:sp>
        <p:nvSpPr>
          <p:cNvPr id="26" name="Text 24"/>
          <p:cNvSpPr txBox="1"/>
          <p:nvPr/>
        </p:nvSpPr>
        <p:spPr>
          <a:xfrm>
            <a:off x="6766560" y="3849624"/>
            <a:ext cx="384048" cy="384048"/>
          </a:xfrm>
          <a:prstGeom prst="rect">
            <a:avLst/>
          </a:prstGeom>
          <a:noFill/>
          <a:ln/>
        </p:spPr>
        <p:txBody>
          <a:bodyPr wrap="square" lIns="0" tIns="0" rIns="0" bIns="0" rtlCol="0" anchor="ctr"/>
          <a:lstStyle/>
          <a:p>
            <a:pPr marL="0" indent="0" algn="ctr">
              <a:buNone/>
            </a:pPr>
            <a:r>
              <a:rPr lang="en-US" sz="1300" b="1" dirty="0">
                <a:solidFill>
                  <a:srgbClr val="1E2B3A"/>
                </a:solidFill>
                <a:latin typeface="Calibri" pitchFamily="34" charset="0"/>
                <a:ea typeface="Calibri" pitchFamily="34" charset="-122"/>
                <a:cs typeface="Calibri" pitchFamily="34" charset="-120"/>
              </a:rPr>
              <a:t>3</a:t>
            </a:r>
            <a:endParaRPr lang="en-US" sz="1300" dirty="0"/>
          </a:p>
        </p:txBody>
      </p:sp>
      <p:sp>
        <p:nvSpPr>
          <p:cNvPr id="27" name="Text 25"/>
          <p:cNvSpPr txBox="1"/>
          <p:nvPr/>
        </p:nvSpPr>
        <p:spPr>
          <a:xfrm>
            <a:off x="7315200" y="3785616"/>
            <a:ext cx="4114800" cy="201168"/>
          </a:xfrm>
          <a:prstGeom prst="rect">
            <a:avLst/>
          </a:prstGeom>
          <a:noFill/>
          <a:ln/>
        </p:spPr>
        <p:txBody>
          <a:bodyPr wrap="square" lIns="0" tIns="0" rIns="0" bIns="0" rtlCol="0" anchor="t"/>
          <a:lstStyle/>
          <a:p>
            <a:pPr marL="0" indent="0">
              <a:buNone/>
            </a:pPr>
            <a:r>
              <a:rPr lang="en-US" sz="900" b="1" kern="0" spc="100" dirty="0">
                <a:solidFill>
                  <a:srgbClr val="8FA0B3"/>
                </a:solidFill>
                <a:latin typeface="Calibri" pitchFamily="34" charset="0"/>
                <a:ea typeface="Calibri" pitchFamily="34" charset="-122"/>
                <a:cs typeface="Calibri" pitchFamily="34" charset="-120"/>
              </a:rPr>
              <a:t>EARLY SEPT</a:t>
            </a:r>
            <a:endParaRPr lang="en-US" sz="900" dirty="0"/>
          </a:p>
        </p:txBody>
      </p:sp>
      <p:sp>
        <p:nvSpPr>
          <p:cNvPr id="28" name="Text 26"/>
          <p:cNvSpPr txBox="1"/>
          <p:nvPr/>
        </p:nvSpPr>
        <p:spPr>
          <a:xfrm>
            <a:off x="7315200" y="3986784"/>
            <a:ext cx="4160520" cy="45720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Remind last year's Christmas buyers who have not ordered yet</a:t>
            </a:r>
            <a:endParaRPr lang="en-US" sz="1250" dirty="0"/>
          </a:p>
        </p:txBody>
      </p:sp>
      <p:sp>
        <p:nvSpPr>
          <p:cNvPr id="29" name="Shape 27"/>
          <p:cNvSpPr/>
          <p:nvPr/>
        </p:nvSpPr>
        <p:spPr>
          <a:xfrm>
            <a:off x="6766560" y="4608576"/>
            <a:ext cx="384048" cy="384048"/>
          </a:xfrm>
          <a:prstGeom prst="ellipse">
            <a:avLst/>
          </a:prstGeom>
          <a:solidFill>
            <a:srgbClr val="FFFFFF"/>
          </a:solidFill>
          <a:ln w="12700">
            <a:solidFill>
              <a:srgbClr val="FFFFFF"/>
            </a:solidFill>
            <a:prstDash val="solid"/>
          </a:ln>
        </p:spPr>
        <p:txBody>
          <a:bodyPr/>
          <a:lstStyle/>
          <a:p>
            <a:endParaRPr lang="en-CA"/>
          </a:p>
        </p:txBody>
      </p:sp>
      <p:sp>
        <p:nvSpPr>
          <p:cNvPr id="30" name="Text 28"/>
          <p:cNvSpPr txBox="1"/>
          <p:nvPr/>
        </p:nvSpPr>
        <p:spPr>
          <a:xfrm>
            <a:off x="6766560" y="4608576"/>
            <a:ext cx="384048" cy="384048"/>
          </a:xfrm>
          <a:prstGeom prst="rect">
            <a:avLst/>
          </a:prstGeom>
          <a:noFill/>
          <a:ln/>
        </p:spPr>
        <p:txBody>
          <a:bodyPr wrap="square" lIns="0" tIns="0" rIns="0" bIns="0" rtlCol="0" anchor="ctr"/>
          <a:lstStyle/>
          <a:p>
            <a:pPr marL="0" indent="0" algn="ctr">
              <a:buNone/>
            </a:pPr>
            <a:r>
              <a:rPr lang="en-US" sz="1300" b="1" dirty="0">
                <a:solidFill>
                  <a:srgbClr val="1E2B3A"/>
                </a:solidFill>
                <a:latin typeface="Calibri" pitchFamily="34" charset="0"/>
                <a:ea typeface="Calibri" pitchFamily="34" charset="-122"/>
                <a:cs typeface="Calibri" pitchFamily="34" charset="-120"/>
              </a:rPr>
              <a:t>4</a:t>
            </a:r>
            <a:endParaRPr lang="en-US" sz="1300" dirty="0"/>
          </a:p>
        </p:txBody>
      </p:sp>
      <p:sp>
        <p:nvSpPr>
          <p:cNvPr id="31" name="Text 29"/>
          <p:cNvSpPr txBox="1"/>
          <p:nvPr/>
        </p:nvSpPr>
        <p:spPr>
          <a:xfrm>
            <a:off x="7315200" y="4544568"/>
            <a:ext cx="4114800" cy="201168"/>
          </a:xfrm>
          <a:prstGeom prst="rect">
            <a:avLst/>
          </a:prstGeom>
          <a:noFill/>
          <a:ln/>
        </p:spPr>
        <p:txBody>
          <a:bodyPr wrap="square" lIns="0" tIns="0" rIns="0" bIns="0" rtlCol="0" anchor="t"/>
          <a:lstStyle/>
          <a:p>
            <a:pPr marL="0" indent="0">
              <a:buNone/>
            </a:pPr>
            <a:r>
              <a:rPr lang="en-US" sz="900" b="1" kern="0" spc="100" dirty="0">
                <a:solidFill>
                  <a:srgbClr val="8FA0B3"/>
                </a:solidFill>
                <a:latin typeface="Calibri" pitchFamily="34" charset="0"/>
                <a:ea typeface="Calibri" pitchFamily="34" charset="-122"/>
                <a:cs typeface="Calibri" pitchFamily="34" charset="-120"/>
              </a:rPr>
              <a:t>AFTER 90 DAYS</a:t>
            </a:r>
            <a:endParaRPr lang="en-US" sz="900" dirty="0"/>
          </a:p>
        </p:txBody>
      </p:sp>
      <p:sp>
        <p:nvSpPr>
          <p:cNvPr id="32" name="Text 30"/>
          <p:cNvSpPr txBox="1"/>
          <p:nvPr/>
        </p:nvSpPr>
        <p:spPr>
          <a:xfrm>
            <a:off x="7315200" y="4745736"/>
            <a:ext cx="4160520" cy="45720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Compare the list with what happened, and record who responded</a:t>
            </a:r>
            <a:endParaRPr lang="en-US" sz="1250" dirty="0"/>
          </a:p>
        </p:txBody>
      </p:sp>
      <p:sp>
        <p:nvSpPr>
          <p:cNvPr id="33" name="Shape 31"/>
          <p:cNvSpPr/>
          <p:nvPr/>
        </p:nvSpPr>
        <p:spPr>
          <a:xfrm>
            <a:off x="6766560" y="5367528"/>
            <a:ext cx="384048" cy="384048"/>
          </a:xfrm>
          <a:prstGeom prst="ellipse">
            <a:avLst/>
          </a:prstGeom>
          <a:solidFill>
            <a:srgbClr val="FFFFFF"/>
          </a:solidFill>
          <a:ln w="12700">
            <a:solidFill>
              <a:srgbClr val="FFFFFF"/>
            </a:solidFill>
            <a:prstDash val="solid"/>
          </a:ln>
        </p:spPr>
        <p:txBody>
          <a:bodyPr/>
          <a:lstStyle/>
          <a:p>
            <a:endParaRPr lang="en-CA"/>
          </a:p>
        </p:txBody>
      </p:sp>
      <p:sp>
        <p:nvSpPr>
          <p:cNvPr id="34" name="Text 32"/>
          <p:cNvSpPr txBox="1"/>
          <p:nvPr/>
        </p:nvSpPr>
        <p:spPr>
          <a:xfrm>
            <a:off x="6766560" y="5367528"/>
            <a:ext cx="384048" cy="384048"/>
          </a:xfrm>
          <a:prstGeom prst="rect">
            <a:avLst/>
          </a:prstGeom>
          <a:noFill/>
          <a:ln/>
        </p:spPr>
        <p:txBody>
          <a:bodyPr wrap="square" lIns="0" tIns="0" rIns="0" bIns="0" rtlCol="0" anchor="ctr"/>
          <a:lstStyle/>
          <a:p>
            <a:pPr marL="0" indent="0" algn="ctr">
              <a:buNone/>
            </a:pPr>
            <a:r>
              <a:rPr lang="en-US" sz="1300" b="1" dirty="0">
                <a:solidFill>
                  <a:srgbClr val="1E2B3A"/>
                </a:solidFill>
                <a:latin typeface="Calibri" pitchFamily="34" charset="0"/>
                <a:ea typeface="Calibri" pitchFamily="34" charset="-122"/>
                <a:cs typeface="Calibri" pitchFamily="34" charset="-120"/>
              </a:rPr>
              <a:t>5</a:t>
            </a:r>
            <a:endParaRPr lang="en-US" sz="1300" dirty="0"/>
          </a:p>
        </p:txBody>
      </p:sp>
      <p:sp>
        <p:nvSpPr>
          <p:cNvPr id="35" name="Text 33"/>
          <p:cNvSpPr txBox="1"/>
          <p:nvPr/>
        </p:nvSpPr>
        <p:spPr>
          <a:xfrm>
            <a:off x="7315200" y="5303520"/>
            <a:ext cx="4114800" cy="201168"/>
          </a:xfrm>
          <a:prstGeom prst="rect">
            <a:avLst/>
          </a:prstGeom>
          <a:noFill/>
          <a:ln/>
        </p:spPr>
        <p:txBody>
          <a:bodyPr wrap="square" lIns="0" tIns="0" rIns="0" bIns="0" rtlCol="0" anchor="t"/>
          <a:lstStyle/>
          <a:p>
            <a:pPr marL="0" indent="0">
              <a:buNone/>
            </a:pPr>
            <a:r>
              <a:rPr lang="en-US" sz="900" b="1" kern="0" spc="100" dirty="0">
                <a:solidFill>
                  <a:srgbClr val="8FA0B3"/>
                </a:solidFill>
                <a:latin typeface="Calibri" pitchFamily="34" charset="0"/>
                <a:ea typeface="Calibri" pitchFamily="34" charset="-122"/>
                <a:cs typeface="Calibri" pitchFamily="34" charset="-120"/>
              </a:rPr>
              <a:t>WITH 2012 DATA</a:t>
            </a:r>
            <a:endParaRPr lang="en-US" sz="900" dirty="0"/>
          </a:p>
        </p:txBody>
      </p:sp>
      <p:sp>
        <p:nvSpPr>
          <p:cNvPr id="36" name="Text 34"/>
          <p:cNvSpPr txBox="1"/>
          <p:nvPr/>
        </p:nvSpPr>
        <p:spPr>
          <a:xfrm>
            <a:off x="7315200" y="5504688"/>
            <a:ext cx="4160520" cy="45720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Test on a later year, try recent 12-month spend, review the 90-day window</a:t>
            </a:r>
            <a:endParaRPr lang="en-US" sz="1250" dirty="0"/>
          </a:p>
        </p:txBody>
      </p:sp>
      <p:sp>
        <p:nvSpPr>
          <p:cNvPr id="37" name="Text 35"/>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FA0B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B3A"/>
        </a:solidFill>
        <a:effectLst/>
      </p:bgPr>
    </p:bg>
    <p:spTree>
      <p:nvGrpSpPr>
        <p:cNvPr id="1" name=""/>
        <p:cNvGrpSpPr/>
        <p:nvPr/>
      </p:nvGrpSpPr>
      <p:grpSpPr>
        <a:xfrm>
          <a:off x="0" y="0"/>
          <a:ext cx="0" cy="0"/>
          <a:chOff x="0" y="0"/>
          <a:chExt cx="0" cy="0"/>
        </a:xfrm>
      </p:grpSpPr>
      <p:sp>
        <p:nvSpPr>
          <p:cNvPr id="2" name="Text 0"/>
          <p:cNvSpPr txBox="1"/>
          <p:nvPr/>
        </p:nvSpPr>
        <p:spPr>
          <a:xfrm>
            <a:off x="822960" y="2377440"/>
            <a:ext cx="5486400" cy="274320"/>
          </a:xfrm>
          <a:prstGeom prst="rect">
            <a:avLst/>
          </a:prstGeom>
          <a:noFill/>
          <a:ln/>
        </p:spPr>
        <p:txBody>
          <a:bodyPr wrap="square" lIns="0" tIns="0" rIns="0" bIns="0" rtlCol="0" anchor="t"/>
          <a:lstStyle/>
          <a:p>
            <a:pPr marL="0" indent="0">
              <a:buNone/>
            </a:pPr>
            <a:r>
              <a:rPr lang="en-US" sz="1200" b="1" kern="0" spc="200" dirty="0">
                <a:solidFill>
                  <a:srgbClr val="8FA0B3"/>
                </a:solidFill>
                <a:latin typeface="Calibri" pitchFamily="34" charset="0"/>
                <a:ea typeface="Calibri" pitchFamily="34" charset="-122"/>
                <a:cs typeface="Calibri" pitchFamily="34" charset="-120"/>
              </a:rPr>
              <a:t>APPENDIX</a:t>
            </a:r>
            <a:endParaRPr lang="en-US" sz="1200" dirty="0"/>
          </a:p>
        </p:txBody>
      </p:sp>
      <p:sp>
        <p:nvSpPr>
          <p:cNvPr id="3" name="Text 1"/>
          <p:cNvSpPr txBox="1"/>
          <p:nvPr/>
        </p:nvSpPr>
        <p:spPr>
          <a:xfrm>
            <a:off x="822960" y="2743200"/>
            <a:ext cx="10058400" cy="82296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Technical details for interested readers</a:t>
            </a:r>
            <a:endParaRPr lang="en-US" sz="3400" dirty="0"/>
          </a:p>
        </p:txBody>
      </p:sp>
      <p:sp>
        <p:nvSpPr>
          <p:cNvPr id="4" name="Text 2"/>
          <p:cNvSpPr txBox="1"/>
          <p:nvPr/>
        </p:nvSpPr>
        <p:spPr>
          <a:xfrm>
            <a:off x="822960" y="3703320"/>
            <a:ext cx="10058400" cy="365760"/>
          </a:xfrm>
          <a:prstGeom prst="rect">
            <a:avLst/>
          </a:prstGeom>
          <a:noFill/>
          <a:ln/>
        </p:spPr>
        <p:txBody>
          <a:bodyPr wrap="square" lIns="0" tIns="0" rIns="0" bIns="0" rtlCol="0" anchor="t"/>
          <a:lstStyle/>
          <a:p>
            <a:pPr marL="0" indent="0">
              <a:buNone/>
            </a:pPr>
            <a:r>
              <a:rPr lang="en-US" sz="1500" dirty="0">
                <a:solidFill>
                  <a:srgbClr val="C9D3DE"/>
                </a:solidFill>
                <a:latin typeface="Calibri" pitchFamily="34" charset="0"/>
                <a:ea typeface="Calibri" pitchFamily="34" charset="-122"/>
                <a:cs typeface="Calibri" pitchFamily="34" charset="-120"/>
              </a:rPr>
              <a:t>A1  How the model was tested     A2  The 16 customer details in full</a:t>
            </a:r>
            <a:endParaRPr lang="en-US" sz="1500" dirty="0"/>
          </a:p>
        </p:txBody>
      </p:sp>
      <p:sp>
        <p:nvSpPr>
          <p:cNvPr id="5" name="Text 3"/>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FA0B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APPENDIX A1  ·  HOW THE MODEL WAS TESTED</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Customers were split before any model was built, and the test customers were used only once</a:t>
            </a:r>
            <a:endParaRPr lang="en-US" sz="2600" dirty="0"/>
          </a:p>
        </p:txBody>
      </p:sp>
      <p:sp>
        <p:nvSpPr>
          <p:cNvPr id="4" name="Shape 2"/>
          <p:cNvSpPr/>
          <p:nvPr/>
        </p:nvSpPr>
        <p:spPr>
          <a:xfrm>
            <a:off x="548640" y="1737360"/>
            <a:ext cx="2148840" cy="1417320"/>
          </a:xfrm>
          <a:prstGeom prst="roundRect">
            <a:avLst>
              <a:gd name="adj" fmla="val 5161"/>
            </a:avLst>
          </a:prstGeom>
          <a:solidFill>
            <a:srgbClr val="F3F5F8"/>
          </a:solidFill>
          <a:ln w="12700">
            <a:solidFill>
              <a:srgbClr val="F3F5F8"/>
            </a:solidFill>
            <a:prstDash val="solid"/>
          </a:ln>
        </p:spPr>
        <p:txBody>
          <a:bodyPr/>
          <a:lstStyle/>
          <a:p>
            <a:endParaRPr lang="en-CA"/>
          </a:p>
        </p:txBody>
      </p:sp>
      <p:sp>
        <p:nvSpPr>
          <p:cNvPr id="5" name="Text 3"/>
          <p:cNvSpPr txBox="1"/>
          <p:nvPr/>
        </p:nvSpPr>
        <p:spPr>
          <a:xfrm>
            <a:off x="731520" y="1874520"/>
            <a:ext cx="1783080" cy="320040"/>
          </a:xfrm>
          <a:prstGeom prst="rect">
            <a:avLst/>
          </a:prstGeom>
          <a:noFill/>
          <a:ln/>
        </p:spPr>
        <p:txBody>
          <a:bodyPr wrap="square" lIns="0" tIns="0" rIns="0" bIns="0" rtlCol="0" anchor="t"/>
          <a:lstStyle/>
          <a:p>
            <a:pPr marL="0" indent="0">
              <a:buNone/>
            </a:pPr>
            <a:r>
              <a:rPr lang="en-US" sz="1400" b="1" dirty="0">
                <a:solidFill>
                  <a:srgbClr val="1E2B3A"/>
                </a:solidFill>
                <a:latin typeface="Calibri" pitchFamily="34" charset="0"/>
                <a:ea typeface="Calibri" pitchFamily="34" charset="-122"/>
                <a:cs typeface="Calibri" pitchFamily="34" charset="-120"/>
              </a:rPr>
              <a:t>5,253 customers</a:t>
            </a:r>
            <a:endParaRPr lang="en-US" sz="1400" dirty="0"/>
          </a:p>
        </p:txBody>
      </p:sp>
      <p:sp>
        <p:nvSpPr>
          <p:cNvPr id="6" name="Text 4"/>
          <p:cNvSpPr txBox="1"/>
          <p:nvPr/>
        </p:nvSpPr>
        <p:spPr>
          <a:xfrm>
            <a:off x="731520" y="2240280"/>
            <a:ext cx="1783080" cy="82296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Everyone who ordered before 9 Sep 2011</a:t>
            </a:r>
            <a:endParaRPr lang="en-US" sz="1150" dirty="0"/>
          </a:p>
        </p:txBody>
      </p:sp>
      <p:sp>
        <p:nvSpPr>
          <p:cNvPr id="7" name="Shape 5"/>
          <p:cNvSpPr/>
          <p:nvPr/>
        </p:nvSpPr>
        <p:spPr>
          <a:xfrm>
            <a:off x="2971800" y="1737360"/>
            <a:ext cx="2148840" cy="1417320"/>
          </a:xfrm>
          <a:prstGeom prst="roundRect">
            <a:avLst>
              <a:gd name="adj" fmla="val 5161"/>
            </a:avLst>
          </a:prstGeom>
          <a:solidFill>
            <a:srgbClr val="F3F5F8"/>
          </a:solidFill>
          <a:ln w="12700">
            <a:solidFill>
              <a:srgbClr val="F3F5F8"/>
            </a:solidFill>
            <a:prstDash val="solid"/>
          </a:ln>
        </p:spPr>
        <p:txBody>
          <a:bodyPr/>
          <a:lstStyle/>
          <a:p>
            <a:endParaRPr lang="en-CA"/>
          </a:p>
        </p:txBody>
      </p:sp>
      <p:sp>
        <p:nvSpPr>
          <p:cNvPr id="8" name="Text 6"/>
          <p:cNvSpPr txBox="1"/>
          <p:nvPr/>
        </p:nvSpPr>
        <p:spPr>
          <a:xfrm>
            <a:off x="3154680" y="1874520"/>
            <a:ext cx="1783080" cy="320040"/>
          </a:xfrm>
          <a:prstGeom prst="rect">
            <a:avLst/>
          </a:prstGeom>
          <a:noFill/>
          <a:ln/>
        </p:spPr>
        <p:txBody>
          <a:bodyPr wrap="square" lIns="0" tIns="0" rIns="0" bIns="0" rtlCol="0" anchor="t"/>
          <a:lstStyle/>
          <a:p>
            <a:pPr marL="0" indent="0">
              <a:buNone/>
            </a:pPr>
            <a:r>
              <a:rPr lang="en-US" sz="1400" b="1" dirty="0">
                <a:solidFill>
                  <a:srgbClr val="1E2B3A"/>
                </a:solidFill>
                <a:latin typeface="Calibri" pitchFamily="34" charset="0"/>
                <a:ea typeface="Calibri" pitchFamily="34" charset="-122"/>
                <a:cs typeface="Calibri" pitchFamily="34" charset="-120"/>
              </a:rPr>
              <a:t>80% to learn from</a:t>
            </a:r>
            <a:endParaRPr lang="en-US" sz="1400" dirty="0"/>
          </a:p>
        </p:txBody>
      </p:sp>
      <p:sp>
        <p:nvSpPr>
          <p:cNvPr id="9" name="Text 7"/>
          <p:cNvSpPr txBox="1"/>
          <p:nvPr/>
        </p:nvSpPr>
        <p:spPr>
          <a:xfrm>
            <a:off x="3154680" y="2240280"/>
            <a:ext cx="1783080" cy="82296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4,202 holiday and 3,955 non-holiday customers</a:t>
            </a:r>
            <a:endParaRPr lang="en-US" sz="1150" dirty="0"/>
          </a:p>
        </p:txBody>
      </p:sp>
      <p:sp>
        <p:nvSpPr>
          <p:cNvPr id="10" name="Shape 8"/>
          <p:cNvSpPr/>
          <p:nvPr/>
        </p:nvSpPr>
        <p:spPr>
          <a:xfrm>
            <a:off x="5394960" y="1737360"/>
            <a:ext cx="2148840" cy="1417320"/>
          </a:xfrm>
          <a:prstGeom prst="roundRect">
            <a:avLst>
              <a:gd name="adj" fmla="val 5161"/>
            </a:avLst>
          </a:prstGeom>
          <a:solidFill>
            <a:srgbClr val="F3F5F8"/>
          </a:solidFill>
          <a:ln w="12700">
            <a:solidFill>
              <a:srgbClr val="F3F5F8"/>
            </a:solidFill>
            <a:prstDash val="solid"/>
          </a:ln>
        </p:spPr>
        <p:txBody>
          <a:bodyPr/>
          <a:lstStyle/>
          <a:p>
            <a:endParaRPr lang="en-CA"/>
          </a:p>
        </p:txBody>
      </p:sp>
      <p:sp>
        <p:nvSpPr>
          <p:cNvPr id="11" name="Text 9"/>
          <p:cNvSpPr txBox="1"/>
          <p:nvPr/>
        </p:nvSpPr>
        <p:spPr>
          <a:xfrm>
            <a:off x="5577840" y="1874520"/>
            <a:ext cx="1783080" cy="320040"/>
          </a:xfrm>
          <a:prstGeom prst="rect">
            <a:avLst/>
          </a:prstGeom>
          <a:noFill/>
          <a:ln/>
        </p:spPr>
        <p:txBody>
          <a:bodyPr wrap="square" lIns="0" tIns="0" rIns="0" bIns="0" rtlCol="0" anchor="t"/>
          <a:lstStyle/>
          <a:p>
            <a:pPr marL="0" indent="0">
              <a:buNone/>
            </a:pPr>
            <a:r>
              <a:rPr lang="en-US" sz="1400" b="1" dirty="0">
                <a:solidFill>
                  <a:srgbClr val="1E2B3A"/>
                </a:solidFill>
                <a:latin typeface="Calibri" pitchFamily="34" charset="0"/>
                <a:ea typeface="Calibri" pitchFamily="34" charset="-122"/>
                <a:cs typeface="Calibri" pitchFamily="34" charset="-120"/>
              </a:rPr>
              <a:t>20% kept aside</a:t>
            </a:r>
            <a:endParaRPr lang="en-US" sz="1400" dirty="0"/>
          </a:p>
        </p:txBody>
      </p:sp>
      <p:sp>
        <p:nvSpPr>
          <p:cNvPr id="12" name="Text 10"/>
          <p:cNvSpPr txBox="1"/>
          <p:nvPr/>
        </p:nvSpPr>
        <p:spPr>
          <a:xfrm>
            <a:off x="5577840" y="2240280"/>
            <a:ext cx="1783080" cy="82296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1,051 holiday and 989 non-holiday customers, hidden from both models</a:t>
            </a:r>
            <a:endParaRPr lang="en-US" sz="1150" dirty="0"/>
          </a:p>
        </p:txBody>
      </p:sp>
      <p:sp>
        <p:nvSpPr>
          <p:cNvPr id="13" name="Text 11"/>
          <p:cNvSpPr txBox="1"/>
          <p:nvPr/>
        </p:nvSpPr>
        <p:spPr>
          <a:xfrm>
            <a:off x="548640" y="3429000"/>
            <a:ext cx="7132320" cy="1097280"/>
          </a:xfrm>
          <a:prstGeom prst="rect">
            <a:avLst/>
          </a:prstGeom>
          <a:noFill/>
          <a:ln/>
        </p:spPr>
        <p:txBody>
          <a:bodyPr wrap="square" lIns="0" tIns="0" rIns="0" bIns="0" rtlCol="0" anchor="t"/>
          <a:lstStyle/>
          <a:p>
            <a:pPr marL="0" indent="0">
              <a:buNone/>
            </a:pPr>
            <a:r>
              <a:rPr lang="en-US" sz="1300" dirty="0">
                <a:solidFill>
                  <a:srgbClr val="1E2B3A"/>
                </a:solidFill>
                <a:latin typeface="Calibri" pitchFamily="34" charset="0"/>
                <a:ea typeface="Calibri" pitchFamily="34" charset="-122"/>
                <a:cs typeface="Calibri" pitchFamily="34" charset="-120"/>
              </a:rPr>
              <a:t>Two model types were compared on the learning customers only. Gradient boosting scored 0.002 to 0.003 higher than logistic regression, less than the normal variation between checks, so the simpler logistic regression was chosen for both seasons.</a:t>
            </a:r>
            <a:endParaRPr lang="en-US" sz="1300" dirty="0"/>
          </a:p>
        </p:txBody>
      </p:sp>
      <p:sp>
        <p:nvSpPr>
          <p:cNvPr id="14" name="Text 12"/>
          <p:cNvSpPr txBox="1"/>
          <p:nvPr/>
        </p:nvSpPr>
        <p:spPr>
          <a:xfrm>
            <a:off x="548640" y="4526280"/>
            <a:ext cx="7132320" cy="100584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Accuracy looks high partly because most customers leave: a rule that says everyone leaves would already be 67.9% (non-holiday) and 56.6% (holiday) accurate. This is why ranking (AUC) is the main measure.</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001000" y="1737360"/>
          <a:ext cx="3639312" cy="2688336"/>
        </p:xfrm>
        <a:graphic>
          <a:graphicData uri="http://schemas.openxmlformats.org/drawingml/2006/table">
            <a:tbl>
              <a:tblPr/>
              <a:tblGrid>
                <a:gridCol w="1609344">
                  <a:extLst>
                    <a:ext uri="{9D8B030D-6E8A-4147-A177-3AD203B41FA5}">
                      <a16:colId xmlns:a16="http://schemas.microsoft.com/office/drawing/2014/main" val="20000"/>
                    </a:ext>
                  </a:extLst>
                </a:gridCol>
                <a:gridCol w="1014984">
                  <a:extLst>
                    <a:ext uri="{9D8B030D-6E8A-4147-A177-3AD203B41FA5}">
                      <a16:colId xmlns:a16="http://schemas.microsoft.com/office/drawing/2014/main" val="20001"/>
                    </a:ext>
                  </a:extLst>
                </a:gridCol>
                <a:gridCol w="1014984">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On hidden customers</a:t>
                      </a:r>
                      <a:endParaRPr lang="en-US" sz="11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Non-holiday</a:t>
                      </a:r>
                      <a:endParaRPr lang="en-US" sz="11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Holiday</a:t>
                      </a:r>
                      <a:endParaRPr lang="en-US" sz="11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1E2B3A"/>
                          </a:solidFill>
                          <a:latin typeface="Calibri" pitchFamily="34" charset="0"/>
                          <a:ea typeface="Calibri" pitchFamily="34" charset="-122"/>
                          <a:cs typeface="Calibri" pitchFamily="34" charset="-120"/>
                        </a:rPr>
                        <a:t>AUC, churn model</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0.851</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0.809</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AUC, RFM total score</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0.806</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0.778</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Accuracy (cut-off 50%)</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80.1%</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74.8%</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82.7%</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75.2%</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89.4%</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82.7%</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F1 score</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0.859</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0.788</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6" name="Text 13"/>
          <p:cNvSpPr txBox="1"/>
          <p:nvPr/>
        </p:nvSpPr>
        <p:spPr>
          <a:xfrm>
            <a:off x="8001000" y="4572000"/>
            <a:ext cx="3639312" cy="82296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Precision: of customers flagged as leaving, the share who left. Recall: of customers who left, the share flagged.</a:t>
            </a:r>
            <a:endParaRPr lang="en-US" sz="1100" dirty="0"/>
          </a:p>
        </p:txBody>
      </p:sp>
      <p:sp>
        <p:nvSpPr>
          <p:cNvPr id="17" name="Shape 14"/>
          <p:cNvSpPr/>
          <p:nvPr/>
        </p:nvSpPr>
        <p:spPr>
          <a:xfrm>
            <a:off x="548640" y="5669280"/>
            <a:ext cx="11091672"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18" name="Text 15"/>
          <p:cNvSpPr txBox="1"/>
          <p:nvPr/>
        </p:nvSpPr>
        <p:spPr>
          <a:xfrm>
            <a:off x="777240" y="5669280"/>
            <a:ext cx="1069848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Every result in this deck comes from customers the model never saw while it was being built.</a:t>
            </a:r>
            <a:endParaRPr lang="en-US" sz="1500" dirty="0"/>
          </a:p>
        </p:txBody>
      </p:sp>
      <p:sp>
        <p:nvSpPr>
          <p:cNvPr id="19" name="Text 16"/>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APPENDIX A2  ·  THE 16 CUSTOMER DETAILS</a:t>
            </a:r>
            <a:endParaRPr lang="en-US" sz="1100" dirty="0"/>
          </a:p>
        </p:txBody>
      </p:sp>
      <p:sp>
        <p:nvSpPr>
          <p:cNvPr id="3" name="Text 1"/>
          <p:cNvSpPr txBox="1"/>
          <p:nvPr/>
        </p:nvSpPr>
        <p:spPr>
          <a:xfrm>
            <a:off x="548640" y="566928"/>
            <a:ext cx="11091672"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Every detail is worked out from sales records before the cutoff date</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3922776"/>
        </p:xfrm>
        <a:graphic>
          <a:graphicData uri="http://schemas.openxmlformats.org/drawingml/2006/table">
            <a:tbl>
              <a:tblPr/>
              <a:tblGrid>
                <a:gridCol w="29260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30175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Name in the notebook</a:t>
                      </a:r>
                      <a:endParaRPr lang="en-US" sz="11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it measures</a:t>
                      </a:r>
                      <a:endParaRPr lang="en-US" sz="11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extLst>
                  <a:ext uri="{0D108BD9-81ED-4DB2-BD59-A6C34878D82A}">
                    <a16:rowId xmlns:a16="http://schemas.microsoft.com/office/drawing/2014/main" val="10000"/>
                  </a:ext>
                </a:extLst>
              </a:tr>
              <a:tr h="301752">
                <a:tc>
                  <a:txBody>
                    <a:bodyPr/>
                    <a:lstStyle/>
                    <a:p>
                      <a:pPr marL="0" indent="0">
                        <a:buNone/>
                      </a:pPr>
                      <a:r>
                        <a:rPr lang="en-US" sz="1050" b="1" dirty="0">
                          <a:solidFill>
                            <a:srgbClr val="1E2B3A"/>
                          </a:solidFill>
                          <a:latin typeface="Calibri" pitchFamily="34" charset="0"/>
                          <a:ea typeface="Calibri" pitchFamily="34" charset="-122"/>
                          <a:cs typeface="Calibri" pitchFamily="34" charset="-120"/>
                        </a:rPr>
                        <a:t>Recency and recent activity</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00" dirty="0">
                          <a:solidFill>
                            <a:srgbClr val="5B6675"/>
                          </a:solidFill>
                          <a:latin typeface="Courier New" pitchFamily="34" charset="0"/>
                          <a:ea typeface="Courier New" pitchFamily="34" charset="-122"/>
                          <a:cs typeface="Courier New" pitchFamily="34" charset="-120"/>
                        </a:rPr>
                        <a:t>recency</a:t>
                      </a:r>
                      <a:endParaRPr lang="en-US" sz="1000" dirty="0">
                        <a:latin typeface="Courier New" charset="0"/>
                        <a:ea typeface="Courier New" charset="0"/>
                        <a:cs typeface="Courier New"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50" dirty="0">
                          <a:solidFill>
                            <a:srgbClr val="1E2B3A"/>
                          </a:solidFill>
                          <a:latin typeface="Calibri" pitchFamily="34" charset="0"/>
                          <a:ea typeface="Calibri" pitchFamily="34" charset="-122"/>
                          <a:cs typeface="Calibri" pitchFamily="34" charset="-120"/>
                        </a:rPr>
                        <a:t>Days since the last order</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00" dirty="0">
                          <a:solidFill>
                            <a:srgbClr val="5B6675"/>
                          </a:solidFill>
                          <a:latin typeface="Courier New" pitchFamily="34" charset="0"/>
                          <a:ea typeface="Courier New" pitchFamily="34" charset="-122"/>
                          <a:cs typeface="Courier New" pitchFamily="34" charset="-120"/>
                        </a:rPr>
                        <a:t>orders_last_30d / 90d / 180d</a:t>
                      </a:r>
                      <a:endParaRPr lang="en-US" sz="1000" dirty="0">
                        <a:latin typeface="Courier New" charset="0"/>
                        <a:ea typeface="Courier New" charset="0"/>
                        <a:cs typeface="Courier New"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50" dirty="0">
                          <a:solidFill>
                            <a:srgbClr val="1E2B3A"/>
                          </a:solidFill>
                          <a:latin typeface="Calibri" pitchFamily="34" charset="0"/>
                          <a:ea typeface="Calibri" pitchFamily="34" charset="-122"/>
                          <a:cs typeface="Calibri" pitchFamily="34" charset="-120"/>
                        </a:rPr>
                        <a:t>Orders in the last 30, 90 and 180 days</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00" dirty="0">
                          <a:solidFill>
                            <a:srgbClr val="5B6675"/>
                          </a:solidFill>
                          <a:latin typeface="Courier New" pitchFamily="34" charset="0"/>
                          <a:ea typeface="Courier New" pitchFamily="34" charset="-122"/>
                          <a:cs typeface="Courier New" pitchFamily="34" charset="-120"/>
                        </a:rPr>
                        <a:t>spend_last_90d</a:t>
                      </a:r>
                      <a:endParaRPr lang="en-US" sz="1000" dirty="0">
                        <a:latin typeface="Courier New" charset="0"/>
                        <a:ea typeface="Courier New" charset="0"/>
                        <a:cs typeface="Courier New"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50" dirty="0">
                          <a:solidFill>
                            <a:srgbClr val="1E2B3A"/>
                          </a:solidFill>
                          <a:latin typeface="Calibri" pitchFamily="34" charset="0"/>
                          <a:ea typeface="Calibri" pitchFamily="34" charset="-122"/>
                          <a:cs typeface="Calibri" pitchFamily="34" charset="-120"/>
                        </a:rPr>
                        <a:t>Spend in the last 90 days</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00" dirty="0">
                          <a:solidFill>
                            <a:srgbClr val="5B6675"/>
                          </a:solidFill>
                          <a:latin typeface="Courier New" pitchFamily="34" charset="0"/>
                          <a:ea typeface="Courier New" pitchFamily="34" charset="-122"/>
                          <a:cs typeface="Courier New" pitchFamily="34" charset="-120"/>
                        </a:rPr>
                        <a:t>recency_vs_gap</a:t>
                      </a:r>
                      <a:endParaRPr lang="en-US" sz="1000" dirty="0">
                        <a:latin typeface="Courier New" charset="0"/>
                        <a:ea typeface="Courier New" charset="0"/>
                        <a:cs typeface="Courier New"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50" dirty="0">
                          <a:solidFill>
                            <a:srgbClr val="1E2B3A"/>
                          </a:solidFill>
                          <a:latin typeface="Calibri" pitchFamily="34" charset="0"/>
                          <a:ea typeface="Calibri" pitchFamily="34" charset="-122"/>
                          <a:cs typeface="Calibri" pitchFamily="34" charset="-120"/>
                        </a:rPr>
                        <a:t>Days away compared with their usual gap between orders</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050" b="1" dirty="0">
                          <a:solidFill>
                            <a:srgbClr val="1E2B3A"/>
                          </a:solidFill>
                          <a:latin typeface="Calibri" pitchFamily="34" charset="0"/>
                          <a:ea typeface="Calibri" pitchFamily="34" charset="-122"/>
                          <a:cs typeface="Calibri" pitchFamily="34" charset="-120"/>
                        </a:rPr>
                        <a:t>Purchase frequency and spend</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00" dirty="0">
                          <a:solidFill>
                            <a:srgbClr val="5B6675"/>
                          </a:solidFill>
                          <a:latin typeface="Courier New" pitchFamily="34" charset="0"/>
                          <a:ea typeface="Courier New" pitchFamily="34" charset="-122"/>
                          <a:cs typeface="Courier New" pitchFamily="34" charset="-120"/>
                        </a:rPr>
                        <a:t>frequency</a:t>
                      </a:r>
                      <a:endParaRPr lang="en-US" sz="1000" dirty="0">
                        <a:latin typeface="Courier New" charset="0"/>
                        <a:ea typeface="Courier New" charset="0"/>
                        <a:cs typeface="Courier New"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50" dirty="0">
                          <a:solidFill>
                            <a:srgbClr val="1E2B3A"/>
                          </a:solidFill>
                          <a:latin typeface="Calibri" pitchFamily="34" charset="0"/>
                          <a:ea typeface="Calibri" pitchFamily="34" charset="-122"/>
                          <a:cs typeface="Calibri" pitchFamily="34" charset="-120"/>
                        </a:rPr>
                        <a:t>Number of separate orders</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00" dirty="0">
                          <a:solidFill>
                            <a:srgbClr val="5B6675"/>
                          </a:solidFill>
                          <a:latin typeface="Courier New" pitchFamily="34" charset="0"/>
                          <a:ea typeface="Courier New" pitchFamily="34" charset="-122"/>
                          <a:cs typeface="Courier New" pitchFamily="34" charset="-120"/>
                        </a:rPr>
                        <a:t>product_breadth</a:t>
                      </a:r>
                      <a:endParaRPr lang="en-US" sz="1000" dirty="0">
                        <a:latin typeface="Courier New" charset="0"/>
                        <a:ea typeface="Courier New" charset="0"/>
                        <a:cs typeface="Courier New"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50" dirty="0">
                          <a:solidFill>
                            <a:srgbClr val="1E2B3A"/>
                          </a:solidFill>
                          <a:latin typeface="Calibri" pitchFamily="34" charset="0"/>
                          <a:ea typeface="Calibri" pitchFamily="34" charset="-122"/>
                          <a:cs typeface="Calibri" pitchFamily="34" charset="-120"/>
                        </a:rPr>
                        <a:t>Number of different products bought</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buNone/>
                      </a:pP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00" dirty="0">
                          <a:solidFill>
                            <a:srgbClr val="5B6675"/>
                          </a:solidFill>
                          <a:latin typeface="Courier New" pitchFamily="34" charset="0"/>
                          <a:ea typeface="Courier New" pitchFamily="34" charset="-122"/>
                          <a:cs typeface="Courier New" pitchFamily="34" charset="-120"/>
                        </a:rPr>
                        <a:t>monetary</a:t>
                      </a:r>
                      <a:endParaRPr lang="en-US" sz="1000" dirty="0">
                        <a:latin typeface="Courier New" charset="0"/>
                        <a:ea typeface="Courier New" charset="0"/>
                        <a:cs typeface="Courier New"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50" dirty="0">
                          <a:solidFill>
                            <a:srgbClr val="1E2B3A"/>
                          </a:solidFill>
                          <a:latin typeface="Calibri" pitchFamily="34" charset="0"/>
                          <a:ea typeface="Calibri" pitchFamily="34" charset="-122"/>
                          <a:cs typeface="Calibri" pitchFamily="34" charset="-120"/>
                        </a:rPr>
                        <a:t>Total spend after cancellations</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buNone/>
                      </a:pPr>
                      <a:r>
                        <a:rPr lang="en-US" sz="1050" b="1" dirty="0">
                          <a:solidFill>
                            <a:srgbClr val="1E2B3A"/>
                          </a:solidFill>
                          <a:latin typeface="Calibri" pitchFamily="34" charset="0"/>
                          <a:ea typeface="Calibri" pitchFamily="34" charset="-122"/>
                          <a:cs typeface="Calibri" pitchFamily="34" charset="-120"/>
                        </a:rPr>
                        <a:t>Seasonal buying</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00" dirty="0">
                          <a:solidFill>
                            <a:srgbClr val="5B6675"/>
                          </a:solidFill>
                          <a:latin typeface="Courier New" pitchFamily="34" charset="0"/>
                          <a:ea typeface="Courier New" pitchFamily="34" charset="-122"/>
                          <a:cs typeface="Courier New" pitchFamily="34" charset="-120"/>
                        </a:rPr>
                        <a:t>orders_same_season_last_year</a:t>
                      </a:r>
                      <a:endParaRPr lang="en-US" sz="1000" dirty="0">
                        <a:latin typeface="Courier New" charset="0"/>
                        <a:ea typeface="Courier New" charset="0"/>
                        <a:cs typeface="Courier New"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50" dirty="0">
                          <a:solidFill>
                            <a:srgbClr val="1E2B3A"/>
                          </a:solidFill>
                          <a:latin typeface="Calibri" pitchFamily="34" charset="0"/>
                          <a:ea typeface="Calibri" pitchFamily="34" charset="-122"/>
                          <a:cs typeface="Calibri" pitchFamily="34" charset="-120"/>
                        </a:rPr>
                        <a:t>Orders in the same 90 days one year earlier</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1752">
                <a:tc>
                  <a:txBody>
                    <a:bodyPr/>
                    <a:lstStyle/>
                    <a:p>
                      <a:pPr marL="0" indent="0">
                        <a:buNone/>
                      </a:pPr>
                      <a:r>
                        <a:rPr lang="en-US" sz="1050" b="1" dirty="0">
                          <a:solidFill>
                            <a:srgbClr val="1E2B3A"/>
                          </a:solidFill>
                          <a:latin typeface="Calibri" pitchFamily="34" charset="0"/>
                          <a:ea typeface="Calibri" pitchFamily="34" charset="-122"/>
                          <a:cs typeface="Calibri" pitchFamily="34" charset="-120"/>
                        </a:rPr>
                        <a:t>Customer history</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00" dirty="0">
                          <a:solidFill>
                            <a:srgbClr val="5B6675"/>
                          </a:solidFill>
                          <a:latin typeface="Courier New" pitchFamily="34" charset="0"/>
                          <a:ea typeface="Courier New" pitchFamily="34" charset="-122"/>
                          <a:cs typeface="Courier New" pitchFamily="34" charset="-120"/>
                        </a:rPr>
                        <a:t>tenure</a:t>
                      </a:r>
                      <a:endParaRPr lang="en-US" sz="1000" dirty="0">
                        <a:latin typeface="Courier New" charset="0"/>
                        <a:ea typeface="Courier New" charset="0"/>
                        <a:cs typeface="Courier New"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50" dirty="0">
                          <a:solidFill>
                            <a:srgbClr val="1E2B3A"/>
                          </a:solidFill>
                          <a:latin typeface="Calibri" pitchFamily="34" charset="0"/>
                          <a:ea typeface="Calibri" pitchFamily="34" charset="-122"/>
                          <a:cs typeface="Calibri" pitchFamily="34" charset="-120"/>
                        </a:rPr>
                        <a:t>Days since the first order</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752">
                <a:tc>
                  <a:txBody>
                    <a:bodyPr/>
                    <a:lstStyle/>
                    <a:p>
                      <a:pPr marL="0" indent="0">
                        <a:buNone/>
                      </a:pPr>
                      <a:r>
                        <a:rPr lang="en-US" sz="1050" b="1" dirty="0">
                          <a:solidFill>
                            <a:srgbClr val="1E2B3A"/>
                          </a:solidFill>
                          <a:latin typeface="Calibri" pitchFamily="34" charset="0"/>
                          <a:ea typeface="Calibri" pitchFamily="34" charset="-122"/>
                          <a:cs typeface="Calibri" pitchFamily="34" charset="-120"/>
                        </a:rPr>
                        <a:t>Order habits</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00" dirty="0">
                          <a:solidFill>
                            <a:srgbClr val="5B6675"/>
                          </a:solidFill>
                          <a:latin typeface="Courier New" pitchFamily="34" charset="0"/>
                          <a:ea typeface="Courier New" pitchFamily="34" charset="-122"/>
                          <a:cs typeface="Courier New" pitchFamily="34" charset="-120"/>
                        </a:rPr>
                        <a:t>avg_order_value / avg_basket_size</a:t>
                      </a:r>
                      <a:endParaRPr lang="en-US" sz="1000" dirty="0">
                        <a:latin typeface="Courier New" charset="0"/>
                        <a:ea typeface="Courier New" charset="0"/>
                        <a:cs typeface="Courier New"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50" dirty="0">
                          <a:solidFill>
                            <a:srgbClr val="1E2B3A"/>
                          </a:solidFill>
                          <a:latin typeface="Calibri" pitchFamily="34" charset="0"/>
                          <a:ea typeface="Calibri" pitchFamily="34" charset="-122"/>
                          <a:cs typeface="Calibri" pitchFamily="34" charset="-120"/>
                        </a:rPr>
                        <a:t>Typical value and size of an order</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01752">
                <a:tc>
                  <a:txBody>
                    <a:bodyPr/>
                    <a:lstStyle/>
                    <a:p>
                      <a:pPr marL="0" indent="0">
                        <a:buNone/>
                      </a:pP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00" dirty="0">
                          <a:solidFill>
                            <a:srgbClr val="5B6675"/>
                          </a:solidFill>
                          <a:latin typeface="Courier New" pitchFamily="34" charset="0"/>
                          <a:ea typeface="Courier New" pitchFamily="34" charset="-122"/>
                          <a:cs typeface="Courier New" pitchFamily="34" charset="-120"/>
                        </a:rPr>
                        <a:t>avg_gap_days</a:t>
                      </a:r>
                      <a:endParaRPr lang="en-US" sz="1000" dirty="0">
                        <a:latin typeface="Courier New" charset="0"/>
                        <a:ea typeface="Courier New" charset="0"/>
                        <a:cs typeface="Courier New"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50" dirty="0">
                          <a:solidFill>
                            <a:srgbClr val="1E2B3A"/>
                          </a:solidFill>
                          <a:latin typeface="Calibri" pitchFamily="34" charset="0"/>
                          <a:ea typeface="Calibri" pitchFamily="34" charset="-122"/>
                          <a:cs typeface="Calibri" pitchFamily="34" charset="-120"/>
                        </a:rPr>
                        <a:t>Usual number of days between orders</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01752">
                <a:tc>
                  <a:txBody>
                    <a:bodyPr/>
                    <a:lstStyle/>
                    <a:p>
                      <a:pPr marL="0" indent="0">
                        <a:buNone/>
                      </a:pPr>
                      <a:r>
                        <a:rPr lang="en-US" sz="1050" b="1" dirty="0">
                          <a:solidFill>
                            <a:srgbClr val="1E2B3A"/>
                          </a:solidFill>
                          <a:latin typeface="Calibri" pitchFamily="34" charset="0"/>
                          <a:ea typeface="Calibri" pitchFamily="34" charset="-122"/>
                          <a:cs typeface="Calibri" pitchFamily="34" charset="-120"/>
                        </a:rPr>
                        <a:t>Account details</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00" dirty="0">
                          <a:solidFill>
                            <a:srgbClr val="5B6675"/>
                          </a:solidFill>
                          <a:latin typeface="Courier New" pitchFamily="34" charset="0"/>
                          <a:ea typeface="Courier New" pitchFamily="34" charset="-122"/>
                          <a:cs typeface="Courier New" pitchFamily="34" charset="-120"/>
                        </a:rPr>
                        <a:t>cancellation_rate / is_uk</a:t>
                      </a:r>
                      <a:endParaRPr lang="en-US" sz="1000" dirty="0">
                        <a:latin typeface="Courier New" charset="0"/>
                        <a:ea typeface="Courier New" charset="0"/>
                        <a:cs typeface="Courier New"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marL="0" indent="0">
                        <a:buNone/>
                      </a:pPr>
                      <a:r>
                        <a:rPr lang="en-US" sz="1050" dirty="0">
                          <a:solidFill>
                            <a:srgbClr val="1E2B3A"/>
                          </a:solidFill>
                          <a:latin typeface="Calibri" pitchFamily="34" charset="0"/>
                          <a:ea typeface="Calibri" pitchFamily="34" charset="-122"/>
                          <a:cs typeface="Calibri" pitchFamily="34" charset="-120"/>
                        </a:rPr>
                        <a:t>How often they cancel; based in the UK or not</a:t>
                      </a:r>
                      <a:endParaRPr lang="en-US" sz="10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5" name="Text 2"/>
          <p:cNvSpPr txBox="1"/>
          <p:nvPr/>
        </p:nvSpPr>
        <p:spPr>
          <a:xfrm>
            <a:off x="548640" y="5806440"/>
            <a:ext cx="11091672" cy="54864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Rows with two names count as two details (orders in the last 30, 90 and 180 days count as three), giving 16 in total. One-time buyers have no gap between orders; the model fills in a typical value and also records that it was missing.</a:t>
            </a:r>
            <a:endParaRPr lang="en-US" sz="1100" dirty="0"/>
          </a:p>
        </p:txBody>
      </p:sp>
      <p:sp>
        <p:nvSpPr>
          <p:cNvPr id="6" name="Text 3"/>
          <p:cNvSpPr txBox="1"/>
          <p:nvPr/>
        </p:nvSpPr>
        <p:spPr>
          <a:xfrm>
            <a:off x="11365992" y="6473952"/>
            <a:ext cx="457200" cy="256032"/>
          </a:xfrm>
          <a:prstGeom prst="rect">
            <a:avLst/>
          </a:prstGeom>
          <a:noFill/>
          <a:ln/>
        </p:spPr>
        <p:txBody>
          <a:bodyPr wrap="square" lIns="0" tIns="0" rIns="0" bIns="0" rtlCol="0" anchor="t"/>
          <a:lstStyle/>
          <a:p>
            <a:pPr marL="0" indent="0" algn="r">
              <a:buNone/>
            </a:pPr>
            <a:r>
              <a:rPr lang="en-US" sz="900" dirty="0">
                <a:solidFill>
                  <a:srgbClr val="8A94A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7137</Words>
  <Application>Microsoft Office PowerPoint</Application>
  <PresentationFormat>Widescreen</PresentationFormat>
  <Paragraphs>424</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Churn Prediction: Which customers should we prioritize for retention?</dc:title>
  <dc:subject>PptxGenJS Presentation</dc:subject>
  <dc:creator>PptxGenJS</dc:creator>
  <cp:lastModifiedBy>Nitesh Talukdar</cp:lastModifiedBy>
  <cp:revision>1</cp:revision>
  <dcterms:created xsi:type="dcterms:W3CDTF">2026-09-30T01:24:42Z</dcterms:created>
  <dcterms:modified xsi:type="dcterms:W3CDTF">2026-09-30T01:34:07Z</dcterms:modified>
</cp:coreProperties>
</file>